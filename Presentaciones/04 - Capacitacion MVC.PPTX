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60"/>
  </p:notesMasterIdLst>
  <p:sldIdLst>
    <p:sldId id="291" r:id="rId2"/>
    <p:sldId id="260" r:id="rId3"/>
    <p:sldId id="288" r:id="rId4"/>
    <p:sldId id="282" r:id="rId5"/>
    <p:sldId id="261" r:id="rId6"/>
    <p:sldId id="262" r:id="rId7"/>
    <p:sldId id="265" r:id="rId8"/>
    <p:sldId id="266" r:id="rId9"/>
    <p:sldId id="263" r:id="rId10"/>
    <p:sldId id="269" r:id="rId11"/>
    <p:sldId id="264" r:id="rId12"/>
    <p:sldId id="270" r:id="rId13"/>
    <p:sldId id="293" r:id="rId14"/>
    <p:sldId id="268" r:id="rId15"/>
    <p:sldId id="285" r:id="rId16"/>
    <p:sldId id="273" r:id="rId17"/>
    <p:sldId id="287" r:id="rId18"/>
    <p:sldId id="271" r:id="rId19"/>
    <p:sldId id="328" r:id="rId20"/>
    <p:sldId id="329" r:id="rId21"/>
    <p:sldId id="330" r:id="rId22"/>
    <p:sldId id="327" r:id="rId23"/>
    <p:sldId id="274" r:id="rId24"/>
    <p:sldId id="289" r:id="rId25"/>
    <p:sldId id="290" r:id="rId26"/>
    <p:sldId id="275" r:id="rId27"/>
    <p:sldId id="276" r:id="rId28"/>
    <p:sldId id="297" r:id="rId29"/>
    <p:sldId id="307" r:id="rId30"/>
    <p:sldId id="302" r:id="rId31"/>
    <p:sldId id="299" r:id="rId32"/>
    <p:sldId id="300" r:id="rId33"/>
    <p:sldId id="301" r:id="rId34"/>
    <p:sldId id="313" r:id="rId35"/>
    <p:sldId id="295" r:id="rId36"/>
    <p:sldId id="308" r:id="rId37"/>
    <p:sldId id="286" r:id="rId38"/>
    <p:sldId id="325" r:id="rId39"/>
    <p:sldId id="314" r:id="rId40"/>
    <p:sldId id="331" r:id="rId41"/>
    <p:sldId id="332" r:id="rId42"/>
    <p:sldId id="333" r:id="rId43"/>
    <p:sldId id="334" r:id="rId44"/>
    <p:sldId id="335" r:id="rId45"/>
    <p:sldId id="303" r:id="rId46"/>
    <p:sldId id="305" r:id="rId47"/>
    <p:sldId id="309" r:id="rId48"/>
    <p:sldId id="306" r:id="rId49"/>
    <p:sldId id="310" r:id="rId50"/>
    <p:sldId id="336" r:id="rId51"/>
    <p:sldId id="337" r:id="rId52"/>
    <p:sldId id="311" r:id="rId53"/>
    <p:sldId id="312" r:id="rId54"/>
    <p:sldId id="315" r:id="rId55"/>
    <p:sldId id="317" r:id="rId56"/>
    <p:sldId id="316" r:id="rId57"/>
    <p:sldId id="281" r:id="rId58"/>
    <p:sldId id="29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97" autoAdjust="0"/>
    <p:restoredTop sz="69811" autoAdjust="0"/>
  </p:normalViewPr>
  <p:slideViewPr>
    <p:cSldViewPr snapToGrid="0" showGuides="1">
      <p:cViewPr varScale="1">
        <p:scale>
          <a:sx n="81" d="100"/>
          <a:sy n="81" d="100"/>
        </p:scale>
        <p:origin x="1524" y="90"/>
      </p:cViewPr>
      <p:guideLst>
        <p:guide orient="horz" pos="2160"/>
        <p:guide pos="3840"/>
      </p:guideLst>
    </p:cSldViewPr>
  </p:slideViewPr>
  <p:outlineViewPr>
    <p:cViewPr>
      <p:scale>
        <a:sx n="33" d="100"/>
        <a:sy n="33" d="100"/>
      </p:scale>
      <p:origin x="0" y="-4590"/>
    </p:cViewPr>
  </p:outlineViewPr>
  <p:notesTextViewPr>
    <p:cViewPr>
      <p:scale>
        <a:sx n="3" d="2"/>
        <a:sy n="3" d="2"/>
      </p:scale>
      <p:origin x="0" y="0"/>
    </p:cViewPr>
  </p:notesTextViewPr>
  <p:notesViewPr>
    <p:cSldViewPr snapToGrid="0">
      <p:cViewPr varScale="1">
        <p:scale>
          <a:sx n="59" d="100"/>
          <a:sy n="59" d="100"/>
        </p:scale>
        <p:origin x="-250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29363-3187-4C19-A72D-75CA2BA8E726}" type="datetimeFigureOut">
              <a:rPr lang="en-US" smtClean="0"/>
              <a:t>4/27/2016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A8A4F1-DD7B-454E-8BE0-478365ADD5A0}" type="slidenum">
              <a:rPr lang="en-US" smtClean="0"/>
              <a:t>‹#›</a:t>
            </a:fld>
            <a:endParaRPr lang="en-US" dirty="0"/>
          </a:p>
        </p:txBody>
      </p:sp>
    </p:spTree>
    <p:extLst>
      <p:ext uri="{BB962C8B-B14F-4D97-AF65-F5344CB8AC3E}">
        <p14:creationId xmlns:p14="http://schemas.microsoft.com/office/powerpoint/2010/main" val="330570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msdn.microsoft.com/en-us/library/system.web.mvc.actionresult(v=vs.108).aspx"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msdn.microsoft.com/en-us/library/system.web.mvc.htmlhelper.aspx" TargetMode="External"/><Relationship Id="rId2" Type="http://schemas.openxmlformats.org/officeDocument/2006/relationships/slide" Target="../slides/slide16.xml"/><Relationship Id="rId1" Type="http://schemas.openxmlformats.org/officeDocument/2006/relationships/notesMaster" Target="../notesMasters/notesMaster1.xml"/><Relationship Id="rId5" Type="http://schemas.openxmlformats.org/officeDocument/2006/relationships/hyperlink" Target="http://www.bing.com/search?q=love" TargetMode="External"/><Relationship Id="rId4" Type="http://schemas.openxmlformats.org/officeDocument/2006/relationships/hyperlink" Target="http://www.asp.net/mvc"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8" Type="http://schemas.openxmlformats.org/officeDocument/2006/relationships/hyperlink" Target="https://en.wikipedia.org/wiki/Service_(systems_architecture)" TargetMode="External"/><Relationship Id="rId13" Type="http://schemas.openxmlformats.org/officeDocument/2006/relationships/hyperlink" Target="https://en.wikipedia.org/wiki/Dependency_inversion_principle" TargetMode="External"/><Relationship Id="rId3" Type="http://schemas.openxmlformats.org/officeDocument/2006/relationships/hyperlink" Target="https://en.wikipedia.org/wiki/Software_engineering" TargetMode="External"/><Relationship Id="rId7" Type="http://schemas.openxmlformats.org/officeDocument/2006/relationships/hyperlink" Target="https://en.wikipedia.org/wiki/Object_(computer_science)" TargetMode="External"/><Relationship Id="rId12" Type="http://schemas.openxmlformats.org/officeDocument/2006/relationships/hyperlink" Target="https://en.wikipedia.org/wiki/Dependency_injection#cite_note-HollywoodPrinciple.c2-2" TargetMode="External"/><Relationship Id="rId17" Type="http://schemas.openxmlformats.org/officeDocument/2006/relationships/hyperlink" Target="https://en.wikipedia.org/wiki/Dependency_injection#cite_note-3" TargetMode="External"/><Relationship Id="rId2" Type="http://schemas.openxmlformats.org/officeDocument/2006/relationships/slide" Target="../slides/slide50.xml"/><Relationship Id="rId16" Type="http://schemas.openxmlformats.org/officeDocument/2006/relationships/hyperlink" Target="https://en.wikipedia.org/wiki/Constructor" TargetMode="External"/><Relationship Id="rId1" Type="http://schemas.openxmlformats.org/officeDocument/2006/relationships/notesMaster" Target="../notesMasters/notesMaster1.xml"/><Relationship Id="rId6" Type="http://schemas.openxmlformats.org/officeDocument/2006/relationships/hyperlink" Target="https://en.wikipedia.org/wiki/Dependency_injection#cite_note-JamesShore-1" TargetMode="External"/><Relationship Id="rId11" Type="http://schemas.openxmlformats.org/officeDocument/2006/relationships/hyperlink" Target="https://en.wikipedia.org/wiki/Hollywood_Principle" TargetMode="External"/><Relationship Id="rId5" Type="http://schemas.openxmlformats.org/officeDocument/2006/relationships/hyperlink" Target="https://en.wikipedia.org/wiki/Inversion_of_control" TargetMode="External"/><Relationship Id="rId15" Type="http://schemas.openxmlformats.org/officeDocument/2006/relationships/hyperlink" Target="https://en.wikipedia.org/wiki/Interface_(object-oriented_programming)" TargetMode="External"/><Relationship Id="rId10" Type="http://schemas.openxmlformats.org/officeDocument/2006/relationships/hyperlink" Target="https://en.wikipedia.org/wiki/State_(computer_science)" TargetMode="External"/><Relationship Id="rId4" Type="http://schemas.openxmlformats.org/officeDocument/2006/relationships/hyperlink" Target="https://en.wikipedia.org/wiki/Software_design_pattern" TargetMode="External"/><Relationship Id="rId9" Type="http://schemas.openxmlformats.org/officeDocument/2006/relationships/hyperlink" Target="https://en.wikipedia.org/wiki/Client_(computing)" TargetMode="External"/><Relationship Id="rId14" Type="http://schemas.openxmlformats.org/officeDocument/2006/relationships/hyperlink" Target="https://en.wikipedia.org/wiki/Mutator_method"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2</a:t>
            </a:fld>
            <a:endParaRPr lang="en-US" dirty="0"/>
          </a:p>
        </p:txBody>
      </p:sp>
    </p:spTree>
    <p:extLst>
      <p:ext uri="{BB962C8B-B14F-4D97-AF65-F5344CB8AC3E}">
        <p14:creationId xmlns:p14="http://schemas.microsoft.com/office/powerpoint/2010/main" val="2839986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800" b="1" i="0" u="sng" kern="1200" dirty="0" smtClean="0">
                <a:solidFill>
                  <a:schemeClr val="tx1"/>
                </a:solidFill>
                <a:effectLst/>
                <a:latin typeface="+mn-lt"/>
                <a:ea typeface="+mn-ea"/>
                <a:cs typeface="+mn-cs"/>
              </a:rPr>
              <a:t>Components of Asp.NET 4.5 Architecture</a:t>
            </a:r>
          </a:p>
          <a:p>
            <a:r>
              <a:rPr lang="en-US" sz="1200" b="1" i="0" kern="1200" dirty="0" smtClean="0">
                <a:solidFill>
                  <a:schemeClr val="tx1"/>
                </a:solidFill>
                <a:effectLst/>
                <a:latin typeface="+mn-lt"/>
                <a:ea typeface="+mn-ea"/>
                <a:cs typeface="+mn-cs"/>
              </a:rPr>
              <a:t>1. NET Framework</a:t>
            </a:r>
          </a:p>
          <a:p>
            <a:pPr fontAlgn="t"/>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.Net</a:t>
            </a:r>
            <a:r>
              <a:rPr lang="en-US" sz="1200" b="0" i="0" kern="1200" dirty="0" smtClean="0">
                <a:solidFill>
                  <a:schemeClr val="tx1"/>
                </a:solidFill>
                <a:effectLst/>
                <a:latin typeface="+mn-lt"/>
                <a:ea typeface="+mn-ea"/>
                <a:cs typeface="+mn-cs"/>
              </a:rPr>
              <a:t> framework is an integrated component of windows operating system that supports development and execution of next generation applications, Windows store apps and services.</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2. ASP.NET Framework</a:t>
            </a:r>
          </a:p>
          <a:p>
            <a:pPr fontAlgn="t"/>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Framework is used to create dynamic website, web application and web services. It is built on the top of .NET Framework.</a:t>
            </a:r>
          </a:p>
          <a:p>
            <a:pPr fontAlgn="t"/>
            <a:r>
              <a:rPr lang="en-US" sz="1200" b="0" i="0" kern="1200" dirty="0" smtClean="0">
                <a:solidFill>
                  <a:schemeClr val="tx1"/>
                </a:solidFill>
                <a:effectLst/>
                <a:latin typeface="+mn-lt"/>
                <a:ea typeface="+mn-ea"/>
                <a:cs typeface="+mn-cs"/>
              </a:rPr>
              <a:t>	Asp.NET Framework provides you various capabilities like Hosting Model, Site/Service Management, Protocol Abstraction, Security, Caching capability, Routing and Model Binding etc.</a:t>
            </a:r>
          </a:p>
          <a:p>
            <a:pPr fontAlgn="t"/>
            <a:endParaRPr lang="en-US" sz="1200" b="0" i="0" kern="1200" dirty="0" smtClean="0">
              <a:solidFill>
                <a:schemeClr val="tx1"/>
              </a:solidFill>
              <a:effectLst/>
              <a:latin typeface="+mn-lt"/>
              <a:ea typeface="+mn-ea"/>
              <a:cs typeface="+mn-cs"/>
            </a:endParaRPr>
          </a:p>
          <a:p>
            <a:pPr fontAlgn="t"/>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Mainly,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can be divides into two parts - </a:t>
            </a:r>
            <a:r>
              <a:rPr lang="en-US" sz="1200" b="1" i="0" kern="1200" dirty="0" err="1" smtClean="0">
                <a:solidFill>
                  <a:schemeClr val="tx1"/>
                </a:solidFill>
                <a:effectLst/>
                <a:latin typeface="+mn-lt"/>
                <a:ea typeface="+mn-ea"/>
                <a:cs typeface="+mn-cs"/>
              </a:rPr>
              <a:t>Asp.Net</a:t>
            </a:r>
            <a:r>
              <a:rPr lang="en-US" sz="1200" b="1" i="0" kern="1200" dirty="0" smtClean="0">
                <a:solidFill>
                  <a:schemeClr val="tx1"/>
                </a:solidFill>
                <a:effectLst/>
                <a:latin typeface="+mn-lt"/>
                <a:ea typeface="+mn-ea"/>
                <a:cs typeface="+mn-cs"/>
              </a:rPr>
              <a:t> Sites </a:t>
            </a:r>
            <a:r>
              <a:rPr lang="en-US" sz="1200" b="0" i="0" kern="1200" dirty="0" smtClean="0">
                <a:solidFill>
                  <a:schemeClr val="tx1"/>
                </a:solidFill>
                <a:effectLst/>
                <a:latin typeface="+mn-lt"/>
                <a:ea typeface="+mn-ea"/>
                <a:cs typeface="+mn-cs"/>
              </a:rPr>
              <a:t>and </a:t>
            </a:r>
            <a:r>
              <a:rPr lang="en-US" sz="1200" b="1" i="0" kern="1200" dirty="0" err="1" smtClean="0">
                <a:solidFill>
                  <a:schemeClr val="tx1"/>
                </a:solidFill>
                <a:effectLst/>
                <a:latin typeface="+mn-lt"/>
                <a:ea typeface="+mn-ea"/>
                <a:cs typeface="+mn-cs"/>
              </a:rPr>
              <a:t>Asp.Net</a:t>
            </a:r>
            <a:r>
              <a:rPr lang="en-US" sz="1200" b="1" i="0" kern="1200" dirty="0" smtClean="0">
                <a:solidFill>
                  <a:schemeClr val="tx1"/>
                </a:solidFill>
                <a:effectLst/>
                <a:latin typeface="+mn-lt"/>
                <a:ea typeface="+mn-ea"/>
                <a:cs typeface="+mn-cs"/>
              </a:rPr>
              <a:t> Services</a:t>
            </a:r>
            <a:r>
              <a:rPr lang="en-US" sz="1200" b="0" i="0" kern="1200" dirty="0" smtClean="0">
                <a:solidFill>
                  <a:schemeClr val="tx1"/>
                </a:solidFill>
                <a:effectLst/>
                <a:latin typeface="+mn-lt"/>
                <a:ea typeface="+mn-ea"/>
                <a:cs typeface="+mn-cs"/>
              </a:rPr>
              <a:t>.</a:t>
            </a:r>
          </a:p>
          <a:p>
            <a:pPr fontAlgn="t"/>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3. Asp.NET Site</a:t>
            </a:r>
          </a:p>
          <a:p>
            <a:pPr fontAlgn="t"/>
            <a:r>
              <a:rPr lang="en-US" sz="1200" b="0" i="0" kern="1200" dirty="0" smtClean="0">
                <a:solidFill>
                  <a:schemeClr val="tx1"/>
                </a:solidFill>
                <a:effectLst/>
                <a:latin typeface="+mn-lt"/>
                <a:ea typeface="+mn-ea"/>
                <a:cs typeface="+mn-cs"/>
              </a:rPr>
              <a:t>    There are following </a:t>
            </a:r>
            <a:r>
              <a:rPr lang="en-US" sz="1200" b="0" i="0" kern="1200" dirty="0" err="1" smtClean="0">
                <a:solidFill>
                  <a:schemeClr val="tx1"/>
                </a:solidFill>
                <a:effectLst/>
                <a:latin typeface="+mn-lt"/>
                <a:ea typeface="+mn-ea"/>
                <a:cs typeface="+mn-cs"/>
              </a:rPr>
              <a:t>flavours</a:t>
            </a:r>
            <a:r>
              <a:rPr lang="en-US" sz="1200" b="0" i="0" kern="1200" dirty="0" smtClean="0">
                <a:solidFill>
                  <a:schemeClr val="tx1"/>
                </a:solidFill>
                <a:effectLst/>
                <a:latin typeface="+mn-lt"/>
                <a:ea typeface="+mn-ea"/>
                <a:cs typeface="+mn-cs"/>
              </a:rPr>
              <a:t> of Asp.NET Site -</a:t>
            </a:r>
          </a:p>
          <a:p>
            <a:pPr lvl="1"/>
            <a:r>
              <a:rPr lang="en-US" sz="1200" b="1" i="0" kern="1200" dirty="0" smtClean="0">
                <a:solidFill>
                  <a:schemeClr val="tx1"/>
                </a:solidFill>
                <a:effectLst/>
                <a:latin typeface="+mn-lt"/>
                <a:ea typeface="+mn-ea"/>
                <a:cs typeface="+mn-cs"/>
              </a:rPr>
              <a:t>Web Forms</a:t>
            </a:r>
          </a:p>
          <a:p>
            <a:pPr lvl="1" fontAlgn="t"/>
            <a:r>
              <a:rPr lang="en-US" sz="1200" b="0" i="0" kern="1200" dirty="0" smtClean="0">
                <a:solidFill>
                  <a:schemeClr val="tx1"/>
                </a:solidFill>
                <a:effectLst/>
                <a:latin typeface="+mn-lt"/>
                <a:ea typeface="+mn-ea"/>
                <a:cs typeface="+mn-cs"/>
              </a:rPr>
              <a:t>This is the traditional event driven development model. It has drag and drop server controls, server events and state management techniques. This best for rapid application development (RAD) with powerful data access.</a:t>
            </a:r>
          </a:p>
          <a:p>
            <a:pPr lvl="1"/>
            <a:r>
              <a:rPr lang="en-US" sz="1200" b="1" i="0" kern="1200" dirty="0" smtClean="0">
                <a:solidFill>
                  <a:schemeClr val="tx1"/>
                </a:solidFill>
                <a:effectLst/>
                <a:latin typeface="+mn-lt"/>
                <a:ea typeface="+mn-ea"/>
                <a:cs typeface="+mn-cs"/>
              </a:rPr>
              <a:t>MVC</a:t>
            </a:r>
          </a:p>
          <a:p>
            <a:pPr lvl="1" fontAlgn="t"/>
            <a:r>
              <a:rPr lang="en-US" sz="1200" b="0" i="0" kern="1200" dirty="0" smtClean="0">
                <a:solidFill>
                  <a:schemeClr val="tx1"/>
                </a:solidFill>
                <a:effectLst/>
                <a:latin typeface="+mn-lt"/>
                <a:ea typeface="+mn-ea"/>
                <a:cs typeface="+mn-cs"/>
              </a:rPr>
              <a:t>This is a lightweight and MVC (Model, View, Controller) pattern based development model. It provides full control over mark-up and support many features that allow fast &amp; agile development. This best for developing lightweight, interactive and device oriented (i.e. compatible to smart phones, iPhone, tablet, laptop etc.) web application with latest web standards.</a:t>
            </a:r>
          </a:p>
          <a:p>
            <a:pPr lvl="1"/>
            <a:r>
              <a:rPr lang="en-US" sz="1200" b="1" i="0" kern="1200" dirty="0" smtClean="0">
                <a:solidFill>
                  <a:schemeClr val="tx1"/>
                </a:solidFill>
                <a:effectLst/>
                <a:latin typeface="+mn-lt"/>
                <a:ea typeface="+mn-ea"/>
                <a:cs typeface="+mn-cs"/>
              </a:rPr>
              <a:t>Web Pages</a:t>
            </a:r>
          </a:p>
          <a:p>
            <a:pPr lvl="1" fontAlgn="t"/>
            <a:r>
              <a:rPr lang="en-US" sz="1200" b="0" i="0" kern="1200" dirty="0" smtClean="0">
                <a:solidFill>
                  <a:schemeClr val="tx1"/>
                </a:solidFill>
                <a:effectLst/>
                <a:latin typeface="+mn-lt"/>
                <a:ea typeface="+mn-ea"/>
                <a:cs typeface="+mn-cs"/>
              </a:rPr>
              <a:t>This is also a lightweight and Razor syntax based development model. It has built-in template and helpers also provide full control over mark-up. It is best for developing beautiful web application with latest web standards. You can also use WebMatrix which is a free tool and has built-in template; for developing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Web Page.</a:t>
            </a:r>
          </a:p>
          <a:p>
            <a:pPr lvl="1"/>
            <a:r>
              <a:rPr lang="en-US" sz="1200" b="1" i="0" kern="1200" dirty="0" smtClean="0">
                <a:solidFill>
                  <a:schemeClr val="tx1"/>
                </a:solidFill>
                <a:effectLst/>
                <a:latin typeface="+mn-lt"/>
                <a:ea typeface="+mn-ea"/>
                <a:cs typeface="+mn-cs"/>
              </a:rPr>
              <a:t>SPA</a:t>
            </a:r>
          </a:p>
          <a:p>
            <a:pPr lvl="1" fontAlgn="t"/>
            <a:r>
              <a:rPr lang="en-US" sz="1200" b="0" i="0" kern="1200" dirty="0" smtClean="0">
                <a:solidFill>
                  <a:schemeClr val="tx1"/>
                </a:solidFill>
                <a:effectLst/>
                <a:latin typeface="+mn-lt"/>
                <a:ea typeface="+mn-ea"/>
                <a:cs typeface="+mn-cs"/>
              </a:rPr>
              <a:t>SPA stands for Single Page Application which helps you to build web applications that include significant client-side interactions using HTML5, CSS3 and JavaScript. It is best to make highly interactive single page dashboard web applications.</a:t>
            </a:r>
          </a:p>
          <a:p>
            <a:pPr lvl="1" fontAlgn="t"/>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4. Asp.NET Services</a:t>
            </a:r>
          </a:p>
          <a:p>
            <a:pPr fontAlgn="t"/>
            <a:r>
              <a:rPr lang="en-US" sz="1200" b="0" i="0" kern="1200" dirty="0" smtClean="0">
                <a:solidFill>
                  <a:schemeClr val="tx1"/>
                </a:solidFill>
                <a:effectLst/>
                <a:latin typeface="+mn-lt"/>
                <a:ea typeface="+mn-ea"/>
                <a:cs typeface="+mn-cs"/>
              </a:rPr>
              <a:t>There are two ways to make </a:t>
            </a:r>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Services as given below –</a:t>
            </a:r>
          </a:p>
          <a:p>
            <a:pPr lvl="1"/>
            <a:r>
              <a:rPr lang="en-US" sz="1200" b="1" i="0" kern="1200" dirty="0" smtClean="0">
                <a:solidFill>
                  <a:schemeClr val="tx1"/>
                </a:solidFill>
                <a:effectLst/>
                <a:latin typeface="+mn-lt"/>
                <a:ea typeface="+mn-ea"/>
                <a:cs typeface="+mn-cs"/>
              </a:rPr>
              <a:t>Web API</a:t>
            </a:r>
          </a:p>
          <a:p>
            <a:pPr lvl="1" fontAlgn="t"/>
            <a:r>
              <a:rPr lang="en-US" sz="1200" b="0" i="0" kern="1200" dirty="0" err="1" smtClean="0">
                <a:solidFill>
                  <a:schemeClr val="tx1"/>
                </a:solidFill>
                <a:effectLst/>
                <a:latin typeface="+mn-lt"/>
                <a:ea typeface="+mn-ea"/>
                <a:cs typeface="+mn-cs"/>
              </a:rPr>
              <a:t>Asp.Net</a:t>
            </a:r>
            <a:r>
              <a:rPr lang="en-US" sz="1200" b="0" i="0" kern="1200" dirty="0" smtClean="0">
                <a:solidFill>
                  <a:schemeClr val="tx1"/>
                </a:solidFill>
                <a:effectLst/>
                <a:latin typeface="+mn-lt"/>
                <a:ea typeface="+mn-ea"/>
                <a:cs typeface="+mn-cs"/>
              </a:rPr>
              <a:t> Web API is a framework for building HTTP services that can be consumed by a broad range of clients including browsers, mobiles, </a:t>
            </a:r>
            <a:r>
              <a:rPr lang="en-US" sz="1200" b="0" i="0" kern="1200" dirty="0" err="1" smtClean="0">
                <a:solidFill>
                  <a:schemeClr val="tx1"/>
                </a:solidFill>
                <a:effectLst/>
                <a:latin typeface="+mn-lt"/>
                <a:ea typeface="+mn-ea"/>
                <a:cs typeface="+mn-cs"/>
              </a:rPr>
              <a:t>iphone</a:t>
            </a:r>
            <a:r>
              <a:rPr lang="en-US" sz="1200" b="0" i="0" kern="1200" dirty="0" smtClean="0">
                <a:solidFill>
                  <a:schemeClr val="tx1"/>
                </a:solidFill>
                <a:effectLst/>
                <a:latin typeface="+mn-lt"/>
                <a:ea typeface="+mn-ea"/>
                <a:cs typeface="+mn-cs"/>
              </a:rPr>
              <a:t> and tablets.</a:t>
            </a:r>
          </a:p>
          <a:p>
            <a:pPr lvl="1"/>
            <a:r>
              <a:rPr lang="en-US" sz="1200" b="1" i="0" kern="1200" dirty="0" err="1" smtClean="0">
                <a:solidFill>
                  <a:schemeClr val="tx1"/>
                </a:solidFill>
                <a:effectLst/>
                <a:latin typeface="+mn-lt"/>
                <a:ea typeface="+mn-ea"/>
                <a:cs typeface="+mn-cs"/>
              </a:rPr>
              <a:t>SignalR</a:t>
            </a:r>
            <a:endParaRPr lang="en-US" sz="1200" b="1" i="0" kern="1200" dirty="0" smtClean="0">
              <a:solidFill>
                <a:schemeClr val="tx1"/>
              </a:solidFill>
              <a:effectLst/>
              <a:latin typeface="+mn-lt"/>
              <a:ea typeface="+mn-ea"/>
              <a:cs typeface="+mn-cs"/>
            </a:endParaRPr>
          </a:p>
          <a:p>
            <a:pPr lvl="1" fontAlgn="t"/>
            <a:r>
              <a:rPr lang="en-US" sz="1200" b="0" i="0" kern="1200" dirty="0" smtClean="0">
                <a:solidFill>
                  <a:schemeClr val="tx1"/>
                </a:solidFill>
                <a:effectLst/>
                <a:latin typeface="+mn-lt"/>
                <a:ea typeface="+mn-ea"/>
                <a:cs typeface="+mn-cs"/>
              </a:rPr>
              <a:t>ASP.NET </a:t>
            </a:r>
            <a:r>
              <a:rPr lang="en-US" sz="1200" b="0" i="0" kern="1200" dirty="0" err="1" smtClean="0">
                <a:solidFill>
                  <a:schemeClr val="tx1"/>
                </a:solidFill>
                <a:effectLst/>
                <a:latin typeface="+mn-lt"/>
                <a:ea typeface="+mn-ea"/>
                <a:cs typeface="+mn-cs"/>
              </a:rPr>
              <a:t>SignalR</a:t>
            </a:r>
            <a:r>
              <a:rPr lang="en-US" sz="1200" b="0" i="0" kern="1200" dirty="0" smtClean="0">
                <a:solidFill>
                  <a:schemeClr val="tx1"/>
                </a:solidFill>
                <a:effectLst/>
                <a:latin typeface="+mn-lt"/>
                <a:ea typeface="+mn-ea"/>
                <a:cs typeface="+mn-cs"/>
              </a:rPr>
              <a:t> is a library that simplifies the process of adding real-time web functionality to applications. Real-time web functionality is the ability to have server code push content to connected clients instantly as it becomes available, rather than having the server wait for a client to request new data.</a:t>
            </a:r>
          </a:p>
          <a:p>
            <a:pPr lvl="1" fontAlgn="t"/>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5. Visual Studio 2013</a:t>
            </a:r>
          </a:p>
          <a:p>
            <a:pPr fontAlgn="t"/>
            <a:r>
              <a:rPr lang="en-US" sz="1200" b="0" i="0" kern="1200" dirty="0" smtClean="0">
                <a:solidFill>
                  <a:schemeClr val="tx1"/>
                </a:solidFill>
                <a:effectLst/>
                <a:latin typeface="+mn-lt"/>
                <a:ea typeface="+mn-ea"/>
                <a:cs typeface="+mn-cs"/>
              </a:rPr>
              <a:t>The Visual Studio IDE offers a set of tools that help you to write and modify the code for your programs, and also detect and correct errors in your programs. Using Visual Studio 2013 you can build Windows Store apps, desktop apps, mobile apps, ASP.NET web apps, and web services.</a:t>
            </a:r>
          </a:p>
          <a:p>
            <a:pPr lvl="1" fontAlgn="t"/>
            <a:endParaRPr lang="en-US" sz="1200" b="0" i="0" kern="1200" dirty="0" smtClean="0">
              <a:solidFill>
                <a:schemeClr val="tx1"/>
              </a:solidFill>
              <a:effectLst/>
              <a:latin typeface="+mn-lt"/>
              <a:ea typeface="+mn-ea"/>
              <a:cs typeface="+mn-cs"/>
            </a:endParaRPr>
          </a:p>
          <a:p>
            <a:pPr lvl="1" fontAlgn="t"/>
            <a:endParaRPr lang="en-US" sz="1200" b="0" i="0" kern="1200" dirty="0" smtClean="0">
              <a:solidFill>
                <a:schemeClr val="tx1"/>
              </a:solidFill>
              <a:effectLst/>
              <a:latin typeface="+mn-lt"/>
              <a:ea typeface="+mn-ea"/>
              <a:cs typeface="+mn-cs"/>
            </a:endParaRPr>
          </a:p>
          <a:p>
            <a:pPr lvl="1" fontAlgn="t"/>
            <a:endParaRPr lang="en-US" sz="1200" b="0" i="0" kern="1200" dirty="0" smtClean="0">
              <a:solidFill>
                <a:schemeClr val="tx1"/>
              </a:solidFill>
              <a:effectLst/>
              <a:latin typeface="+mn-lt"/>
              <a:ea typeface="+mn-ea"/>
              <a:cs typeface="+mn-cs"/>
            </a:endParaRPr>
          </a:p>
          <a:p>
            <a:pPr fontAlgn="t"/>
            <a:endParaRPr lang="en-US" sz="1200" b="0" i="0" kern="1200" dirty="0" smtClean="0">
              <a:solidFill>
                <a:schemeClr val="tx1"/>
              </a:solidFill>
              <a:effectLst/>
              <a:latin typeface="+mn-lt"/>
              <a:ea typeface="+mn-ea"/>
              <a:cs typeface="+mn-cs"/>
            </a:endParaRPr>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3</a:t>
            </a:fld>
            <a:endParaRPr lang="en-US" dirty="0"/>
          </a:p>
        </p:txBody>
      </p:sp>
    </p:spTree>
    <p:extLst>
      <p:ext uri="{BB962C8B-B14F-4D97-AF65-F5344CB8AC3E}">
        <p14:creationId xmlns:p14="http://schemas.microsoft.com/office/powerpoint/2010/main" val="173415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0000" lnSpcReduction="20000"/>
          </a:bodyPr>
          <a:lstStyle/>
          <a:p>
            <a:r>
              <a:rPr lang="en-US" sz="1200" b="0" i="0" kern="1200" dirty="0" smtClean="0">
                <a:solidFill>
                  <a:schemeClr val="tx1"/>
                </a:solidFill>
                <a:effectLst/>
                <a:latin typeface="+mn-lt"/>
                <a:ea typeface="+mn-ea"/>
                <a:cs typeface="+mn-cs"/>
              </a:rPr>
              <a:t>MVC is one of three ASP.NET programming models (Web</a:t>
            </a:r>
            <a:r>
              <a:rPr lang="en-US" sz="1200" b="0" i="0" kern="1200" baseline="0" dirty="0" smtClean="0">
                <a:solidFill>
                  <a:schemeClr val="tx1"/>
                </a:solidFill>
                <a:effectLst/>
                <a:latin typeface="+mn-lt"/>
                <a:ea typeface="+mn-ea"/>
                <a:cs typeface="+mn-cs"/>
              </a:rPr>
              <a:t> Pages, </a:t>
            </a:r>
            <a:r>
              <a:rPr lang="en-US" sz="1200" b="1" i="0" kern="1200" baseline="0" dirty="0" smtClean="0">
                <a:solidFill>
                  <a:schemeClr val="tx1"/>
                </a:solidFill>
                <a:effectLst/>
                <a:latin typeface="+mn-lt"/>
                <a:ea typeface="+mn-ea"/>
                <a:cs typeface="+mn-cs"/>
              </a:rPr>
              <a:t>MVC</a:t>
            </a:r>
            <a:r>
              <a:rPr lang="en-US" sz="1200" b="0" i="0" kern="1200" baseline="0" dirty="0" smtClean="0">
                <a:solidFill>
                  <a:schemeClr val="tx1"/>
                </a:solidFill>
                <a:effectLst/>
                <a:latin typeface="+mn-lt"/>
                <a:ea typeface="+mn-ea"/>
                <a:cs typeface="+mn-cs"/>
              </a:rPr>
              <a:t>, Web Forms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MVC is a framework for building web applications using a MVC (Model View Controller) design:</a:t>
            </a:r>
          </a:p>
          <a:p>
            <a:endParaRPr 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200" b="0" i="0" kern="1200" dirty="0" smtClean="0">
                <a:solidFill>
                  <a:schemeClr val="tx1"/>
                </a:solidFill>
                <a:effectLst/>
                <a:latin typeface="+mn-lt"/>
                <a:ea typeface="+mn-ea"/>
                <a:cs typeface="+mn-cs"/>
              </a:rPr>
              <a:t>The Model represents the application core (for instance a list of database records).</a:t>
            </a:r>
          </a:p>
          <a:p>
            <a:pPr marL="628650" lvl="1" indent="-171450">
              <a:buFont typeface="Arial" panose="020B0604020202020204" pitchFamily="34" charset="0"/>
              <a:buChar char="•"/>
            </a:pPr>
            <a:r>
              <a:rPr lang="en-US" sz="1200" b="0" i="0" kern="1200" dirty="0" smtClean="0">
                <a:solidFill>
                  <a:schemeClr val="tx1"/>
                </a:solidFill>
                <a:effectLst/>
                <a:latin typeface="+mn-lt"/>
                <a:ea typeface="+mn-ea"/>
                <a:cs typeface="+mn-cs"/>
              </a:rPr>
              <a:t>The View displays the data (the database records).</a:t>
            </a:r>
          </a:p>
          <a:p>
            <a:pPr marL="628650" lvl="1" indent="-171450">
              <a:buFont typeface="Arial" panose="020B0604020202020204" pitchFamily="34" charset="0"/>
              <a:buChar char="•"/>
            </a:pPr>
            <a:r>
              <a:rPr lang="en-US" sz="1200" b="0" i="0" kern="1200" dirty="0" smtClean="0">
                <a:solidFill>
                  <a:schemeClr val="tx1"/>
                </a:solidFill>
                <a:effectLst/>
                <a:latin typeface="+mn-lt"/>
                <a:ea typeface="+mn-ea"/>
                <a:cs typeface="+mn-cs"/>
              </a:rPr>
              <a:t>The Controller handles the input (to the database records).</a:t>
            </a:r>
          </a:p>
          <a:p>
            <a:pPr marL="457200" lvl="1" indent="0">
              <a:buFont typeface="Arial" panose="020B0604020202020204" pitchFamily="34" charset="0"/>
              <a:buNone/>
            </a:pPr>
            <a:endParaRPr lang="en-US" sz="1200" b="0" i="0" kern="1200" dirty="0" smtClean="0">
              <a:solidFill>
                <a:schemeClr val="tx1"/>
              </a:solidFill>
              <a:effectLst/>
              <a:latin typeface="+mn-lt"/>
              <a:ea typeface="+mn-ea"/>
              <a:cs typeface="+mn-cs"/>
            </a:endParaRPr>
          </a:p>
          <a:p>
            <a:pPr marL="457200" lvl="1" indent="0">
              <a:buFont typeface="Arial" panose="020B0604020202020204" pitchFamily="34" charset="0"/>
              <a:buNone/>
            </a:pPr>
            <a:r>
              <a:rPr lang="en-US" sz="1200" b="0" i="0" kern="1200" dirty="0" smtClean="0">
                <a:solidFill>
                  <a:schemeClr val="tx1"/>
                </a:solidFill>
                <a:effectLst/>
                <a:latin typeface="+mn-lt"/>
                <a:ea typeface="+mn-ea"/>
                <a:cs typeface="+mn-cs"/>
              </a:rPr>
              <a:t>The MVC model also provides full control over HTML, CSS, and JavaScript.</a:t>
            </a:r>
          </a:p>
          <a:p>
            <a:endParaRPr lang="es-ES" sz="1200" kern="1200" dirty="0" smtClean="0">
              <a:solidFill>
                <a:schemeClr val="tx1"/>
              </a:solidFill>
              <a:effectLst/>
              <a:latin typeface="+mn-lt"/>
              <a:ea typeface="+mn-ea"/>
              <a:cs typeface="+mn-cs"/>
            </a:endParaRPr>
          </a:p>
          <a:p>
            <a:pPr fontAlgn="t"/>
            <a:r>
              <a:rPr lang="en-US" dirty="0" smtClean="0">
                <a:effectLst/>
              </a:rPr>
              <a:t/>
            </a:r>
            <a:br>
              <a:rPr lang="en-US" dirty="0" smtClean="0">
                <a:effectLst/>
              </a:rPr>
            </a:br>
            <a:r>
              <a:rPr lang="en-US" dirty="0" smtClean="0">
                <a:effectLst/>
              </a:rPr>
              <a:t>The MVC model defines web applications with 3 logic layers:</a:t>
            </a:r>
          </a:p>
          <a:p>
            <a:pPr fontAlgn="t"/>
            <a:r>
              <a:rPr lang="en-US" dirty="0" smtClean="0">
                <a:effectLst/>
              </a:rPr>
              <a:t> </a:t>
            </a:r>
          </a:p>
          <a:p>
            <a:pPr marL="628650" lvl="1" indent="-171450" fontAlgn="t">
              <a:buFont typeface="Arial" panose="020B0604020202020204" pitchFamily="34" charset="0"/>
              <a:buChar char="•"/>
            </a:pPr>
            <a:r>
              <a:rPr lang="en-US" dirty="0" smtClean="0">
                <a:effectLst/>
              </a:rPr>
              <a:t>The business layer (Model logic)</a:t>
            </a:r>
          </a:p>
          <a:p>
            <a:pPr marL="628650" lvl="1" indent="-171450" fontAlgn="t">
              <a:buFont typeface="Arial" panose="020B0604020202020204" pitchFamily="34" charset="0"/>
              <a:buChar char="•"/>
            </a:pPr>
            <a:r>
              <a:rPr lang="en-US" dirty="0" smtClean="0">
                <a:effectLst/>
              </a:rPr>
              <a:t>The display layer (View logic)</a:t>
            </a:r>
          </a:p>
          <a:p>
            <a:pPr marL="628650" lvl="1" indent="-171450" fontAlgn="t">
              <a:buFont typeface="Arial" panose="020B0604020202020204" pitchFamily="34" charset="0"/>
              <a:buChar char="•"/>
            </a:pPr>
            <a:r>
              <a:rPr lang="en-US" dirty="0" smtClean="0">
                <a:effectLst/>
              </a:rPr>
              <a:t>The input control (Controller logic)</a:t>
            </a:r>
          </a:p>
          <a:p>
            <a:endParaRPr lang="es-ES" sz="1200" kern="1200" dirty="0" smtClean="0">
              <a:solidFill>
                <a:schemeClr val="tx1"/>
              </a:solidFill>
              <a:effectLst/>
              <a:latin typeface="+mn-lt"/>
              <a:ea typeface="+mn-ea"/>
              <a:cs typeface="+mn-cs"/>
            </a:endParaRPr>
          </a:p>
          <a:p>
            <a:endParaRPr lang="es-ES" sz="120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The Model</a:t>
            </a:r>
            <a:r>
              <a:rPr lang="en-US" sz="1200" b="0" i="0" kern="1200" dirty="0" smtClean="0">
                <a:solidFill>
                  <a:schemeClr val="tx1"/>
                </a:solidFill>
                <a:effectLst/>
                <a:latin typeface="+mn-lt"/>
                <a:ea typeface="+mn-ea"/>
                <a:cs typeface="+mn-cs"/>
              </a:rPr>
              <a:t> is the part of the application that handles the logic for the application data. Often model objects retrieve data (and store data) from a database.</a:t>
            </a:r>
          </a:p>
          <a:p>
            <a:r>
              <a:rPr lang="en-US" sz="1200" b="1" i="0" kern="1200" dirty="0" smtClean="0">
                <a:solidFill>
                  <a:schemeClr val="tx1"/>
                </a:solidFill>
                <a:effectLst/>
                <a:latin typeface="+mn-lt"/>
                <a:ea typeface="+mn-ea"/>
                <a:cs typeface="+mn-cs"/>
              </a:rPr>
              <a:t>The View</a:t>
            </a:r>
            <a:r>
              <a:rPr lang="en-US" sz="1200" b="0" i="0" kern="1200" dirty="0" smtClean="0">
                <a:solidFill>
                  <a:schemeClr val="tx1"/>
                </a:solidFill>
                <a:effectLst/>
                <a:latin typeface="+mn-lt"/>
                <a:ea typeface="+mn-ea"/>
                <a:cs typeface="+mn-cs"/>
              </a:rPr>
              <a:t> is the parts of the application that handles the display of the data. Most often the views are created from the model data.</a:t>
            </a:r>
          </a:p>
          <a:p>
            <a:r>
              <a:rPr lang="en-US" sz="1200" b="1" i="0" kern="1200" dirty="0" smtClean="0">
                <a:solidFill>
                  <a:schemeClr val="tx1"/>
                </a:solidFill>
                <a:effectLst/>
                <a:latin typeface="+mn-lt"/>
                <a:ea typeface="+mn-ea"/>
                <a:cs typeface="+mn-cs"/>
              </a:rPr>
              <a:t>The Controller</a:t>
            </a:r>
            <a:r>
              <a:rPr lang="en-US" sz="1200" b="0" i="0" kern="1200" dirty="0" smtClean="0">
                <a:solidFill>
                  <a:schemeClr val="tx1"/>
                </a:solidFill>
                <a:effectLst/>
                <a:latin typeface="+mn-lt"/>
                <a:ea typeface="+mn-ea"/>
                <a:cs typeface="+mn-cs"/>
              </a:rPr>
              <a:t> is the part of the application that handles user interaction. Typically controllers read data from a view, control user input, and send input data to the model.</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MVC separation helps you manage complex applications, because you can focus on one aspect a time. For example, you can focus on the view without depending on the business logic. It also makes it easier to test an application.</a:t>
            </a:r>
          </a:p>
          <a:p>
            <a:r>
              <a:rPr lang="en-US" sz="1200" b="0" i="0" kern="1200" dirty="0" smtClean="0">
                <a:solidFill>
                  <a:schemeClr val="tx1"/>
                </a:solidFill>
                <a:effectLst/>
                <a:latin typeface="+mn-lt"/>
                <a:ea typeface="+mn-ea"/>
                <a:cs typeface="+mn-cs"/>
              </a:rPr>
              <a:t>The MVC separation also simplifies group development. Different developers can work on the view, the controller logic, and the business logic in parallel.</a:t>
            </a:r>
          </a:p>
          <a:p>
            <a:r>
              <a:rPr lang="en-US" dirty="0" smtClean="0"/>
              <a:t/>
            </a:r>
            <a:br>
              <a:rPr lang="en-US" dirty="0" smtClean="0"/>
            </a:br>
            <a:endParaRPr lang="es-ES" sz="1200" kern="1200" dirty="0" smtClean="0">
              <a:solidFill>
                <a:schemeClr val="tx1"/>
              </a:solidFill>
              <a:effectLst/>
              <a:latin typeface="+mn-lt"/>
              <a:ea typeface="+mn-ea"/>
              <a:cs typeface="+mn-cs"/>
            </a:endParaRP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a:t>
            </a: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El patrón de arquitectura MVC (</a:t>
            </a:r>
            <a:r>
              <a:rPr lang="es-ES" sz="1200" kern="1200" dirty="0" err="1" smtClean="0">
                <a:solidFill>
                  <a:schemeClr val="tx1"/>
                </a:solidFill>
                <a:effectLst/>
                <a:latin typeface="+mn-lt"/>
                <a:ea typeface="+mn-ea"/>
                <a:cs typeface="+mn-cs"/>
              </a:rPr>
              <a:t>Model</a:t>
            </a:r>
            <a:r>
              <a:rPr lang="es-ES" sz="1200" kern="1200" dirty="0" smtClean="0">
                <a:solidFill>
                  <a:schemeClr val="tx1"/>
                </a:solidFill>
                <a:effectLst/>
                <a:latin typeface="+mn-lt"/>
                <a:ea typeface="+mn-ea"/>
                <a:cs typeface="+mn-cs"/>
              </a:rPr>
              <a:t>-View-</a:t>
            </a:r>
            <a:r>
              <a:rPr lang="es-ES" sz="1200" kern="1200" dirty="0" err="1" smtClean="0">
                <a:solidFill>
                  <a:schemeClr val="tx1"/>
                </a:solidFill>
                <a:effectLst/>
                <a:latin typeface="+mn-lt"/>
                <a:ea typeface="+mn-ea"/>
                <a:cs typeface="+mn-cs"/>
              </a:rPr>
              <a:t>Controller</a:t>
            </a:r>
            <a:r>
              <a:rPr lang="es-ES" sz="1200" kern="1200" dirty="0" smtClean="0">
                <a:solidFill>
                  <a:schemeClr val="tx1"/>
                </a:solidFill>
                <a:effectLst/>
                <a:latin typeface="+mn-lt"/>
                <a:ea typeface="+mn-ea"/>
                <a:cs typeface="+mn-cs"/>
              </a:rPr>
              <a:t>) es un patrón que define la organización independiente del </a:t>
            </a:r>
            <a:r>
              <a:rPr lang="es-ES" sz="1200" b="1" kern="1200" dirty="0" smtClean="0">
                <a:solidFill>
                  <a:schemeClr val="tx1"/>
                </a:solidFill>
                <a:effectLst/>
                <a:latin typeface="+mn-lt"/>
                <a:ea typeface="+mn-ea"/>
                <a:cs typeface="+mn-cs"/>
              </a:rPr>
              <a:t>Modelo</a:t>
            </a:r>
            <a:r>
              <a:rPr lang="es-ES" sz="1200" kern="1200" dirty="0" smtClean="0">
                <a:solidFill>
                  <a:schemeClr val="tx1"/>
                </a:solidFill>
                <a:effectLst/>
                <a:latin typeface="+mn-lt"/>
                <a:ea typeface="+mn-ea"/>
                <a:cs typeface="+mn-cs"/>
              </a:rPr>
              <a:t> (Objetos de Negocio), la </a:t>
            </a:r>
            <a:r>
              <a:rPr lang="es-ES" sz="1200" b="1" kern="1200" dirty="0" smtClean="0">
                <a:solidFill>
                  <a:schemeClr val="tx1"/>
                </a:solidFill>
                <a:effectLst/>
                <a:latin typeface="+mn-lt"/>
                <a:ea typeface="+mn-ea"/>
                <a:cs typeface="+mn-cs"/>
              </a:rPr>
              <a:t>Vista</a:t>
            </a:r>
            <a:r>
              <a:rPr lang="es-ES" sz="1200" kern="1200" dirty="0" smtClean="0">
                <a:solidFill>
                  <a:schemeClr val="tx1"/>
                </a:solidFill>
                <a:effectLst/>
                <a:latin typeface="+mn-lt"/>
                <a:ea typeface="+mn-ea"/>
                <a:cs typeface="+mn-cs"/>
              </a:rPr>
              <a:t> (interfaz con el usuario u otro sistema) y el </a:t>
            </a:r>
            <a:r>
              <a:rPr lang="es-ES" sz="1200" b="1" kern="1200" dirty="0" smtClean="0">
                <a:solidFill>
                  <a:schemeClr val="tx1"/>
                </a:solidFill>
                <a:effectLst/>
                <a:latin typeface="+mn-lt"/>
                <a:ea typeface="+mn-ea"/>
                <a:cs typeface="+mn-cs"/>
              </a:rPr>
              <a:t>Controlador</a:t>
            </a:r>
            <a:r>
              <a:rPr lang="es-ES" sz="1200" kern="1200" dirty="0" smtClean="0">
                <a:solidFill>
                  <a:schemeClr val="tx1"/>
                </a:solidFill>
                <a:effectLst/>
                <a:latin typeface="+mn-lt"/>
                <a:ea typeface="+mn-ea"/>
                <a:cs typeface="+mn-cs"/>
              </a:rPr>
              <a:t> (controlador del </a:t>
            </a:r>
            <a:r>
              <a:rPr lang="es-ES" sz="1200" kern="1200" dirty="0" err="1" smtClean="0">
                <a:solidFill>
                  <a:schemeClr val="tx1"/>
                </a:solidFill>
                <a:effectLst/>
                <a:latin typeface="+mn-lt"/>
                <a:ea typeface="+mn-ea"/>
                <a:cs typeface="+mn-cs"/>
              </a:rPr>
              <a:t>workflow</a:t>
            </a:r>
            <a:r>
              <a:rPr lang="es-ES" sz="1200" kern="1200" dirty="0" smtClean="0">
                <a:solidFill>
                  <a:schemeClr val="tx1"/>
                </a:solidFill>
                <a:effectLst/>
                <a:latin typeface="+mn-lt"/>
                <a:ea typeface="+mn-ea"/>
                <a:cs typeface="+mn-cs"/>
              </a:rPr>
              <a:t> de la aplicación).</a:t>
            </a:r>
          </a:p>
          <a:p>
            <a:r>
              <a:rPr lang="es-ES" sz="1200" kern="1200" dirty="0" smtClean="0">
                <a:solidFill>
                  <a:schemeClr val="tx1"/>
                </a:solidFill>
                <a:effectLst/>
                <a:latin typeface="+mn-lt"/>
                <a:ea typeface="+mn-ea"/>
                <a:cs typeface="+mn-cs"/>
              </a:rPr>
              <a:t>De esta forma, dividimos el sistema en tres capas donde, como explicaremos más adelante, tenemos la encapsulación de los datos, la interfaz o vista por otro y por último la lógica interna o controlador.</a:t>
            </a:r>
          </a:p>
          <a:p>
            <a:r>
              <a:rPr lang="es-ES" sz="1200" kern="1200" dirty="0" smtClean="0">
                <a:solidFill>
                  <a:schemeClr val="tx1"/>
                </a:solidFill>
                <a:effectLst/>
                <a:latin typeface="+mn-lt"/>
                <a:ea typeface="+mn-ea"/>
                <a:cs typeface="+mn-cs"/>
              </a:rPr>
              <a:t/>
            </a:r>
            <a:br>
              <a:rPr lang="es-ES" sz="1200" kern="1200" dirty="0" smtClean="0">
                <a:solidFill>
                  <a:schemeClr val="tx1"/>
                </a:solidFill>
                <a:effectLst/>
                <a:latin typeface="+mn-lt"/>
                <a:ea typeface="+mn-ea"/>
                <a:cs typeface="+mn-cs"/>
              </a:rPr>
            </a:br>
            <a:r>
              <a:rPr lang="es-ES" sz="1200" kern="1200" dirty="0" smtClean="0">
                <a:solidFill>
                  <a:schemeClr val="tx1"/>
                </a:solidFill>
                <a:effectLst/>
                <a:latin typeface="+mn-lt"/>
                <a:ea typeface="+mn-ea"/>
                <a:cs typeface="+mn-cs"/>
              </a:rPr>
              <a:t>El patrón de arquitectura "modelo vista controlador", es una filosofía de diseño de aplicaciones, compuesta por:</a:t>
            </a: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Modelo</a:t>
            </a:r>
            <a:endParaRPr lang="es-ES" sz="1200" kern="1200" dirty="0" smtClean="0">
              <a:solidFill>
                <a:schemeClr val="tx1"/>
              </a:solidFill>
              <a:effectLst/>
              <a:latin typeface="+mn-lt"/>
              <a:ea typeface="+mn-ea"/>
              <a:cs typeface="+mn-cs"/>
            </a:endParaRPr>
          </a:p>
          <a:p>
            <a:pPr lvl="1"/>
            <a:r>
              <a:rPr lang="es-ES" sz="1200" kern="1200" dirty="0" smtClean="0">
                <a:solidFill>
                  <a:schemeClr val="tx1"/>
                </a:solidFill>
                <a:effectLst/>
                <a:latin typeface="+mn-lt"/>
                <a:ea typeface="+mn-ea"/>
                <a:cs typeface="+mn-cs"/>
              </a:rPr>
              <a:t>Contiene el núcleo de la funcionalidad (dominio) de la aplicación.</a:t>
            </a:r>
          </a:p>
          <a:p>
            <a:pPr lvl="1"/>
            <a:r>
              <a:rPr lang="es-ES" sz="1200" kern="1200" dirty="0" smtClean="0">
                <a:solidFill>
                  <a:schemeClr val="tx1"/>
                </a:solidFill>
                <a:effectLst/>
                <a:latin typeface="+mn-lt"/>
                <a:ea typeface="+mn-ea"/>
                <a:cs typeface="+mn-cs"/>
              </a:rPr>
              <a:t>Encapsula el estado de la aplicación.</a:t>
            </a:r>
          </a:p>
          <a:p>
            <a:pPr lvl="1"/>
            <a:r>
              <a:rPr lang="es-ES" sz="1200" kern="1200" dirty="0" smtClean="0">
                <a:solidFill>
                  <a:schemeClr val="tx1"/>
                </a:solidFill>
                <a:effectLst/>
                <a:latin typeface="+mn-lt"/>
                <a:ea typeface="+mn-ea"/>
                <a:cs typeface="+mn-cs"/>
              </a:rPr>
              <a:t>No sabe nada / independiente del Controlador y la Vista.</a:t>
            </a:r>
          </a:p>
          <a:p>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Vista</a:t>
            </a:r>
            <a:endParaRPr lang="es-ES" sz="1200" kern="1200" dirty="0" smtClean="0">
              <a:solidFill>
                <a:schemeClr val="tx1"/>
              </a:solidFill>
              <a:effectLst/>
              <a:latin typeface="+mn-lt"/>
              <a:ea typeface="+mn-ea"/>
              <a:cs typeface="+mn-cs"/>
            </a:endParaRPr>
          </a:p>
          <a:p>
            <a:pPr lvl="1"/>
            <a:r>
              <a:rPr lang="es-ES" sz="1200" kern="1200" dirty="0" smtClean="0">
                <a:solidFill>
                  <a:schemeClr val="tx1"/>
                </a:solidFill>
                <a:effectLst/>
                <a:latin typeface="+mn-lt"/>
                <a:ea typeface="+mn-ea"/>
                <a:cs typeface="+mn-cs"/>
              </a:rPr>
              <a:t>Es la presentación visual del Modelo. Paginas HTML, PDF, etc.</a:t>
            </a:r>
          </a:p>
          <a:p>
            <a:pPr lvl="1"/>
            <a:r>
              <a:rPr lang="es-ES" sz="1200" kern="1200" dirty="0" smtClean="0">
                <a:solidFill>
                  <a:schemeClr val="tx1"/>
                </a:solidFill>
                <a:effectLst/>
                <a:latin typeface="+mn-lt"/>
                <a:ea typeface="+mn-ea"/>
                <a:cs typeface="+mn-cs"/>
              </a:rPr>
              <a:t>Puede acceder al Modelo pero nunca cambiar su estado.</a:t>
            </a:r>
          </a:p>
          <a:p>
            <a:pPr lvl="1"/>
            <a:r>
              <a:rPr lang="es-ES" sz="1200" kern="1200" dirty="0" smtClean="0">
                <a:solidFill>
                  <a:schemeClr val="tx1"/>
                </a:solidFill>
                <a:effectLst/>
                <a:latin typeface="+mn-lt"/>
                <a:ea typeface="+mn-ea"/>
                <a:cs typeface="+mn-cs"/>
              </a:rPr>
              <a:t>Puede ser notificada cuando hay un cambio de estado en el Modelo.</a:t>
            </a:r>
          </a:p>
          <a:p>
            <a:r>
              <a:rPr lang="es-ES" sz="120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Controlador</a:t>
            </a:r>
            <a:endParaRPr lang="es-ES" sz="1200" kern="1200" dirty="0" smtClean="0">
              <a:solidFill>
                <a:schemeClr val="tx1"/>
              </a:solidFill>
              <a:effectLst/>
              <a:latin typeface="+mn-lt"/>
              <a:ea typeface="+mn-ea"/>
              <a:cs typeface="+mn-cs"/>
            </a:endParaRPr>
          </a:p>
          <a:p>
            <a:r>
              <a:rPr lang="es-ES" sz="1200" kern="1200" baseline="0" dirty="0" smtClean="0">
                <a:solidFill>
                  <a:schemeClr val="tx1"/>
                </a:solidFill>
                <a:effectLst/>
                <a:latin typeface="+mn-lt"/>
                <a:ea typeface="+mn-ea"/>
                <a:cs typeface="+mn-cs"/>
              </a:rPr>
              <a:t>          </a:t>
            </a:r>
            <a:r>
              <a:rPr lang="es-ES" sz="1200" kern="1200" dirty="0" smtClean="0">
                <a:solidFill>
                  <a:schemeClr val="tx1"/>
                </a:solidFill>
                <a:effectLst/>
                <a:latin typeface="+mn-lt"/>
                <a:ea typeface="+mn-ea"/>
                <a:cs typeface="+mn-cs"/>
              </a:rPr>
              <a:t>Reacciona a la petición del Cliente, ejecutando la acción adecuada y creando el modelo pertinente</a:t>
            </a:r>
          </a:p>
          <a:p>
            <a:endParaRPr lang="es-ES" sz="1200" kern="1200" dirty="0" smtClean="0">
              <a:solidFill>
                <a:schemeClr val="tx1"/>
              </a:solidFill>
              <a:effectLst/>
              <a:latin typeface="+mn-lt"/>
              <a:ea typeface="+mn-ea"/>
              <a:cs typeface="+mn-cs"/>
            </a:endParaRPr>
          </a:p>
          <a:p>
            <a:r>
              <a:rPr lang="es-ES" sz="1200" kern="1200" dirty="0" smtClean="0">
                <a:solidFill>
                  <a:schemeClr val="tx1"/>
                </a:solidFill>
                <a:effectLst/>
                <a:latin typeface="+mn-lt"/>
                <a:ea typeface="+mn-ea"/>
                <a:cs typeface="+mn-cs"/>
              </a:rPr>
              <a:t>Para entender cómo funciona nuestro patrón Modelo Vista Controlador, se debe entender la división a través del conjunto de estos tres elementos y como estos componentes se comunican unos con los otros y con otras vistas y controladores externos al modelo principal. Para ello, es importante saber que el controlador interpreta las entradas del usuario (tanto teclado como el ratón), enviado el mensaje de acción al modelo y a la vista para que se proceda con los cambios que se consideren adecuados</a:t>
            </a:r>
          </a:p>
          <a:p>
            <a:r>
              <a:rPr lang="es-ES" sz="1200" b="1" kern="1200" dirty="0" smtClean="0">
                <a:solidFill>
                  <a:schemeClr val="tx1"/>
                </a:solidFill>
                <a:effectLst/>
                <a:latin typeface="+mn-lt"/>
                <a:ea typeface="+mn-ea"/>
                <a:cs typeface="+mn-cs"/>
              </a:rPr>
              <a:t>Al contrario que el modelo, que puede ser asociado a múltiples asociaciones con otras vistas y controladores, cada vista solo puede ser asociada a un único controlador</a:t>
            </a:r>
            <a:r>
              <a:rPr lang="es-ES" sz="1200" kern="1200" dirty="0" smtClean="0">
                <a:solidFill>
                  <a:schemeClr val="tx1"/>
                </a:solidFill>
                <a:effectLst/>
                <a:latin typeface="+mn-lt"/>
                <a:ea typeface="+mn-ea"/>
                <a:cs typeface="+mn-cs"/>
              </a:rPr>
              <a:t>, por lo que han de tener una variable de tipo </a:t>
            </a:r>
            <a:r>
              <a:rPr lang="es-ES" sz="1200" i="1" kern="1200" dirty="0" err="1" smtClean="0">
                <a:solidFill>
                  <a:schemeClr val="tx1"/>
                </a:solidFill>
                <a:effectLst/>
                <a:latin typeface="+mn-lt"/>
                <a:ea typeface="+mn-ea"/>
                <a:cs typeface="+mn-cs"/>
              </a:rPr>
              <a:t>controller</a:t>
            </a:r>
            <a:r>
              <a:rPr lang="es-ES" sz="1200" kern="1200" dirty="0" smtClean="0">
                <a:solidFill>
                  <a:schemeClr val="tx1"/>
                </a:solidFill>
                <a:effectLst/>
                <a:latin typeface="+mn-lt"/>
                <a:ea typeface="+mn-ea"/>
                <a:cs typeface="+mn-cs"/>
              </a:rPr>
              <a:t> que notificara a la vista cuál es su controlador o modelo asignado. De igual manera, el controlador tiene una variable llamada </a:t>
            </a:r>
            <a:r>
              <a:rPr lang="es-ES" sz="1200" i="1" kern="1200" dirty="0" smtClean="0">
                <a:solidFill>
                  <a:schemeClr val="tx1"/>
                </a:solidFill>
                <a:effectLst/>
                <a:latin typeface="+mn-lt"/>
                <a:ea typeface="+mn-ea"/>
                <a:cs typeface="+mn-cs"/>
              </a:rPr>
              <a:t>View </a:t>
            </a:r>
            <a:r>
              <a:rPr lang="es-ES" sz="1200" kern="1200" dirty="0" smtClean="0">
                <a:solidFill>
                  <a:schemeClr val="tx1"/>
                </a:solidFill>
                <a:effectLst/>
                <a:latin typeface="+mn-lt"/>
                <a:ea typeface="+mn-ea"/>
                <a:cs typeface="+mn-cs"/>
              </a:rPr>
              <a:t>que apunta a la vista. De esta manera, pueden enviarse mensajes directos el uno al otro y al mismo tiempo, a su modelo.</a:t>
            </a:r>
          </a:p>
          <a:p>
            <a:r>
              <a:rPr lang="es-ES" sz="1200" kern="1200" dirty="0" smtClean="0">
                <a:solidFill>
                  <a:schemeClr val="tx1"/>
                </a:solidFill>
                <a:effectLst/>
                <a:latin typeface="+mn-lt"/>
                <a:ea typeface="+mn-ea"/>
                <a:cs typeface="+mn-cs"/>
              </a:rPr>
              <a:t>Al final, </a:t>
            </a:r>
            <a:r>
              <a:rPr lang="es-ES" sz="1200" b="1" kern="1200" dirty="0" smtClean="0">
                <a:solidFill>
                  <a:schemeClr val="tx1"/>
                </a:solidFill>
                <a:effectLst/>
                <a:latin typeface="+mn-lt"/>
                <a:ea typeface="+mn-ea"/>
                <a:cs typeface="+mn-cs"/>
              </a:rPr>
              <a:t>la vista es quien lleva la responsabilidad de establecer la comunicación entre los elementos de nuestro patrón MVC</a:t>
            </a:r>
            <a:r>
              <a:rPr lang="es-ES" sz="1200" kern="1200" dirty="0" smtClean="0">
                <a:solidFill>
                  <a:schemeClr val="tx1"/>
                </a:solidFill>
                <a:effectLst/>
                <a:latin typeface="+mn-lt"/>
                <a:ea typeface="+mn-ea"/>
                <a:cs typeface="+mn-cs"/>
              </a:rPr>
              <a:t>. Cuando la vista recibe un mensaje que concierne al modelo o al controlador, lo deja registrado como el modelo con el cual se comunicara y apunta con la variable </a:t>
            </a:r>
            <a:r>
              <a:rPr lang="es-ES" sz="1200" i="1" kern="1200" dirty="0" err="1" smtClean="0">
                <a:solidFill>
                  <a:schemeClr val="tx1"/>
                </a:solidFill>
                <a:effectLst/>
                <a:latin typeface="+mn-lt"/>
                <a:ea typeface="+mn-ea"/>
                <a:cs typeface="+mn-cs"/>
              </a:rPr>
              <a:t>controller</a:t>
            </a:r>
            <a:r>
              <a:rPr lang="es-ES" sz="1200" kern="1200" dirty="0" smtClean="0">
                <a:solidFill>
                  <a:schemeClr val="tx1"/>
                </a:solidFill>
                <a:effectLst/>
                <a:latin typeface="+mn-lt"/>
                <a:ea typeface="+mn-ea"/>
                <a:cs typeface="+mn-cs"/>
              </a:rPr>
              <a:t> al controlador asignado, enviándole al mismo su identificación para que el controlador establezca en su variable </a:t>
            </a:r>
            <a:r>
              <a:rPr lang="es-ES" sz="1200" i="1" kern="1200" dirty="0" err="1" smtClean="0">
                <a:solidFill>
                  <a:schemeClr val="tx1"/>
                </a:solidFill>
                <a:effectLst/>
                <a:latin typeface="+mn-lt"/>
                <a:ea typeface="+mn-ea"/>
                <a:cs typeface="+mn-cs"/>
              </a:rPr>
              <a:t>view</a:t>
            </a:r>
            <a:r>
              <a:rPr lang="es-ES" sz="1200" kern="1200" dirty="0" smtClean="0">
                <a:solidFill>
                  <a:schemeClr val="tx1"/>
                </a:solidFill>
                <a:effectLst/>
                <a:latin typeface="+mn-lt"/>
                <a:ea typeface="+mn-ea"/>
                <a:cs typeface="+mn-cs"/>
              </a:rPr>
              <a:t> el identificador de la vista y así puedan operar conjuntamente. El responsable de deshacer estas conexiones, seguirá siendo la vista, quitándose a sí misma como dependiente del modelo y liberando al controlador.</a:t>
            </a:r>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4</a:t>
            </a:fld>
            <a:endParaRPr lang="en-US" dirty="0"/>
          </a:p>
        </p:txBody>
      </p:sp>
    </p:spTree>
    <p:extLst>
      <p:ext uri="{BB962C8B-B14F-4D97-AF65-F5344CB8AC3E}">
        <p14:creationId xmlns:p14="http://schemas.microsoft.com/office/powerpoint/2010/main" val="2739743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1"/>
            <a:r>
              <a:rPr lang="en-US" sz="1200" b="0" i="0" kern="1200" dirty="0" smtClean="0">
                <a:solidFill>
                  <a:schemeClr val="tx1"/>
                </a:solidFill>
                <a:effectLst/>
                <a:latin typeface="+mn-lt"/>
                <a:ea typeface="+mn-ea"/>
                <a:cs typeface="+mn-cs"/>
              </a:rPr>
              <a:t>1. User makes the request for some resource in server (by putting some URL in the browser).</a:t>
            </a:r>
          </a:p>
          <a:p>
            <a:pPr lvl="1"/>
            <a:r>
              <a:rPr lang="en-US" sz="1200" b="0" i="0" kern="1200" dirty="0" smtClean="0">
                <a:solidFill>
                  <a:schemeClr val="tx1"/>
                </a:solidFill>
                <a:effectLst/>
                <a:latin typeface="+mn-lt"/>
                <a:ea typeface="+mn-ea"/>
                <a:cs typeface="+mn-cs"/>
              </a:rPr>
              <a:t>2. Request comes to controller first </a:t>
            </a:r>
          </a:p>
          <a:p>
            <a:pPr lvl="1"/>
            <a:r>
              <a:rPr lang="en-US" sz="1200" b="0" i="0" kern="1200" dirty="0" smtClean="0">
                <a:solidFill>
                  <a:schemeClr val="tx1"/>
                </a:solidFill>
                <a:effectLst/>
                <a:latin typeface="+mn-lt"/>
                <a:ea typeface="+mn-ea"/>
                <a:cs typeface="+mn-cs"/>
              </a:rPr>
              <a:t>3. Controller if required talk to model for data.</a:t>
            </a:r>
          </a:p>
          <a:p>
            <a:pPr lvl="1"/>
            <a:r>
              <a:rPr lang="en-US" sz="1200" b="0" i="0" kern="1200" dirty="0" smtClean="0">
                <a:solidFill>
                  <a:schemeClr val="tx1"/>
                </a:solidFill>
                <a:effectLst/>
                <a:latin typeface="+mn-lt"/>
                <a:ea typeface="+mn-ea"/>
                <a:cs typeface="+mn-cs"/>
              </a:rPr>
              <a:t>4. Model operates on database (or on some other data sources) and return data (in form of business objects) to controller.</a:t>
            </a:r>
          </a:p>
          <a:p>
            <a:pPr lvl="1"/>
            <a:r>
              <a:rPr lang="en-US" sz="1200" b="0" i="0" kern="1200" dirty="0" smtClean="0">
                <a:solidFill>
                  <a:schemeClr val="tx1"/>
                </a:solidFill>
                <a:effectLst/>
                <a:latin typeface="+mn-lt"/>
                <a:ea typeface="+mn-ea"/>
                <a:cs typeface="+mn-cs"/>
              </a:rPr>
              <a:t>5. Controller chooses the appropriate view (like say Customer view which will may contain some html tables, drop downs, textboxes…).</a:t>
            </a:r>
          </a:p>
          <a:p>
            <a:pPr lvl="1"/>
            <a:r>
              <a:rPr lang="en-US" sz="1200" b="0" i="0" kern="1200" dirty="0" smtClean="0">
                <a:solidFill>
                  <a:schemeClr val="tx1"/>
                </a:solidFill>
                <a:effectLst/>
                <a:latin typeface="+mn-lt"/>
                <a:ea typeface="+mn-ea"/>
                <a:cs typeface="+mn-cs"/>
              </a:rPr>
              <a:t>6. Controller passes the data (model data retrieved in step 4) to chosen view(in step 5), where data will be populated as per convenience.</a:t>
            </a:r>
          </a:p>
          <a:p>
            <a:pPr lvl="1"/>
            <a:r>
              <a:rPr lang="en-US" sz="1200" b="0" i="0" kern="1200" dirty="0" smtClean="0">
                <a:solidFill>
                  <a:schemeClr val="tx1"/>
                </a:solidFill>
                <a:effectLst/>
                <a:latin typeface="+mn-lt"/>
                <a:ea typeface="+mn-ea"/>
                <a:cs typeface="+mn-cs"/>
              </a:rPr>
              <a:t>7. Controller sends back view to the user.</a:t>
            </a:r>
          </a:p>
          <a:p>
            <a:pPr lvl="1"/>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This was for get request, same happens for post. Only instead of putting URL in the browser user will do some action on already requested page and flow start with the controller. Actions like clicking button, changing drop down value etc.</a:t>
            </a:r>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5</a:t>
            </a:fld>
            <a:endParaRPr lang="en-US" dirty="0"/>
          </a:p>
        </p:txBody>
      </p:sp>
    </p:spTree>
    <p:extLst>
      <p:ext uri="{BB962C8B-B14F-4D97-AF65-F5344CB8AC3E}">
        <p14:creationId xmlns:p14="http://schemas.microsoft.com/office/powerpoint/2010/main" val="4003514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6</a:t>
            </a:fld>
            <a:endParaRPr lang="en-US" dirty="0"/>
          </a:p>
        </p:txBody>
      </p:sp>
    </p:spTree>
    <p:extLst>
      <p:ext uri="{BB962C8B-B14F-4D97-AF65-F5344CB8AC3E}">
        <p14:creationId xmlns:p14="http://schemas.microsoft.com/office/powerpoint/2010/main" val="2968967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s-ES" dirty="0" smtClean="0"/>
              <a:t>Los directorios</a:t>
            </a:r>
            <a:r>
              <a:rPr lang="es-ES" baseline="0" dirty="0" smtClean="0"/>
              <a:t> en un proyecto MVC son iguales para todas las aplicaciones. El </a:t>
            </a:r>
            <a:r>
              <a:rPr lang="es-ES" baseline="0" dirty="0" err="1" smtClean="0"/>
              <a:t>framework</a:t>
            </a:r>
            <a:r>
              <a:rPr lang="es-ES" baseline="0" dirty="0" smtClean="0"/>
              <a:t> MVC se basa en una </a:t>
            </a:r>
            <a:r>
              <a:rPr lang="es-ES" baseline="0" dirty="0" err="1" smtClean="0"/>
              <a:t>convencion</a:t>
            </a:r>
            <a:r>
              <a:rPr lang="es-ES" baseline="0" dirty="0" smtClean="0"/>
              <a:t> de nombres definida por defecto. Controladores se guardan en el directorio </a:t>
            </a:r>
            <a:r>
              <a:rPr lang="es-ES" baseline="0" dirty="0" err="1" smtClean="0"/>
              <a:t>Controllers</a:t>
            </a:r>
            <a:r>
              <a:rPr lang="es-ES" baseline="0" dirty="0" smtClean="0"/>
              <a:t>, Vistas en el directorio </a:t>
            </a:r>
            <a:r>
              <a:rPr lang="es-ES" baseline="0" dirty="0" err="1" smtClean="0"/>
              <a:t>Views</a:t>
            </a:r>
            <a:r>
              <a:rPr lang="es-ES" baseline="0" dirty="0" smtClean="0"/>
              <a:t> y Modelos en el directorio </a:t>
            </a:r>
            <a:r>
              <a:rPr lang="es-ES" baseline="0" dirty="0" err="1" smtClean="0"/>
              <a:t>Models</a:t>
            </a:r>
            <a:r>
              <a:rPr lang="es-ES" baseline="0" dirty="0" smtClean="0"/>
              <a:t>. </a:t>
            </a:r>
          </a:p>
          <a:p>
            <a:r>
              <a:rPr lang="es-ES" baseline="0" dirty="0" smtClean="0"/>
              <a:t>Dicha convención reduce la cantidad de código y facilita el entendimiento a los desarrolladores.</a:t>
            </a:r>
            <a:endParaRPr lang="es-ES" dirty="0" smtClean="0"/>
          </a:p>
          <a:p>
            <a:endParaRPr lang="es-ES" dirty="0" smtClean="0"/>
          </a:p>
          <a:p>
            <a:r>
              <a:rPr lang="es-ES" dirty="0" smtClean="0"/>
              <a:t>Las</a:t>
            </a:r>
            <a:r>
              <a:rPr lang="es-ES" baseline="0" dirty="0" smtClean="0"/>
              <a:t> aplicaciones ASP.NET MVC, por defecto, se basan en gran medida a “convenciones”. Esto permite que los desarrolladores eviten tener que configurar y especificar cosas que pueden ser inferidas en base a “convenciones”.</a:t>
            </a:r>
          </a:p>
          <a:p>
            <a:endParaRPr lang="es-ES" baseline="0" dirty="0" smtClean="0"/>
          </a:p>
          <a:p>
            <a:r>
              <a:rPr lang="es-ES" baseline="0" dirty="0" smtClean="0"/>
              <a:t>Por ejemplo, MVC usa una estructura de directorios con nombres basada en una convención durante la resolución de </a:t>
            </a:r>
            <a:r>
              <a:rPr lang="es-ES" baseline="0" dirty="0" err="1" smtClean="0"/>
              <a:t>templates</a:t>
            </a:r>
            <a:r>
              <a:rPr lang="es-ES" baseline="0" dirty="0" smtClean="0"/>
              <a:t> para vistas (</a:t>
            </a:r>
            <a:r>
              <a:rPr lang="es-ES" baseline="0" dirty="0" err="1" smtClean="0"/>
              <a:t>Views</a:t>
            </a:r>
            <a:r>
              <a:rPr lang="es-ES" baseline="0" dirty="0" smtClean="0"/>
              <a:t>), y esta convención le permite omitir la ruta de ubicación al hacer referencia a vistas (</a:t>
            </a:r>
            <a:r>
              <a:rPr lang="es-ES" baseline="0" dirty="0" err="1" smtClean="0"/>
              <a:t>Views</a:t>
            </a:r>
            <a:r>
              <a:rPr lang="es-ES" baseline="0" dirty="0" smtClean="0"/>
              <a:t>) desde una clase Controlador (</a:t>
            </a:r>
            <a:r>
              <a:rPr lang="es-ES" baseline="0" dirty="0" err="1" smtClean="0"/>
              <a:t>Controller</a:t>
            </a:r>
            <a:r>
              <a:rPr lang="es-ES" baseline="0" dirty="0" smtClean="0"/>
              <a:t>). Por defecto, ASP.NET MVC busca el archivo correspondiente al </a:t>
            </a:r>
            <a:r>
              <a:rPr lang="es-ES" baseline="0" dirty="0" err="1" smtClean="0"/>
              <a:t>template</a:t>
            </a:r>
            <a:r>
              <a:rPr lang="es-ES" baseline="0" dirty="0" smtClean="0"/>
              <a:t> de una Vista (View) dentro del directorio \</a:t>
            </a:r>
            <a:r>
              <a:rPr lang="es-ES" baseline="0" dirty="0" err="1" smtClean="0"/>
              <a:t>Views</a:t>
            </a:r>
            <a:r>
              <a:rPr lang="es-ES" baseline="0" dirty="0" smtClean="0"/>
              <a:t>\[</a:t>
            </a:r>
            <a:r>
              <a:rPr lang="es-ES" baseline="0" dirty="0" err="1" smtClean="0"/>
              <a:t>ControllerName</a:t>
            </a:r>
            <a:r>
              <a:rPr lang="es-ES" baseline="0" dirty="0" smtClean="0"/>
              <a:t>]</a:t>
            </a:r>
          </a:p>
          <a:p>
            <a:endParaRPr lang="es-ES" baseline="0" dirty="0" smtClean="0"/>
          </a:p>
          <a:p>
            <a:r>
              <a:rPr lang="es-ES" dirty="0" smtClean="0"/>
              <a:t>MVC fue diseñado en torno a valores</a:t>
            </a:r>
            <a:r>
              <a:rPr lang="es-ES" baseline="0" dirty="0" smtClean="0"/>
              <a:t> predeterminados en base a “convenciones” que pueden ser sustituidos cuando sea necesario. Este concepto se conoce comúnmente como "convención sobre configuración".</a:t>
            </a:r>
          </a:p>
          <a:p>
            <a:endParaRPr lang="es-ES" baseline="0" dirty="0" smtClean="0"/>
          </a:p>
        </p:txBody>
      </p:sp>
      <p:sp>
        <p:nvSpPr>
          <p:cNvPr id="4" name="Slide Number Placeholder 3"/>
          <p:cNvSpPr>
            <a:spLocks noGrp="1"/>
          </p:cNvSpPr>
          <p:nvPr>
            <p:ph type="sldNum" sz="quarter" idx="10"/>
          </p:nvPr>
        </p:nvSpPr>
        <p:spPr/>
        <p:txBody>
          <a:bodyPr/>
          <a:lstStyle/>
          <a:p>
            <a:fld id="{F0A8A4F1-DD7B-454E-8BE0-478365ADD5A0}" type="slidenum">
              <a:rPr lang="en-US" smtClean="0"/>
              <a:t>7</a:t>
            </a:fld>
            <a:endParaRPr lang="en-US" dirty="0"/>
          </a:p>
        </p:txBody>
      </p:sp>
    </p:spTree>
    <p:extLst>
      <p:ext uri="{BB962C8B-B14F-4D97-AF65-F5344CB8AC3E}">
        <p14:creationId xmlns:p14="http://schemas.microsoft.com/office/powerpoint/2010/main" val="1049492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baseline="0" dirty="0" smtClean="0"/>
              <a:t>Por convención:</a:t>
            </a:r>
          </a:p>
          <a:p>
            <a:r>
              <a:rPr lang="es-ES" baseline="0" dirty="0" smtClean="0"/>
              <a:t>	El motor MVC sabe que los directorios “</a:t>
            </a:r>
            <a:r>
              <a:rPr lang="es-ES" baseline="0" dirty="0" err="1" smtClean="0"/>
              <a:t>Controllers</a:t>
            </a:r>
            <a:r>
              <a:rPr lang="es-ES" baseline="0" dirty="0" smtClean="0"/>
              <a:t>”, “</a:t>
            </a:r>
            <a:r>
              <a:rPr lang="es-ES" baseline="0" dirty="0" err="1" smtClean="0"/>
              <a:t>Views</a:t>
            </a:r>
            <a:r>
              <a:rPr lang="es-ES" baseline="0" dirty="0" smtClean="0"/>
              <a:t>” y “</a:t>
            </a:r>
            <a:r>
              <a:rPr lang="es-ES" baseline="0" dirty="0" err="1" smtClean="0"/>
              <a:t>Models</a:t>
            </a:r>
            <a:r>
              <a:rPr lang="es-ES" baseline="0" dirty="0" smtClean="0"/>
              <a:t>” </a:t>
            </a:r>
            <a:r>
              <a:rPr lang="es-ES" baseline="0" dirty="0" err="1" smtClean="0"/>
              <a:t>estan</a:t>
            </a:r>
            <a:r>
              <a:rPr lang="es-ES" baseline="0" dirty="0" smtClean="0"/>
              <a:t> en esa ubicación dentro de la estructura del proyecto. Esto evita que el desarrollador tenga que modificar el </a:t>
            </a:r>
            <a:r>
              <a:rPr lang="es-ES" baseline="0" dirty="0" err="1" smtClean="0"/>
              <a:t>web.config</a:t>
            </a:r>
            <a:r>
              <a:rPr lang="es-ES" baseline="0" dirty="0" smtClean="0"/>
              <a:t>.</a:t>
            </a:r>
          </a:p>
          <a:p>
            <a:r>
              <a:rPr lang="es-ES" baseline="0" dirty="0" smtClean="0"/>
              <a:t>	Cada clase </a:t>
            </a:r>
            <a:r>
              <a:rPr lang="es-ES" baseline="0" dirty="0" err="1" smtClean="0"/>
              <a:t>Controller</a:t>
            </a:r>
            <a:r>
              <a:rPr lang="es-ES" baseline="0" dirty="0" smtClean="0"/>
              <a:t> finaliza con la palabra “</a:t>
            </a:r>
            <a:r>
              <a:rPr lang="es-ES" baseline="0" dirty="0" err="1" smtClean="0"/>
              <a:t>Controller</a:t>
            </a:r>
            <a:r>
              <a:rPr lang="es-ES" baseline="0" dirty="0" smtClean="0"/>
              <a:t>” y se encuentra dentro de la carpeta “</a:t>
            </a:r>
            <a:r>
              <a:rPr lang="es-ES" baseline="0" dirty="0" err="1" smtClean="0"/>
              <a:t>Controllers</a:t>
            </a:r>
            <a:r>
              <a:rPr lang="es-ES" baseline="0" dirty="0" smtClean="0"/>
              <a:t>”.</a:t>
            </a:r>
          </a:p>
          <a:p>
            <a:r>
              <a:rPr lang="es-ES" baseline="0" dirty="0" smtClean="0"/>
              <a:t>	Hay solo una carpeta llamada “</a:t>
            </a:r>
            <a:r>
              <a:rPr lang="es-ES" baseline="0" dirty="0" err="1" smtClean="0"/>
              <a:t>Views</a:t>
            </a:r>
            <a:r>
              <a:rPr lang="es-ES" baseline="0" dirty="0" smtClean="0"/>
              <a:t>” para todas las Vistas de la aplicación.</a:t>
            </a:r>
          </a:p>
          <a:p>
            <a:r>
              <a:rPr lang="es-ES" baseline="0" dirty="0" smtClean="0"/>
              <a:t>	Las Vistas (</a:t>
            </a:r>
            <a:r>
              <a:rPr lang="es-ES" baseline="0" dirty="0" err="1" smtClean="0"/>
              <a:t>Views</a:t>
            </a:r>
            <a:r>
              <a:rPr lang="es-ES" baseline="0" dirty="0" smtClean="0"/>
              <a:t>) utilizadas por los Controladores (</a:t>
            </a:r>
            <a:r>
              <a:rPr lang="es-ES" baseline="0" dirty="0" err="1" smtClean="0"/>
              <a:t>Controllers</a:t>
            </a:r>
            <a:r>
              <a:rPr lang="es-ES" baseline="0" dirty="0" smtClean="0"/>
              <a:t>) residen en un subdirectorio del directorio “</a:t>
            </a:r>
            <a:r>
              <a:rPr lang="es-ES" baseline="0" dirty="0" err="1" smtClean="0"/>
              <a:t>Views</a:t>
            </a:r>
            <a:r>
              <a:rPr lang="es-ES" baseline="0" dirty="0" smtClean="0"/>
              <a:t>” y son nombradas acorde al nombre del Controlador sin tener en cuenta el sufijo “</a:t>
            </a:r>
            <a:r>
              <a:rPr lang="es-ES" baseline="0" dirty="0" err="1" smtClean="0"/>
              <a:t>Controller</a:t>
            </a:r>
            <a:r>
              <a:rPr lang="es-ES" baseline="0" dirty="0" smtClean="0"/>
              <a:t>”. Por ejemplo, las Vistas para el Controlador </a:t>
            </a:r>
            <a:r>
              <a:rPr lang="es-ES" baseline="0" dirty="0" err="1" smtClean="0"/>
              <a:t>ProductController</a:t>
            </a:r>
            <a:r>
              <a:rPr lang="es-ES" baseline="0" dirty="0" smtClean="0"/>
              <a:t> </a:t>
            </a:r>
            <a:r>
              <a:rPr lang="es-ES" baseline="0" dirty="0" err="1" smtClean="0"/>
              <a:t>residira</a:t>
            </a:r>
            <a:r>
              <a:rPr lang="es-ES" baseline="0" dirty="0" smtClean="0"/>
              <a:t> en el directorio “/</a:t>
            </a:r>
            <a:r>
              <a:rPr lang="es-ES" baseline="0" dirty="0" err="1" smtClean="0"/>
              <a:t>Views</a:t>
            </a:r>
            <a:r>
              <a:rPr lang="es-ES" baseline="0" dirty="0" smtClean="0"/>
              <a:t>/</a:t>
            </a:r>
            <a:r>
              <a:rPr lang="es-ES" baseline="0" dirty="0" err="1" smtClean="0"/>
              <a:t>Product</a:t>
            </a:r>
            <a:r>
              <a:rPr lang="es-ES" baseline="0" dirty="0" smtClean="0"/>
              <a:t>”.</a:t>
            </a:r>
          </a:p>
          <a:p>
            <a:endParaRPr lang="es-ES" baseline="0" dirty="0" smtClean="0"/>
          </a:p>
          <a:p>
            <a:endParaRPr lang="es-ES" dirty="0" smtClean="0"/>
          </a:p>
          <a:p>
            <a:endParaRPr lang="es-ES" dirty="0"/>
          </a:p>
        </p:txBody>
      </p:sp>
      <p:sp>
        <p:nvSpPr>
          <p:cNvPr id="4" name="Slide Number Placeholder 3"/>
          <p:cNvSpPr>
            <a:spLocks noGrp="1"/>
          </p:cNvSpPr>
          <p:nvPr>
            <p:ph type="sldNum" sz="quarter" idx="10"/>
          </p:nvPr>
        </p:nvSpPr>
        <p:spPr/>
        <p:txBody>
          <a:bodyPr/>
          <a:lstStyle/>
          <a:p>
            <a:fld id="{F0A8A4F1-DD7B-454E-8BE0-478365ADD5A0}" type="slidenum">
              <a:rPr lang="en-US" smtClean="0"/>
              <a:t>8</a:t>
            </a:fld>
            <a:endParaRPr lang="en-US" dirty="0"/>
          </a:p>
        </p:txBody>
      </p:sp>
    </p:spTree>
    <p:extLst>
      <p:ext uri="{BB962C8B-B14F-4D97-AF65-F5344CB8AC3E}">
        <p14:creationId xmlns:p14="http://schemas.microsoft.com/office/powerpoint/2010/main" val="3011738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smtClean="0"/>
              <a:t>Crear proyecto MVC</a:t>
            </a:r>
            <a:r>
              <a:rPr lang="es-ES" baseline="0" dirty="0" smtClean="0"/>
              <a:t> de cero.</a:t>
            </a:r>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9</a:t>
            </a:fld>
            <a:endParaRPr lang="en-US" dirty="0"/>
          </a:p>
        </p:txBody>
      </p:sp>
    </p:spTree>
    <p:extLst>
      <p:ext uri="{BB962C8B-B14F-4D97-AF65-F5344CB8AC3E}">
        <p14:creationId xmlns:p14="http://schemas.microsoft.com/office/powerpoint/2010/main" val="242460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b="1" i="0" kern="1200" dirty="0" smtClean="0">
                <a:solidFill>
                  <a:schemeClr val="tx1"/>
                </a:solidFill>
                <a:effectLst/>
                <a:latin typeface="+mn-lt"/>
                <a:ea typeface="+mn-ea"/>
                <a:cs typeface="+mn-cs"/>
              </a:rPr>
              <a:t>Browser Request (Step 1)</a:t>
            </a:r>
          </a:p>
          <a:p>
            <a:r>
              <a:rPr lang="en-US" sz="1200" b="0" i="0" kern="1200" dirty="0" smtClean="0">
                <a:solidFill>
                  <a:schemeClr val="tx1"/>
                </a:solidFill>
                <a:effectLst/>
                <a:latin typeface="+mn-lt"/>
                <a:ea typeface="+mn-ea"/>
                <a:cs typeface="+mn-cs"/>
              </a:rPr>
              <a:t>Browser request happens with a specific URL. Let’s assume that the user enters URL like: [xyz.com]/home/index/</a:t>
            </a:r>
          </a:p>
          <a:p>
            <a:endParaRPr lang="en-US" b="1" dirty="0" smtClean="0"/>
          </a:p>
          <a:p>
            <a:r>
              <a:rPr lang="en-US" sz="1200" b="1" i="0" kern="1200" dirty="0" smtClean="0">
                <a:solidFill>
                  <a:schemeClr val="tx1"/>
                </a:solidFill>
                <a:effectLst/>
                <a:latin typeface="+mn-lt"/>
                <a:ea typeface="+mn-ea"/>
                <a:cs typeface="+mn-cs"/>
              </a:rPr>
              <a:t>Job of </a:t>
            </a:r>
            <a:r>
              <a:rPr lang="en-US" sz="1200" b="1" i="0" kern="1200" dirty="0" err="1" smtClean="0">
                <a:solidFill>
                  <a:schemeClr val="tx1"/>
                </a:solidFill>
                <a:effectLst/>
                <a:latin typeface="+mn-lt"/>
                <a:ea typeface="+mn-ea"/>
                <a:cs typeface="+mn-cs"/>
              </a:rPr>
              <a:t>Global.asax</a:t>
            </a:r>
            <a:r>
              <a:rPr lang="en-US" sz="1200" b="1" i="0" kern="1200" dirty="0" smtClean="0">
                <a:solidFill>
                  <a:schemeClr val="tx1"/>
                </a:solidFill>
                <a:effectLst/>
                <a:latin typeface="+mn-lt"/>
                <a:ea typeface="+mn-ea"/>
                <a:cs typeface="+mn-cs"/>
              </a:rPr>
              <a:t> – MVC routing (Step 2)</a:t>
            </a:r>
          </a:p>
          <a:p>
            <a:r>
              <a:rPr lang="en-US" sz="1200" b="0" i="0" kern="1200" dirty="0" smtClean="0">
                <a:solidFill>
                  <a:schemeClr val="tx1"/>
                </a:solidFill>
                <a:effectLst/>
                <a:latin typeface="+mn-lt"/>
                <a:ea typeface="+mn-ea"/>
                <a:cs typeface="+mn-cs"/>
              </a:rPr>
              <a:t>The specified URL will first get parsed via </a:t>
            </a:r>
            <a:r>
              <a:rPr lang="en-US" sz="1200" b="0" i="0" kern="1200" dirty="0" err="1" smtClean="0">
                <a:solidFill>
                  <a:schemeClr val="tx1"/>
                </a:solidFill>
                <a:effectLst/>
                <a:latin typeface="+mn-lt"/>
                <a:ea typeface="+mn-ea"/>
                <a:cs typeface="+mn-cs"/>
              </a:rPr>
              <a:t>application_start</a:t>
            </a:r>
            <a:r>
              <a:rPr lang="en-US" sz="1200" b="0" i="0" kern="1200" dirty="0" smtClean="0">
                <a:solidFill>
                  <a:schemeClr val="tx1"/>
                </a:solidFill>
                <a:effectLst/>
                <a:latin typeface="+mn-lt"/>
                <a:ea typeface="+mn-ea"/>
                <a:cs typeface="+mn-cs"/>
              </a:rPr>
              <a:t>() method inside </a:t>
            </a:r>
            <a:r>
              <a:rPr lang="en-US" sz="1200" b="0" i="1" kern="1200" dirty="0" err="1" smtClean="0">
                <a:solidFill>
                  <a:schemeClr val="tx1"/>
                </a:solidFill>
                <a:effectLst/>
                <a:latin typeface="+mn-lt"/>
                <a:ea typeface="+mn-ea"/>
                <a:cs typeface="+mn-cs"/>
              </a:rPr>
              <a:t>Global.asax</a:t>
            </a:r>
            <a:r>
              <a:rPr lang="en-US" sz="1200" b="0" i="0" kern="1200" dirty="0" smtClean="0">
                <a:solidFill>
                  <a:schemeClr val="tx1"/>
                </a:solidFill>
                <a:effectLst/>
                <a:latin typeface="+mn-lt"/>
                <a:ea typeface="+mn-ea"/>
                <a:cs typeface="+mn-cs"/>
              </a:rPr>
              <a:t> file. From the requested URL, it will parse the </a:t>
            </a:r>
            <a:r>
              <a:rPr lang="en-US" sz="1200" b="1" i="0" kern="1200" dirty="0" smtClean="0">
                <a:solidFill>
                  <a:schemeClr val="tx1"/>
                </a:solidFill>
                <a:effectLst/>
                <a:latin typeface="+mn-lt"/>
                <a:ea typeface="+mn-ea"/>
                <a:cs typeface="+mn-cs"/>
              </a:rPr>
              <a:t>Controller, Action and ID.</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So for [xyz.com]/home/index/:</a:t>
            </a:r>
          </a:p>
          <a:p>
            <a:r>
              <a:rPr lang="en-US" sz="1200" b="0" i="0" kern="1200" dirty="0" smtClean="0">
                <a:solidFill>
                  <a:schemeClr val="tx1"/>
                </a:solidFill>
                <a:effectLst/>
                <a:latin typeface="+mn-lt"/>
                <a:ea typeface="+mn-ea"/>
                <a:cs typeface="+mn-cs"/>
              </a:rPr>
              <a:t>Controller = home</a:t>
            </a:r>
          </a:p>
          <a:p>
            <a:r>
              <a:rPr lang="en-US" sz="1200" b="0" i="0" kern="1200" dirty="0" smtClean="0">
                <a:solidFill>
                  <a:schemeClr val="tx1"/>
                </a:solidFill>
                <a:effectLst/>
                <a:latin typeface="+mn-lt"/>
                <a:ea typeface="+mn-ea"/>
                <a:cs typeface="+mn-cs"/>
              </a:rPr>
              <a:t>Action = index()</a:t>
            </a:r>
          </a:p>
          <a:p>
            <a:r>
              <a:rPr lang="en-US" sz="1200" b="0" i="0" kern="1200" dirty="0" smtClean="0">
                <a:solidFill>
                  <a:schemeClr val="tx1"/>
                </a:solidFill>
                <a:effectLst/>
                <a:latin typeface="+mn-lt"/>
                <a:ea typeface="+mn-ea"/>
                <a:cs typeface="+mn-cs"/>
              </a:rPr>
              <a:t>ID = empty — we have not specified ID in [xyz.com]/home/index/, so it will consider as empty string</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Controller and Action methods (Step 3)</a:t>
            </a:r>
          </a:p>
          <a:p>
            <a:r>
              <a:rPr lang="en-US" sz="1200" b="0" i="0" kern="1200" dirty="0" smtClean="0">
                <a:solidFill>
                  <a:schemeClr val="tx1"/>
                </a:solidFill>
                <a:effectLst/>
                <a:latin typeface="+mn-lt"/>
                <a:ea typeface="+mn-ea"/>
                <a:cs typeface="+mn-cs"/>
              </a:rPr>
              <a:t>MVC now finds the </a:t>
            </a:r>
            <a:r>
              <a:rPr lang="en-US" sz="1200" b="1" i="0" kern="1200" dirty="0" smtClean="0">
                <a:solidFill>
                  <a:schemeClr val="tx1"/>
                </a:solidFill>
                <a:effectLst/>
                <a:latin typeface="+mn-lt"/>
                <a:ea typeface="+mn-ea"/>
                <a:cs typeface="+mn-cs"/>
              </a:rPr>
              <a:t>home controller</a:t>
            </a:r>
            <a:r>
              <a:rPr lang="en-US" sz="1200" b="0" i="0" kern="1200" dirty="0" smtClean="0">
                <a:solidFill>
                  <a:schemeClr val="tx1"/>
                </a:solidFill>
                <a:effectLst/>
                <a:latin typeface="+mn-lt"/>
                <a:ea typeface="+mn-ea"/>
                <a:cs typeface="+mn-cs"/>
              </a:rPr>
              <a:t> class in controller directory. A controller class contains different action methods,</a:t>
            </a:r>
          </a:p>
          <a:p>
            <a:r>
              <a:rPr lang="en-US" sz="1200" b="0" i="0" kern="1200" dirty="0" smtClean="0">
                <a:solidFill>
                  <a:schemeClr val="tx1"/>
                </a:solidFill>
                <a:effectLst/>
                <a:latin typeface="+mn-lt"/>
                <a:ea typeface="+mn-ea"/>
                <a:cs typeface="+mn-cs"/>
              </a:rPr>
              <a:t>There can be more than one action method, but MVC will only invoke the action method which has been parsed from the URL, its index() in our case.</a:t>
            </a:r>
          </a:p>
          <a:p>
            <a:r>
              <a:rPr lang="en-US" sz="1200" b="0" i="0" kern="1200" dirty="0" smtClean="0">
                <a:solidFill>
                  <a:schemeClr val="tx1"/>
                </a:solidFill>
                <a:effectLst/>
                <a:latin typeface="+mn-lt"/>
                <a:ea typeface="+mn-ea"/>
                <a:cs typeface="+mn-cs"/>
              </a:rPr>
              <a:t>So something like: </a:t>
            </a:r>
            <a:r>
              <a:rPr lang="en-US" sz="1200" b="0" i="0" kern="1200" dirty="0" err="1" smtClean="0">
                <a:solidFill>
                  <a:schemeClr val="tx1"/>
                </a:solidFill>
                <a:effectLst/>
                <a:latin typeface="+mn-lt"/>
                <a:ea typeface="+mn-ea"/>
                <a:cs typeface="+mn-cs"/>
              </a:rPr>
              <a:t>homeController.index</a:t>
            </a:r>
            <a:r>
              <a:rPr lang="en-US" sz="1200" b="0" i="0" kern="1200" dirty="0" smtClean="0">
                <a:solidFill>
                  <a:schemeClr val="tx1"/>
                </a:solidFill>
                <a:effectLst/>
                <a:latin typeface="+mn-lt"/>
                <a:ea typeface="+mn-ea"/>
                <a:cs typeface="+mn-cs"/>
              </a:rPr>
              <a:t>() will happen inside MVC controller class.</a:t>
            </a:r>
          </a:p>
          <a:p>
            <a:r>
              <a:rPr lang="en-US" sz="1200" b="0" i="0" kern="1200" dirty="0" smtClean="0">
                <a:solidFill>
                  <a:schemeClr val="tx1"/>
                </a:solidFill>
                <a:effectLst/>
                <a:latin typeface="+mn-lt"/>
                <a:ea typeface="+mn-ea"/>
                <a:cs typeface="+mn-cs"/>
              </a:rPr>
              <a:t>Invoking action method can return plain text string OR rendered HTML by using view.</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Call to View (Step 4)</a:t>
            </a:r>
          </a:p>
          <a:p>
            <a:r>
              <a:rPr lang="en-US" sz="1200" b="0" i="0" kern="1200" dirty="0" smtClean="0">
                <a:solidFill>
                  <a:schemeClr val="tx1"/>
                </a:solidFill>
                <a:effectLst/>
                <a:latin typeface="+mn-lt"/>
                <a:ea typeface="+mn-ea"/>
                <a:cs typeface="+mn-cs"/>
              </a:rPr>
              <a:t>Invoking view will return view(). A call to view will access the particular ASPX page inside the view directory and generate the rendered HTML from the ASPX and will respond back to the browser.</a:t>
            </a:r>
          </a:p>
          <a:p>
            <a:r>
              <a:rPr lang="en-US" sz="1200" b="0" i="0" kern="1200" dirty="0" smtClean="0">
                <a:solidFill>
                  <a:schemeClr val="tx1"/>
                </a:solidFill>
                <a:effectLst/>
                <a:latin typeface="+mn-lt"/>
                <a:ea typeface="+mn-ea"/>
                <a:cs typeface="+mn-cs"/>
              </a:rPr>
              <a:t>In our case, controller was </a:t>
            </a:r>
            <a:r>
              <a:rPr lang="en-US" sz="1200" b="1" i="0" kern="1200" dirty="0" smtClean="0">
                <a:solidFill>
                  <a:schemeClr val="tx1"/>
                </a:solidFill>
                <a:effectLst/>
                <a:latin typeface="+mn-lt"/>
                <a:ea typeface="+mn-ea"/>
                <a:cs typeface="+mn-cs"/>
              </a:rPr>
              <a:t>home </a:t>
            </a:r>
            <a:r>
              <a:rPr lang="en-US" sz="1200" b="0" i="0" kern="1200" dirty="0" smtClean="0">
                <a:solidFill>
                  <a:schemeClr val="tx1"/>
                </a:solidFill>
                <a:effectLst/>
                <a:latin typeface="+mn-lt"/>
                <a:ea typeface="+mn-ea"/>
                <a:cs typeface="+mn-cs"/>
              </a:rPr>
              <a:t>and action was index(). So calling view() will return a rendered HTML from the ASPX page located at </a:t>
            </a:r>
            <a:r>
              <a:rPr lang="en-US" sz="1200" b="0" i="1" kern="1200" dirty="0" smtClean="0">
                <a:solidFill>
                  <a:schemeClr val="tx1"/>
                </a:solidFill>
                <a:effectLst/>
                <a:latin typeface="+mn-lt"/>
                <a:ea typeface="+mn-ea"/>
                <a:cs typeface="+mn-cs"/>
              </a:rPr>
              <a:t>/views/home/index.aspx</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This is it, the whole process ends here. So this is how MVC architecture works.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10</a:t>
            </a:fld>
            <a:endParaRPr lang="en-US"/>
          </a:p>
        </p:txBody>
      </p:sp>
    </p:spTree>
    <p:extLst>
      <p:ext uri="{BB962C8B-B14F-4D97-AF65-F5344CB8AC3E}">
        <p14:creationId xmlns:p14="http://schemas.microsoft.com/office/powerpoint/2010/main" val="1265330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smtClean="0"/>
              <a:t>Modificar</a:t>
            </a:r>
            <a:r>
              <a:rPr lang="es-ES" baseline="0" dirty="0" smtClean="0"/>
              <a:t> vista </a:t>
            </a:r>
            <a:r>
              <a:rPr lang="es-ES" baseline="0" dirty="0" err="1" smtClean="0"/>
              <a:t>Index</a:t>
            </a:r>
            <a:r>
              <a:rPr lang="es-ES" baseline="0" dirty="0" smtClean="0"/>
              <a:t> de la home.</a:t>
            </a:r>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11</a:t>
            </a:fld>
            <a:endParaRPr lang="en-US" dirty="0"/>
          </a:p>
        </p:txBody>
      </p:sp>
    </p:spTree>
    <p:extLst>
      <p:ext uri="{BB962C8B-B14F-4D97-AF65-F5344CB8AC3E}">
        <p14:creationId xmlns:p14="http://schemas.microsoft.com/office/powerpoint/2010/main" val="2177873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hlinkClick r:id="rId3"/>
              </a:rPr>
              <a:t>http://msdn.microsoft.com/en-us/library/system.web.mvc.actionresult(v=vs.108).aspx</a:t>
            </a:r>
            <a:endParaRPr lang="en-US" dirty="0" smtClean="0"/>
          </a:p>
          <a:p>
            <a:endParaRPr lang="es-AR" dirty="0" smtClean="0"/>
          </a:p>
          <a:p>
            <a:r>
              <a:rPr lang="en-US" sz="1200" b="0" i="0" u="none" strike="noStrike" kern="1200" baseline="0" dirty="0" smtClean="0">
                <a:solidFill>
                  <a:schemeClr val="tx1"/>
                </a:solidFill>
                <a:latin typeface="+mn-lt"/>
                <a:ea typeface="+mn-ea"/>
                <a:cs typeface="+mn-cs"/>
              </a:rPr>
              <a:t>The MVC Framework uses action results to separate </a:t>
            </a:r>
            <a:r>
              <a:rPr lang="en-US" sz="1200" b="0" i="1" u="none" strike="noStrike" kern="1200" baseline="0" dirty="0" smtClean="0">
                <a:solidFill>
                  <a:schemeClr val="tx1"/>
                </a:solidFill>
                <a:latin typeface="+mn-lt"/>
                <a:ea typeface="+mn-ea"/>
                <a:cs typeface="+mn-cs"/>
              </a:rPr>
              <a:t>stating our intentions </a:t>
            </a:r>
            <a:r>
              <a:rPr lang="en-US" sz="1200" b="0" i="0" u="none" strike="noStrike" kern="1200" baseline="0" dirty="0" smtClean="0">
                <a:solidFill>
                  <a:schemeClr val="tx1"/>
                </a:solidFill>
                <a:latin typeface="+mn-lt"/>
                <a:ea typeface="+mn-ea"/>
                <a:cs typeface="+mn-cs"/>
              </a:rPr>
              <a:t>from </a:t>
            </a:r>
            <a:r>
              <a:rPr lang="en-US" sz="1200" b="0" i="1" u="none" strike="noStrike" kern="1200" baseline="0" dirty="0" smtClean="0">
                <a:solidFill>
                  <a:schemeClr val="tx1"/>
                </a:solidFill>
                <a:latin typeface="+mn-lt"/>
                <a:ea typeface="+mn-ea"/>
                <a:cs typeface="+mn-cs"/>
              </a:rPr>
              <a:t>executing our intentions</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It works very simply.</a:t>
            </a:r>
          </a:p>
          <a:p>
            <a:r>
              <a:rPr lang="en-US" sz="1200" b="0" i="0" u="none" strike="noStrike" kern="1200" baseline="0" dirty="0" smtClean="0">
                <a:solidFill>
                  <a:schemeClr val="tx1"/>
                </a:solidFill>
                <a:latin typeface="+mn-lt"/>
                <a:ea typeface="+mn-ea"/>
                <a:cs typeface="+mn-cs"/>
              </a:rPr>
              <a:t>Instead of working directly with the Response object, we return an object derived from the </a:t>
            </a:r>
            <a:r>
              <a:rPr lang="en-US" sz="1200" b="0" i="0" u="none" strike="noStrike" kern="1200" baseline="0" dirty="0" err="1" smtClean="0">
                <a:solidFill>
                  <a:schemeClr val="tx1"/>
                </a:solidFill>
                <a:latin typeface="+mn-lt"/>
                <a:ea typeface="+mn-ea"/>
                <a:cs typeface="+mn-cs"/>
              </a:rPr>
              <a:t>ActionResult</a:t>
            </a:r>
            <a:r>
              <a:rPr lang="en-US" sz="1200" b="0" i="0" u="none" strike="noStrike" kern="1200" baseline="0" dirty="0" smtClean="0">
                <a:solidFill>
                  <a:schemeClr val="tx1"/>
                </a:solidFill>
                <a:latin typeface="+mn-lt"/>
                <a:ea typeface="+mn-ea"/>
                <a:cs typeface="+mn-cs"/>
              </a:rPr>
              <a:t> class that describes what we want the response from our controller to be, such as</a:t>
            </a:r>
          </a:p>
          <a:p>
            <a:r>
              <a:rPr lang="en-US" sz="1200" b="0" i="0" u="none" strike="noStrike" kern="1200" baseline="0" dirty="0" smtClean="0">
                <a:solidFill>
                  <a:schemeClr val="tx1"/>
                </a:solidFill>
                <a:latin typeface="+mn-lt"/>
                <a:ea typeface="+mn-ea"/>
                <a:cs typeface="+mn-cs"/>
              </a:rPr>
              <a:t>rendering a view or redirecting to another URL or action method.</a:t>
            </a:r>
          </a:p>
          <a:p>
            <a:endParaRPr lang="es-AR"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When the MVC Framework receives an </a:t>
            </a:r>
            <a:r>
              <a:rPr lang="en-US" sz="1200" b="0" i="0" u="none" strike="noStrike" kern="1200" baseline="0" dirty="0" err="1" smtClean="0">
                <a:solidFill>
                  <a:schemeClr val="tx1"/>
                </a:solidFill>
                <a:latin typeface="+mn-lt"/>
                <a:ea typeface="+mn-ea"/>
                <a:cs typeface="+mn-cs"/>
              </a:rPr>
              <a:t>ActionResult</a:t>
            </a:r>
            <a:r>
              <a:rPr lang="en-US" sz="1200" b="0" i="0" u="none" strike="noStrike" kern="1200" baseline="0" dirty="0" smtClean="0">
                <a:solidFill>
                  <a:schemeClr val="tx1"/>
                </a:solidFill>
                <a:latin typeface="+mn-lt"/>
                <a:ea typeface="+mn-ea"/>
                <a:cs typeface="+mn-cs"/>
              </a:rPr>
              <a:t> object from an action method, it calls the </a:t>
            </a:r>
            <a:r>
              <a:rPr lang="en-US" sz="1200" b="0" i="0" u="none" strike="noStrike" kern="1200" baseline="0" dirty="0" err="1" smtClean="0">
                <a:solidFill>
                  <a:schemeClr val="tx1"/>
                </a:solidFill>
                <a:latin typeface="+mn-lt"/>
                <a:ea typeface="+mn-ea"/>
                <a:cs typeface="+mn-cs"/>
              </a:rPr>
              <a:t>ExecuteResult</a:t>
            </a:r>
            <a:r>
              <a:rPr lang="en-US" sz="1200" b="0" i="0" u="none" strike="noStrike" kern="1200" baseline="0" dirty="0" smtClean="0">
                <a:solidFill>
                  <a:schemeClr val="tx1"/>
                </a:solidFill>
                <a:latin typeface="+mn-lt"/>
                <a:ea typeface="+mn-ea"/>
                <a:cs typeface="+mn-cs"/>
              </a:rPr>
              <a:t> method defined by that class. The action result implementation then deals with the Response object for you, generating the output that corresponds to your intention.</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12</a:t>
            </a:fld>
            <a:endParaRPr lang="en-US"/>
          </a:p>
        </p:txBody>
      </p:sp>
    </p:spTree>
    <p:extLst>
      <p:ext uri="{BB962C8B-B14F-4D97-AF65-F5344CB8AC3E}">
        <p14:creationId xmlns:p14="http://schemas.microsoft.com/office/powerpoint/2010/main" val="2999259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u="sng" kern="1200" dirty="0" smtClean="0">
                <a:solidFill>
                  <a:schemeClr val="tx1"/>
                </a:solidFill>
                <a:latin typeface="+mn-lt"/>
                <a:ea typeface="+mn-ea"/>
                <a:cs typeface="+mn-cs"/>
              </a:rPr>
              <a:t>What are Layouts?</a:t>
            </a:r>
            <a:endParaRPr lang="en-US" sz="1200" b="1"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You typically want to maintain a consistent look and feel across all of the pages within your web-site/application.  ASP.NET 2.0 introduced the concept of “master pages” which helps enable this when using .</a:t>
            </a:r>
            <a:r>
              <a:rPr lang="en-US" sz="1200" kern="1200" dirty="0" err="1" smtClean="0">
                <a:solidFill>
                  <a:schemeClr val="tx1"/>
                </a:solidFill>
                <a:latin typeface="+mn-lt"/>
                <a:ea typeface="+mn-ea"/>
                <a:cs typeface="+mn-cs"/>
              </a:rPr>
              <a:t>aspx</a:t>
            </a:r>
            <a:r>
              <a:rPr lang="en-US" sz="1200" kern="1200" dirty="0" smtClean="0">
                <a:solidFill>
                  <a:schemeClr val="tx1"/>
                </a:solidFill>
                <a:latin typeface="+mn-lt"/>
                <a:ea typeface="+mn-ea"/>
                <a:cs typeface="+mn-cs"/>
              </a:rPr>
              <a:t> based pages or templates.  Razor also supports this concept with a feature called “layouts” – which allow you to define a common site template, and then inherit its look and feel across all the views/pages on your site.</a:t>
            </a:r>
          </a:p>
          <a:p>
            <a:endParaRPr lang="en-US" dirty="0" smtClean="0"/>
          </a:p>
          <a:p>
            <a:r>
              <a:rPr lang="en-US" sz="1200" kern="1200" dirty="0" smtClean="0">
                <a:solidFill>
                  <a:schemeClr val="tx1"/>
                </a:solidFill>
                <a:latin typeface="+mn-lt"/>
                <a:ea typeface="+mn-ea"/>
                <a:cs typeface="+mn-cs"/>
              </a:rPr>
              <a:t>Razor also supports the ability to add additional "named sections” to layout templates as well.  These sections can be defined anywhere in the layout file (including within the &lt;head&gt; section of the HTML), and allow you to output dynamic content to multiple, non-contiguous, regions of the final response.</a:t>
            </a:r>
            <a:endParaRPr lang="en-US" dirty="0" smtClean="0"/>
          </a:p>
          <a:p>
            <a:endParaRPr lang="es-AR" dirty="0" smtClean="0"/>
          </a:p>
          <a:p>
            <a:endParaRPr lang="es-AR" dirty="0" smtClean="0"/>
          </a:p>
          <a:p>
            <a:r>
              <a:rPr lang="es-AR" dirty="0" smtClean="0"/>
              <a:t>http://weblogs.asp.net/scottgu/archive/2010/12/30/asp-net-mvc-3-layouts-and-sections-with-razor.aspx</a:t>
            </a:r>
          </a:p>
          <a:p>
            <a:endParaRPr lang="en-US" dirty="0" smtClean="0"/>
          </a:p>
          <a:p>
            <a:r>
              <a:rPr lang="es-AR" dirty="0" smtClean="0"/>
              <a:t>http://weblogs.asp.net/scottgu/archive/2010/10/22/asp-net-mvc-3-layouts.aspx</a:t>
            </a:r>
            <a:endParaRPr lang="es-AR" dirty="0"/>
          </a:p>
        </p:txBody>
      </p:sp>
      <p:sp>
        <p:nvSpPr>
          <p:cNvPr id="4" name="Slide Number Placeholder 3"/>
          <p:cNvSpPr>
            <a:spLocks noGrp="1"/>
          </p:cNvSpPr>
          <p:nvPr>
            <p:ph type="sldNum" sz="quarter" idx="10"/>
          </p:nvPr>
        </p:nvSpPr>
        <p:spPr/>
        <p:txBody>
          <a:bodyPr/>
          <a:lstStyle/>
          <a:p>
            <a:fld id="{298467EE-86EC-4951-9175-136C08F4E327}" type="slidenum">
              <a:rPr lang="en-US" smtClean="0"/>
              <a:t>13</a:t>
            </a:fld>
            <a:endParaRPr lang="en-US"/>
          </a:p>
        </p:txBody>
      </p:sp>
    </p:spTree>
    <p:extLst>
      <p:ext uri="{BB962C8B-B14F-4D97-AF65-F5344CB8AC3E}">
        <p14:creationId xmlns:p14="http://schemas.microsoft.com/office/powerpoint/2010/main" val="3778231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pPr fontAlgn="base"/>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no es en realidad un lenguaje de programación, sino simplemente un motor de vistas. ¿Qué significa esto? Básicamente, hay que analizar qué significan las siglas MVC: corresponden al término Modelo-Vista-Controlador, forma en que se denomina a uno de los patrones de arquitectura más populares. En MVC se pretende separar completamente la información que gestiona nuestra aplicación (el Modelo) de la forma en que se presenta (la Vista), desacoplando ambas capas mediante una capa intermedia (el Controlador) que contendrá toda la lógica para trasladar los datos a la presentación visual que deseamos realizar.ASP.NET MVC 3 respeta firmemente estos principios, hasta el punto de existir varias sintaxis con las que expresar de qué modo queremos crear nuestra vista, siendo 100% reutilizables tanto los controladores como los modelos que tengamos por debajo. De este modo han ido naciendo distintos motores de vistas, como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que nos permiten crear dichas vistas de la forma en que nos sintamos más cómodos.</a:t>
            </a:r>
          </a:p>
          <a:p>
            <a:pPr fontAlgn="base"/>
            <a:endParaRPr lang="es-ES" sz="1200" b="0" i="0" kern="1200" dirty="0" smtClean="0">
              <a:solidFill>
                <a:schemeClr val="tx1"/>
              </a:solidFill>
              <a:effectLst/>
              <a:latin typeface="+mn-lt"/>
              <a:ea typeface="+mn-ea"/>
              <a:cs typeface="+mn-cs"/>
            </a:endParaRPr>
          </a:p>
          <a:p>
            <a:pPr fontAlgn="base"/>
            <a:r>
              <a:rPr lang="es-AR" sz="1200" b="0" i="0" kern="1200" dirty="0" smtClean="0">
                <a:solidFill>
                  <a:schemeClr val="tx1"/>
                </a:solidFill>
                <a:effectLst/>
                <a:latin typeface="+mn-lt"/>
                <a:ea typeface="+mn-ea"/>
                <a:cs typeface="+mn-cs"/>
              </a:rPr>
              <a:t>Con una simple @, el compilador de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será capaz de interpretar que estamos describiendo código procedural, ejecutable en el servidor en el momento de mandar la página al navegador bajo solicitud, en lugar de HTML puro tratable como simple texto.</a:t>
            </a:r>
          </a:p>
          <a:p>
            <a:endParaRPr lang="en-US" dirty="0" smtClean="0"/>
          </a:p>
          <a:p>
            <a:pPr fontAlgn="base"/>
            <a:r>
              <a:rPr lang="es-AR" sz="1200" b="1" i="0" kern="1200" dirty="0" smtClean="0">
                <a:solidFill>
                  <a:schemeClr val="tx1"/>
                </a:solidFill>
                <a:effectLst/>
                <a:latin typeface="+mn-lt"/>
                <a:ea typeface="+mn-ea"/>
                <a:cs typeface="+mn-cs"/>
              </a:rPr>
              <a:t>Objetivos de </a:t>
            </a:r>
            <a:r>
              <a:rPr lang="es-AR" sz="1200" b="1" i="0" kern="1200" dirty="0" err="1" smtClean="0">
                <a:solidFill>
                  <a:schemeClr val="tx1"/>
                </a:solidFill>
                <a:effectLst/>
                <a:latin typeface="+mn-lt"/>
                <a:ea typeface="+mn-ea"/>
                <a:cs typeface="+mn-cs"/>
              </a:rPr>
              <a:t>Razor</a:t>
            </a:r>
            <a:endParaRPr lang="es-AR" sz="1200" b="1" i="0" kern="1200" dirty="0" smtClean="0">
              <a:solidFill>
                <a:schemeClr val="tx1"/>
              </a:solidFill>
              <a:effectLst/>
              <a:latin typeface="+mn-lt"/>
              <a:ea typeface="+mn-ea"/>
              <a:cs typeface="+mn-cs"/>
            </a:endParaRPr>
          </a:p>
          <a:p>
            <a:pPr fontAlgn="base"/>
            <a:r>
              <a:rPr lang="es-AR" sz="1200" b="0" i="0" kern="1200" dirty="0" smtClean="0">
                <a:solidFill>
                  <a:schemeClr val="tx1"/>
                </a:solidFill>
                <a:effectLst/>
                <a:latin typeface="+mn-lt"/>
                <a:ea typeface="+mn-ea"/>
                <a:cs typeface="+mn-cs"/>
              </a:rPr>
              <a:t>Son varios los objetivos que Microsoft se ha marcado en la creación de este motor de vistas, entre los que destacaríamos:</a:t>
            </a:r>
          </a:p>
          <a:p>
            <a:pPr fontAlgn="base"/>
            <a:r>
              <a:rPr lang="es-AR" sz="1200" b="1" i="0" kern="1200" dirty="0" smtClean="0">
                <a:solidFill>
                  <a:schemeClr val="tx1"/>
                </a:solidFill>
                <a:effectLst/>
                <a:latin typeface="+mn-lt"/>
                <a:ea typeface="+mn-ea"/>
                <a:cs typeface="+mn-cs"/>
              </a:rPr>
              <a:t>Compacto, expresivo y fluido</a:t>
            </a:r>
            <a:r>
              <a:rPr lang="es-AR" sz="1200" b="0" i="0" kern="1200" dirty="0" smtClean="0">
                <a:solidFill>
                  <a:schemeClr val="tx1"/>
                </a:solidFill>
                <a:effectLst/>
                <a:latin typeface="+mn-lt"/>
                <a:ea typeface="+mn-ea"/>
                <a:cs typeface="+mn-cs"/>
              </a:rPr>
              <a:t>: buscan reducir la cantidad de código que necesitamos para crear las vistas, evitando que tengamos que denotar de una forma especial cada línea de código procedural. El compilador será lo suficientemente inteligente como para inferir, en muchas ocasiones, qué tipo de código estamos escribiendo.</a:t>
            </a:r>
          </a:p>
          <a:p>
            <a:pPr fontAlgn="base"/>
            <a:r>
              <a:rPr lang="es-AR" sz="1200" b="1" i="0" kern="1200" dirty="0" smtClean="0">
                <a:solidFill>
                  <a:schemeClr val="tx1"/>
                </a:solidFill>
                <a:effectLst/>
                <a:latin typeface="+mn-lt"/>
                <a:ea typeface="+mn-ea"/>
                <a:cs typeface="+mn-cs"/>
              </a:rPr>
              <a:t>Fácil de aprender</a:t>
            </a:r>
            <a:r>
              <a:rPr lang="es-AR" sz="1200" b="0" i="0" kern="1200" dirty="0" smtClean="0">
                <a:solidFill>
                  <a:schemeClr val="tx1"/>
                </a:solidFill>
                <a:effectLst/>
                <a:latin typeface="+mn-lt"/>
                <a:ea typeface="+mn-ea"/>
                <a:cs typeface="+mn-cs"/>
              </a:rPr>
              <a:t>: aunque esto es siempre relativo, puesto que depende del bagaje previo del desarrollador y de sus capacidades, con sólo este artículo y los dos próximos dejaremos asentados conceptos lo suficientemente amplios como para hacer frente al 80% de la funcionalidad que podamos necesitar de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a:t>
            </a:r>
          </a:p>
          <a:p>
            <a:pPr fontAlgn="base"/>
            <a:r>
              <a:rPr lang="es-AR" sz="1200" b="1" i="0" kern="1200" dirty="0" smtClean="0">
                <a:solidFill>
                  <a:schemeClr val="tx1"/>
                </a:solidFill>
                <a:effectLst/>
                <a:latin typeface="+mn-lt"/>
                <a:ea typeface="+mn-ea"/>
                <a:cs typeface="+mn-cs"/>
              </a:rPr>
              <a:t>Funciona en cualquier editor de texto</a:t>
            </a:r>
            <a:r>
              <a:rPr lang="es-AR" sz="1200" b="0" i="0" kern="1200" dirty="0" smtClean="0">
                <a:solidFill>
                  <a:schemeClr val="tx1"/>
                </a:solidFill>
                <a:effectLst/>
                <a:latin typeface="+mn-lt"/>
                <a:ea typeface="+mn-ea"/>
                <a:cs typeface="+mn-cs"/>
              </a:rPr>
              <a:t>, luego no vamos a tener que estar anclados a Visual Studio, </a:t>
            </a:r>
            <a:r>
              <a:rPr lang="es-AR" sz="1200" b="0" i="0" kern="1200" dirty="0" err="1" smtClean="0">
                <a:solidFill>
                  <a:schemeClr val="tx1"/>
                </a:solidFill>
                <a:effectLst/>
                <a:latin typeface="+mn-lt"/>
                <a:ea typeface="+mn-ea"/>
                <a:cs typeface="+mn-cs"/>
              </a:rPr>
              <a:t>WebMatrix</a:t>
            </a:r>
            <a:r>
              <a:rPr lang="es-AR" sz="1200" b="0" i="0" kern="1200" dirty="0" smtClean="0">
                <a:solidFill>
                  <a:schemeClr val="tx1"/>
                </a:solidFill>
                <a:effectLst/>
                <a:latin typeface="+mn-lt"/>
                <a:ea typeface="+mn-ea"/>
                <a:cs typeface="+mn-cs"/>
              </a:rPr>
              <a:t> o cualquier otra herramienta para crear nuestros ficheros </a:t>
            </a:r>
            <a:r>
              <a:rPr lang="es-AR" sz="1200" b="0" i="0" kern="1200" dirty="0" err="1" smtClean="0">
                <a:solidFill>
                  <a:schemeClr val="tx1"/>
                </a:solidFill>
                <a:effectLst/>
                <a:latin typeface="+mn-lt"/>
                <a:ea typeface="+mn-ea"/>
                <a:cs typeface="+mn-cs"/>
              </a:rPr>
              <a:t>Razor</a:t>
            </a:r>
            <a:r>
              <a:rPr lang="es-AR" sz="1200" b="0" i="0" kern="1200" dirty="0" smtClean="0">
                <a:solidFill>
                  <a:schemeClr val="tx1"/>
                </a:solidFill>
                <a:effectLst/>
                <a:latin typeface="+mn-lt"/>
                <a:ea typeface="+mn-ea"/>
                <a:cs typeface="+mn-cs"/>
              </a:rPr>
              <a:t>. Obviamente, el soporte al lenguaje es superior en una herramienta como Visual Studio, donde tendremos toda la potencia de </a:t>
            </a:r>
            <a:r>
              <a:rPr lang="es-AR" sz="1200" b="0" i="0" kern="1200" dirty="0" err="1" smtClean="0">
                <a:solidFill>
                  <a:schemeClr val="tx1"/>
                </a:solidFill>
                <a:effectLst/>
                <a:latin typeface="+mn-lt"/>
                <a:ea typeface="+mn-ea"/>
                <a:cs typeface="+mn-cs"/>
              </a:rPr>
              <a:t>IntelliSense</a:t>
            </a:r>
            <a:r>
              <a:rPr lang="es-AR" sz="1200" b="0" i="0" kern="1200" dirty="0" smtClean="0">
                <a:solidFill>
                  <a:schemeClr val="tx1"/>
                </a:solidFill>
                <a:effectLst/>
                <a:latin typeface="+mn-lt"/>
                <a:ea typeface="+mn-ea"/>
                <a:cs typeface="+mn-cs"/>
              </a:rPr>
              <a:t> a nuestro alcance, que si editamos simplemente con el Block de Notas, pero la decisión última será nuestra.</a:t>
            </a:r>
          </a:p>
          <a:p>
            <a:pPr fontAlgn="base"/>
            <a:r>
              <a:rPr lang="es-AR" sz="1200" b="1" i="0" kern="1200" dirty="0" err="1" smtClean="0">
                <a:solidFill>
                  <a:schemeClr val="tx1"/>
                </a:solidFill>
                <a:effectLst/>
                <a:latin typeface="+mn-lt"/>
                <a:ea typeface="+mn-ea"/>
                <a:cs typeface="+mn-cs"/>
              </a:rPr>
              <a:t>Testeable</a:t>
            </a:r>
            <a:r>
              <a:rPr lang="es-AR" sz="1200" b="0" i="0" kern="1200" dirty="0" smtClean="0">
                <a:solidFill>
                  <a:schemeClr val="tx1"/>
                </a:solidFill>
                <a:effectLst/>
                <a:latin typeface="+mn-lt"/>
                <a:ea typeface="+mn-ea"/>
                <a:cs typeface="+mn-cs"/>
              </a:rPr>
              <a:t>: podremos crear </a:t>
            </a:r>
            <a:r>
              <a:rPr lang="es-AR" sz="1200" b="0" i="0" kern="1200" dirty="0" err="1" smtClean="0">
                <a:solidFill>
                  <a:schemeClr val="tx1"/>
                </a:solidFill>
                <a:effectLst/>
                <a:latin typeface="+mn-lt"/>
                <a:ea typeface="+mn-ea"/>
                <a:cs typeface="+mn-cs"/>
              </a:rPr>
              <a:t>tests</a:t>
            </a:r>
            <a:r>
              <a:rPr lang="es-AR" sz="1200" b="0" i="0" kern="1200" dirty="0" smtClean="0">
                <a:solidFill>
                  <a:schemeClr val="tx1"/>
                </a:solidFill>
                <a:effectLst/>
                <a:latin typeface="+mn-lt"/>
                <a:ea typeface="+mn-ea"/>
                <a:cs typeface="+mn-cs"/>
              </a:rPr>
              <a:t> unitarios de las vistas.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14</a:t>
            </a:fld>
            <a:endParaRPr lang="en-US"/>
          </a:p>
        </p:txBody>
      </p:sp>
    </p:spTree>
    <p:extLst>
      <p:ext uri="{BB962C8B-B14F-4D97-AF65-F5344CB8AC3E}">
        <p14:creationId xmlns:p14="http://schemas.microsoft.com/office/powerpoint/2010/main" val="3145292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sz="1200" b="1" i="0" kern="1200" dirty="0" smtClean="0">
                <a:solidFill>
                  <a:schemeClr val="tx1"/>
                </a:solidFill>
                <a:effectLst/>
                <a:latin typeface="+mn-lt"/>
                <a:ea typeface="+mn-ea"/>
                <a:cs typeface="+mn-cs"/>
              </a:rPr>
              <a:t>Compacto, expresivo y fluido</a:t>
            </a:r>
            <a:r>
              <a:rPr lang="es-ES" sz="1200" b="0" i="0" kern="1200" dirty="0" smtClean="0">
                <a:solidFill>
                  <a:schemeClr val="tx1"/>
                </a:solidFill>
                <a:effectLst/>
                <a:latin typeface="+mn-lt"/>
                <a:ea typeface="+mn-ea"/>
                <a:cs typeface="+mn-cs"/>
              </a:rPr>
              <a:t>: </a:t>
            </a:r>
            <a:r>
              <a:rPr lang="es-ES" sz="1200" b="1" i="1"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minimiza el número de caracteres presentes en un código fuente, permitiendo un flujo de trabajo rápido y elegante. Por otro lado no es necesario interrumpir su codificación de la vista para indicar explícitamente los bloques de servidor dentro de su HTML, es decir, se puede mezclar, código servidor y código cliente, y siempre quedarán identificadas ambas partes ya que el analizador es lo suficientemente inteligente para deducir esto. Esto permite una sintaxis muy compacta y expresiva que además es limpio, rápido y divertido de escribir.</a:t>
            </a:r>
          </a:p>
          <a:p>
            <a:r>
              <a:rPr lang="es-ES" sz="1200" b="1" i="0" kern="1200" dirty="0" smtClean="0">
                <a:solidFill>
                  <a:schemeClr val="tx1"/>
                </a:solidFill>
                <a:effectLst/>
                <a:latin typeface="+mn-lt"/>
                <a:ea typeface="+mn-ea"/>
                <a:cs typeface="+mn-cs"/>
              </a:rPr>
              <a:t>Fácil de aprender</a:t>
            </a:r>
            <a:r>
              <a:rPr lang="es-ES" sz="1200" b="0" i="0" kern="1200" dirty="0" smtClean="0">
                <a:solidFill>
                  <a:schemeClr val="tx1"/>
                </a:solidFill>
                <a:effectLst/>
                <a:latin typeface="+mn-lt"/>
                <a:ea typeface="+mn-ea"/>
                <a:cs typeface="+mn-cs"/>
              </a:rPr>
              <a:t>: </a:t>
            </a:r>
            <a:r>
              <a:rPr lang="es-ES" sz="1200" b="1" i="1"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es fácil de aprender y le permite ser productivos rápidamente con un mínimo de conceptos. Utiliza todo tu idioma existente y conocimientos de HTML. Además tiene cierto parecido a la sintaxis ASP clásico.</a:t>
            </a:r>
          </a:p>
          <a:p>
            <a:r>
              <a:rPr lang="es-ES" sz="1200" b="1" i="0" kern="1200" dirty="0" smtClean="0">
                <a:solidFill>
                  <a:schemeClr val="tx1"/>
                </a:solidFill>
                <a:effectLst/>
                <a:latin typeface="+mn-lt"/>
                <a:ea typeface="+mn-ea"/>
                <a:cs typeface="+mn-cs"/>
              </a:rPr>
              <a:t>No es un nuevo lenguaje:</a:t>
            </a:r>
            <a:r>
              <a:rPr lang="es-ES" sz="1200" b="0" i="0" kern="1200" dirty="0" smtClean="0">
                <a:solidFill>
                  <a:schemeClr val="tx1"/>
                </a:solidFill>
                <a:effectLst/>
                <a:latin typeface="+mn-lt"/>
                <a:ea typeface="+mn-ea"/>
                <a:cs typeface="+mn-cs"/>
              </a:rPr>
              <a:t> Los desarrolladores podrán utilizar </a:t>
            </a:r>
            <a:r>
              <a:rPr lang="es-ES" sz="1200" b="1" i="1"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con su lenguaje de programación.</a:t>
            </a:r>
          </a:p>
          <a:p>
            <a:r>
              <a:rPr lang="es-ES" sz="1200" b="1" i="0" kern="1200" dirty="0" smtClean="0">
                <a:solidFill>
                  <a:schemeClr val="tx1"/>
                </a:solidFill>
                <a:effectLst/>
                <a:latin typeface="+mn-lt"/>
                <a:ea typeface="+mn-ea"/>
                <a:cs typeface="+mn-cs"/>
              </a:rPr>
              <a:t>Compatibilidad con </a:t>
            </a:r>
            <a:r>
              <a:rPr lang="es-ES" sz="1200" b="1" i="0" kern="1200" dirty="0" err="1" smtClean="0">
                <a:solidFill>
                  <a:schemeClr val="tx1"/>
                </a:solidFill>
                <a:effectLst/>
                <a:latin typeface="+mn-lt"/>
                <a:ea typeface="+mn-ea"/>
                <a:cs typeface="+mn-cs"/>
              </a:rPr>
              <a:t>Intellisense</a:t>
            </a:r>
            <a:r>
              <a:rPr lang="es-ES" sz="1200" b="0" i="0" kern="1200" dirty="0" smtClean="0">
                <a:solidFill>
                  <a:schemeClr val="tx1"/>
                </a:solidFill>
                <a:effectLst/>
                <a:latin typeface="+mn-lt"/>
                <a:ea typeface="+mn-ea"/>
                <a:cs typeface="+mn-cs"/>
              </a:rPr>
              <a:t> : </a:t>
            </a:r>
            <a:r>
              <a:rPr lang="es-ES" sz="1200" b="1" i="1" kern="1200" dirty="0" err="1" smtClean="0">
                <a:solidFill>
                  <a:schemeClr val="tx1"/>
                </a:solidFill>
                <a:effectLst/>
                <a:latin typeface="+mn-lt"/>
                <a:ea typeface="+mn-ea"/>
                <a:cs typeface="+mn-cs"/>
              </a:rPr>
              <a:t>Razor</a:t>
            </a:r>
            <a:r>
              <a:rPr lang="es-ES" sz="1200" b="1" i="0" kern="1200" dirty="0" smtClean="0">
                <a:solidFill>
                  <a:schemeClr val="tx1"/>
                </a:solidFill>
                <a:effectLst/>
                <a:latin typeface="+mn-lt"/>
                <a:ea typeface="+mn-ea"/>
                <a:cs typeface="+mn-cs"/>
              </a:rPr>
              <a:t>  </a:t>
            </a:r>
            <a:r>
              <a:rPr lang="es-ES" sz="1200" b="0" i="0" kern="1200" dirty="0" smtClean="0">
                <a:solidFill>
                  <a:schemeClr val="tx1"/>
                </a:solidFill>
                <a:effectLst/>
                <a:latin typeface="+mn-lt"/>
                <a:ea typeface="+mn-ea"/>
                <a:cs typeface="+mn-cs"/>
              </a:rPr>
              <a:t>ha sido diseñado para no requerir una herramienta específica o un editor de código(Puede usarse el bloc de notas para dar inicio con la creación de la vista), sin embargo cuenta con el apoyo de </a:t>
            </a:r>
            <a:r>
              <a:rPr lang="es-ES" sz="1200" b="0" i="0" kern="1200" dirty="0" err="1" smtClean="0">
                <a:solidFill>
                  <a:schemeClr val="tx1"/>
                </a:solidFill>
                <a:effectLst/>
                <a:latin typeface="+mn-lt"/>
                <a:ea typeface="+mn-ea"/>
                <a:cs typeface="+mn-cs"/>
              </a:rPr>
              <a:t>Intellisense</a:t>
            </a:r>
            <a:r>
              <a:rPr lang="es-ES" sz="1200" b="0" i="0" kern="1200" dirty="0" smtClean="0">
                <a:solidFill>
                  <a:schemeClr val="tx1"/>
                </a:solidFill>
                <a:effectLst/>
                <a:latin typeface="+mn-lt"/>
                <a:ea typeface="+mn-ea"/>
                <a:cs typeface="+mn-cs"/>
              </a:rPr>
              <a:t>  de Visual Studio para la finalización de instrucciones</a:t>
            </a:r>
          </a:p>
          <a:p>
            <a:r>
              <a:rPr lang="es-ES" sz="1200" b="1" i="0" kern="1200" dirty="0" smtClean="0">
                <a:solidFill>
                  <a:schemeClr val="tx1"/>
                </a:solidFill>
                <a:effectLst/>
                <a:latin typeface="+mn-lt"/>
                <a:ea typeface="+mn-ea"/>
                <a:cs typeface="+mn-cs"/>
              </a:rPr>
              <a:t>Compatible con Test Unitarios: </a:t>
            </a:r>
            <a:r>
              <a:rPr lang="es-ES" sz="1200" b="0" i="0" kern="1200" dirty="0" smtClean="0">
                <a:solidFill>
                  <a:schemeClr val="tx1"/>
                </a:solidFill>
                <a:effectLst/>
                <a:latin typeface="+mn-lt"/>
                <a:ea typeface="+mn-ea"/>
                <a:cs typeface="+mn-cs"/>
              </a:rPr>
              <a:t>En un entorno de desarrollo es imprescindible el tema de creación de test unitarios, para dotar de seguridad y fiabilidad a nuestro desarrollo software, por lo que se puede decir que se puede usar perfectamente </a:t>
            </a:r>
            <a:r>
              <a:rPr lang="es-ES" sz="1200" b="0" i="0" kern="1200" dirty="0" err="1" smtClean="0">
                <a:solidFill>
                  <a:schemeClr val="tx1"/>
                </a:solidFill>
                <a:effectLst/>
                <a:latin typeface="+mn-lt"/>
                <a:ea typeface="+mn-ea"/>
                <a:cs typeface="+mn-cs"/>
              </a:rPr>
              <a:t>Razor</a:t>
            </a:r>
            <a:r>
              <a:rPr lang="es-ES" sz="1200" b="0" i="0" kern="1200" dirty="0" smtClean="0">
                <a:solidFill>
                  <a:schemeClr val="tx1"/>
                </a:solidFill>
                <a:effectLst/>
                <a:latin typeface="+mn-lt"/>
                <a:ea typeface="+mn-ea"/>
                <a:cs typeface="+mn-cs"/>
              </a:rPr>
              <a:t> en entornos de pruebas o test unitarios.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15</a:t>
            </a:fld>
            <a:endParaRPr lang="en-US"/>
          </a:p>
        </p:txBody>
      </p:sp>
    </p:spTree>
    <p:extLst>
      <p:ext uri="{BB962C8B-B14F-4D97-AF65-F5344CB8AC3E}">
        <p14:creationId xmlns:p14="http://schemas.microsoft.com/office/powerpoint/2010/main" val="2540126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25000" lnSpcReduction="20000"/>
          </a:bodyPr>
          <a:lstStyle/>
          <a:p>
            <a:pPr fontAlgn="base"/>
            <a:r>
              <a:rPr lang="es-AR" sz="1200" b="0" i="0" kern="1200" dirty="0" smtClean="0">
                <a:solidFill>
                  <a:schemeClr val="tx1"/>
                </a:solidFill>
                <a:effectLst/>
                <a:latin typeface="+mn-lt"/>
                <a:ea typeface="+mn-ea"/>
                <a:cs typeface="+mn-cs"/>
              </a:rPr>
              <a:t>Es un método que devuelve una cadena de texto y esta cadena de texto puede ser lo que nosotros queramos, desde etiquetas HTML, scripts…</a:t>
            </a:r>
          </a:p>
          <a:p>
            <a:pPr fontAlgn="base"/>
            <a:r>
              <a:rPr lang="es-AR" sz="1200" b="0" i="0" kern="1200" dirty="0" smtClean="0">
                <a:solidFill>
                  <a:schemeClr val="tx1"/>
                </a:solidFill>
                <a:effectLst/>
                <a:latin typeface="+mn-lt"/>
                <a:ea typeface="+mn-ea"/>
                <a:cs typeface="+mn-cs"/>
              </a:rPr>
              <a:t>Así pues la principal ventaja de usar </a:t>
            </a:r>
            <a:r>
              <a:rPr lang="es-AR" sz="1200" b="0" i="0" u="none" strike="noStrike" kern="1200" dirty="0" err="1" smtClean="0">
                <a:solidFill>
                  <a:schemeClr val="tx1"/>
                </a:solidFill>
                <a:effectLst/>
                <a:latin typeface="+mn-lt"/>
                <a:ea typeface="+mn-ea"/>
                <a:cs typeface="+mn-cs"/>
                <a:hlinkClick r:id="rId3"/>
              </a:rPr>
              <a:t>Html</a:t>
            </a:r>
            <a:r>
              <a:rPr lang="es-AR" sz="1200" b="0" i="0" u="none" strike="noStrike" kern="1200" dirty="0" smtClean="0">
                <a:solidFill>
                  <a:schemeClr val="tx1"/>
                </a:solidFill>
                <a:effectLst/>
                <a:latin typeface="+mn-lt"/>
                <a:ea typeface="+mn-ea"/>
                <a:cs typeface="+mn-cs"/>
                <a:hlinkClick r:id="rId3"/>
              </a:rPr>
              <a:t> </a:t>
            </a:r>
            <a:r>
              <a:rPr lang="es-AR" sz="1200" b="0" i="0" u="none" strike="noStrike" kern="1200" dirty="0" err="1" smtClean="0">
                <a:solidFill>
                  <a:schemeClr val="tx1"/>
                </a:solidFill>
                <a:effectLst/>
                <a:latin typeface="+mn-lt"/>
                <a:ea typeface="+mn-ea"/>
                <a:cs typeface="+mn-cs"/>
                <a:hlinkClick r:id="rId3"/>
              </a:rPr>
              <a:t>Helpers</a:t>
            </a:r>
            <a:r>
              <a:rPr lang="es-AR" sz="1200" b="0" i="0" kern="1200" dirty="0" smtClean="0">
                <a:solidFill>
                  <a:schemeClr val="tx1"/>
                </a:solidFill>
                <a:effectLst/>
                <a:latin typeface="+mn-lt"/>
                <a:ea typeface="+mn-ea"/>
                <a:cs typeface="+mn-cs"/>
              </a:rPr>
              <a:t> en </a:t>
            </a:r>
            <a:r>
              <a:rPr lang="es-AR" sz="1200" b="0" i="0" u="none" strike="noStrike" kern="1200" dirty="0" smtClean="0">
                <a:solidFill>
                  <a:schemeClr val="tx1"/>
                </a:solidFill>
                <a:effectLst/>
                <a:latin typeface="+mn-lt"/>
                <a:ea typeface="+mn-ea"/>
                <a:cs typeface="+mn-cs"/>
                <a:hlinkClick r:id="rId4"/>
              </a:rPr>
              <a:t>ASP.NET MVC</a:t>
            </a:r>
            <a:r>
              <a:rPr lang="es-AR" sz="1200" b="0" i="0" kern="1200" dirty="0" smtClean="0">
                <a:solidFill>
                  <a:schemeClr val="tx1"/>
                </a:solidFill>
                <a:effectLst/>
                <a:latin typeface="+mn-lt"/>
                <a:ea typeface="+mn-ea"/>
                <a:cs typeface="+mn-cs"/>
              </a:rPr>
              <a:t> es claramente el evitar tener que estar escribiendo etiquetas de HTML, scripts… continuamente en nuestras vistas. En </a:t>
            </a:r>
            <a:r>
              <a:rPr lang="es-AR" sz="1200" b="0" i="0" u="none" strike="noStrike" kern="1200" dirty="0" smtClean="0">
                <a:solidFill>
                  <a:schemeClr val="tx1"/>
                </a:solidFill>
                <a:effectLst/>
                <a:latin typeface="+mn-lt"/>
                <a:ea typeface="+mn-ea"/>
                <a:cs typeface="+mn-cs"/>
                <a:hlinkClick r:id="rId4"/>
              </a:rPr>
              <a:t>ASP.NET MVC</a:t>
            </a:r>
            <a:r>
              <a:rPr lang="es-AR" sz="1200" b="0" i="0" kern="1200" dirty="0" smtClean="0">
                <a:solidFill>
                  <a:schemeClr val="tx1"/>
                </a:solidFill>
                <a:effectLst/>
                <a:latin typeface="+mn-lt"/>
                <a:ea typeface="+mn-ea"/>
                <a:cs typeface="+mn-cs"/>
              </a:rPr>
              <a:t> tenemos una amplia lista de </a:t>
            </a:r>
            <a:r>
              <a:rPr lang="es-AR" sz="1200" b="0" i="0" kern="1200" dirty="0" err="1" smtClean="0">
                <a:solidFill>
                  <a:schemeClr val="tx1"/>
                </a:solidFill>
                <a:effectLst/>
                <a:latin typeface="+mn-lt"/>
                <a:ea typeface="+mn-ea"/>
                <a:cs typeface="+mn-cs"/>
              </a:rPr>
              <a:t>Helpers</a:t>
            </a:r>
            <a:r>
              <a:rPr lang="es-AR" sz="1200" b="0" i="0" kern="1200" dirty="0" smtClean="0">
                <a:solidFill>
                  <a:schemeClr val="tx1"/>
                </a:solidFill>
                <a:effectLst/>
                <a:latin typeface="+mn-lt"/>
                <a:ea typeface="+mn-ea"/>
                <a:cs typeface="+mn-cs"/>
              </a:rPr>
              <a:t> como por ejemplo los 2 que se muestran:</a:t>
            </a:r>
          </a:p>
          <a:p>
            <a:pPr fontAlgn="base"/>
            <a:endParaRPr lang="es-ES" sz="1200" b="0" i="0" kern="1200" dirty="0" smtClean="0">
              <a:solidFill>
                <a:schemeClr val="tx1"/>
              </a:solidFill>
              <a:effectLst/>
              <a:latin typeface="+mn-lt"/>
              <a:ea typeface="+mn-ea"/>
              <a:cs typeface="+mn-cs"/>
            </a:endParaRPr>
          </a:p>
          <a:p>
            <a:pPr fontAlgn="base"/>
            <a:r>
              <a:rPr lang="es-ES" sz="1200" b="0" i="0" kern="1200" dirty="0" err="1" smtClean="0">
                <a:solidFill>
                  <a:schemeClr val="tx1"/>
                </a:solidFill>
                <a:effectLst/>
                <a:latin typeface="+mn-lt"/>
                <a:ea typeface="+mn-ea"/>
                <a:cs typeface="+mn-cs"/>
              </a:rPr>
              <a:t>Html.TextBox</a:t>
            </a:r>
            <a:r>
              <a:rPr lang="es-ES" sz="1200" b="0" i="0" kern="1200" dirty="0" smtClean="0">
                <a:solidFill>
                  <a:schemeClr val="tx1"/>
                </a:solidFill>
                <a:effectLst/>
                <a:latin typeface="+mn-lt"/>
                <a:ea typeface="+mn-ea"/>
                <a:cs typeface="+mn-cs"/>
              </a:rPr>
              <a:t>()</a:t>
            </a:r>
          </a:p>
          <a:p>
            <a:pPr fontAlgn="base"/>
            <a:r>
              <a:rPr lang="es-ES" sz="1200" b="0" i="0" kern="1200" dirty="0" err="1" smtClean="0">
                <a:solidFill>
                  <a:schemeClr val="tx1"/>
                </a:solidFill>
                <a:effectLst/>
                <a:latin typeface="+mn-lt"/>
                <a:ea typeface="+mn-ea"/>
                <a:cs typeface="+mn-cs"/>
              </a:rPr>
              <a:t>Html.BeginForm</a:t>
            </a:r>
            <a:r>
              <a:rPr lang="es-ES" sz="1200" b="0" i="0" kern="1200" dirty="0" smtClean="0">
                <a:solidFill>
                  <a:schemeClr val="tx1"/>
                </a:solidFill>
                <a:effectLst/>
                <a:latin typeface="+mn-lt"/>
                <a:ea typeface="+mn-ea"/>
                <a:cs typeface="+mn-cs"/>
              </a:rPr>
              <a:t>()</a:t>
            </a:r>
            <a:endParaRPr lang="es-AR"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endParaRPr lang="es-ES" sz="1200" b="0" i="0" kern="1200" dirty="0" smtClean="0">
              <a:solidFill>
                <a:schemeClr val="tx1"/>
              </a:solidFill>
              <a:effectLst/>
              <a:latin typeface="+mn-lt"/>
              <a:ea typeface="+mn-ea"/>
              <a:cs typeface="+mn-cs"/>
            </a:endParaRPr>
          </a:p>
          <a:p>
            <a:r>
              <a:rPr lang="es-ES" sz="1200" b="0" i="0" kern="1200" dirty="0" smtClean="0">
                <a:solidFill>
                  <a:schemeClr val="tx1"/>
                </a:solidFill>
                <a:effectLst/>
                <a:latin typeface="+mn-lt"/>
                <a:ea typeface="+mn-ea"/>
                <a:cs typeface="+mn-cs"/>
              </a:rPr>
              <a:t>Los </a:t>
            </a:r>
            <a:r>
              <a:rPr lang="es-ES" sz="1200" b="0" i="0" kern="1200" dirty="0" err="1" smtClean="0">
                <a:solidFill>
                  <a:schemeClr val="tx1"/>
                </a:solidFill>
                <a:effectLst/>
                <a:latin typeface="+mn-lt"/>
                <a:ea typeface="+mn-ea"/>
                <a:cs typeface="+mn-cs"/>
              </a:rPr>
              <a:t>Helpers</a:t>
            </a:r>
            <a:r>
              <a:rPr lang="es-ES" sz="1200" b="0" i="0" kern="1200" dirty="0" smtClean="0">
                <a:solidFill>
                  <a:schemeClr val="tx1"/>
                </a:solidFill>
                <a:effectLst/>
                <a:latin typeface="+mn-lt"/>
                <a:ea typeface="+mn-ea"/>
                <a:cs typeface="+mn-cs"/>
              </a:rPr>
              <a:t>, o como su traducción en español sería “Ayudadores” son elementos de apoyo para encapsular acciones dentro de la vista, como si de una función en la parte del servidor se tratase. </a:t>
            </a:r>
            <a:r>
              <a:rPr lang="es-ES" sz="1200" b="0" i="0" u="none" strike="noStrike" kern="1200" dirty="0" smtClean="0">
                <a:solidFill>
                  <a:schemeClr val="tx1"/>
                </a:solidFill>
                <a:effectLst/>
                <a:latin typeface="+mn-lt"/>
                <a:ea typeface="+mn-ea"/>
                <a:cs typeface="+mn-cs"/>
              </a:rPr>
              <a:t>Los “HTML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ayudan a trabajar con HTML. </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Usando </a:t>
            </a:r>
            <a:r>
              <a:rPr lang="es-ES" sz="1200" b="1" i="0" u="none" strike="noStrike" kern="1200" dirty="0" err="1" smtClean="0">
                <a:solidFill>
                  <a:schemeClr val="tx1"/>
                </a:solidFill>
                <a:effectLst/>
                <a:latin typeface="+mn-lt"/>
                <a:ea typeface="+mn-ea"/>
                <a:cs typeface="+mn-cs"/>
              </a:rPr>
              <a:t>Forms</a:t>
            </a:r>
            <a:r>
              <a:rPr lang="es-ES" sz="1200" b="1" i="0" u="none" strike="noStrike" kern="1200" dirty="0" smtClean="0">
                <a:solidFill>
                  <a:schemeClr val="tx1"/>
                </a:solidFill>
                <a:effectLst/>
                <a:latin typeface="+mn-lt"/>
                <a:ea typeface="+mn-ea"/>
                <a:cs typeface="+mn-cs"/>
              </a:rPr>
              <a:t> - “</a:t>
            </a:r>
            <a:r>
              <a:rPr lang="es-ES" sz="1200" b="1" i="0" u="none" strike="noStrike" kern="1200" dirty="0" err="1" smtClean="0">
                <a:solidFill>
                  <a:schemeClr val="tx1"/>
                </a:solidFill>
                <a:effectLst/>
                <a:latin typeface="+mn-lt"/>
                <a:ea typeface="+mn-ea"/>
                <a:cs typeface="+mn-cs"/>
              </a:rPr>
              <a:t>form</a:t>
            </a:r>
            <a:r>
              <a:rPr lang="es-ES" sz="1200" b="1"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El </a:t>
            </a:r>
            <a:r>
              <a:rPr lang="es-ES" sz="1200" b="0" i="0" u="none" strike="noStrike" kern="1200" dirty="0" err="1" smtClean="0">
                <a:solidFill>
                  <a:schemeClr val="tx1"/>
                </a:solidFill>
                <a:effectLst/>
                <a:latin typeface="+mn-lt"/>
                <a:ea typeface="+mn-ea"/>
                <a:cs typeface="+mn-cs"/>
              </a:rPr>
              <a:t>tag</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es poderoso. Sin el </a:t>
            </a:r>
            <a:r>
              <a:rPr lang="es-ES" sz="1200" b="0" i="0" u="none" strike="noStrike" kern="1200" dirty="0" err="1" smtClean="0">
                <a:solidFill>
                  <a:schemeClr val="tx1"/>
                </a:solidFill>
                <a:effectLst/>
                <a:latin typeface="+mn-lt"/>
                <a:ea typeface="+mn-ea"/>
                <a:cs typeface="+mn-cs"/>
              </a:rPr>
              <a:t>tag</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la internet como la conocemos sería solo un repositorio de solo lectura. No se podrían realizar búsquedas o comprar.</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La acción “</a:t>
            </a:r>
            <a:r>
              <a:rPr lang="es-ES" sz="1200" b="1" i="0" u="none" strike="noStrike" kern="1200" dirty="0" err="1" smtClean="0">
                <a:solidFill>
                  <a:schemeClr val="tx1"/>
                </a:solidFill>
                <a:effectLst/>
                <a:latin typeface="+mn-lt"/>
                <a:ea typeface="+mn-ea"/>
                <a:cs typeface="+mn-cs"/>
              </a:rPr>
              <a:t>action</a:t>
            </a:r>
            <a:r>
              <a:rPr lang="es-ES" sz="1200" b="1" i="0" u="none" strike="noStrike" kern="1200" dirty="0" smtClean="0">
                <a:solidFill>
                  <a:schemeClr val="tx1"/>
                </a:solidFill>
                <a:effectLst/>
                <a:latin typeface="+mn-lt"/>
                <a:ea typeface="+mn-ea"/>
                <a:cs typeface="+mn-cs"/>
              </a:rPr>
              <a:t>” y el método “</a:t>
            </a:r>
            <a:r>
              <a:rPr lang="es-ES" sz="1200" b="1" i="0" u="none" strike="noStrike" kern="1200" dirty="0" err="1" smtClean="0">
                <a:solidFill>
                  <a:schemeClr val="tx1"/>
                </a:solidFill>
                <a:effectLst/>
                <a:latin typeface="+mn-lt"/>
                <a:ea typeface="+mn-ea"/>
                <a:cs typeface="+mn-cs"/>
              </a:rPr>
              <a:t>method</a:t>
            </a:r>
            <a:r>
              <a:rPr lang="es-ES" sz="1200" b="1"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Un formulario es un contenedor para elementos de entrada (inputs): </a:t>
            </a:r>
            <a:r>
              <a:rPr lang="es-ES" sz="1200" b="0" i="0" u="none" strike="noStrike" kern="1200" dirty="0" err="1" smtClean="0">
                <a:solidFill>
                  <a:schemeClr val="tx1"/>
                </a:solidFill>
                <a:effectLst/>
                <a:latin typeface="+mn-lt"/>
                <a:ea typeface="+mn-ea"/>
                <a:cs typeface="+mn-cs"/>
              </a:rPr>
              <a:t>buttons</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checkboxes</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inputs, etc. Estos elementos permiten al usuario introducir información a la pagina y suministrar “</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dicha </a:t>
            </a:r>
            <a:r>
              <a:rPr lang="es-ES" sz="1200" b="0" i="0" u="none" strike="noStrike" kern="1200" dirty="0" err="1" smtClean="0">
                <a:solidFill>
                  <a:schemeClr val="tx1"/>
                </a:solidFill>
                <a:effectLst/>
                <a:latin typeface="+mn-lt"/>
                <a:ea typeface="+mn-ea"/>
                <a:cs typeface="+mn-cs"/>
              </a:rPr>
              <a:t>informacion</a:t>
            </a:r>
            <a:r>
              <a:rPr lang="es-ES" sz="1200" b="0" i="0" u="none" strike="noStrike" kern="1200" dirty="0" smtClean="0">
                <a:solidFill>
                  <a:schemeClr val="tx1"/>
                </a:solidFill>
                <a:effectLst/>
                <a:latin typeface="+mn-lt"/>
                <a:ea typeface="+mn-ea"/>
                <a:cs typeface="+mn-cs"/>
              </a:rPr>
              <a:t> al servidor. A que servidor? Como llega al servidor? Para responder estas preguntas, hay dos atributos importantes en el </a:t>
            </a:r>
            <a:r>
              <a:rPr lang="es-ES" sz="1200" b="0" i="0" u="none" strike="noStrike" kern="1200" dirty="0" err="1" smtClean="0">
                <a:solidFill>
                  <a:schemeClr val="tx1"/>
                </a:solidFill>
                <a:effectLst/>
                <a:latin typeface="+mn-lt"/>
                <a:ea typeface="+mn-ea"/>
                <a:cs typeface="+mn-cs"/>
              </a:rPr>
              <a:t>tag</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y </a:t>
            </a:r>
            <a:r>
              <a:rPr lang="es-ES" sz="1200" b="0" i="0" u="none" strike="noStrike" kern="1200" dirty="0" err="1" smtClean="0">
                <a:solidFill>
                  <a:schemeClr val="tx1"/>
                </a:solidFill>
                <a:effectLst/>
                <a:latin typeface="+mn-lt"/>
                <a:ea typeface="+mn-ea"/>
                <a:cs typeface="+mn-cs"/>
              </a:rPr>
              <a:t>method</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Atributo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le dice al navegador a donde enviar la información. Esta contiene la URL. La URL puede ser relativa o absoluta.</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="http://www.bing.com/search"&gt;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="q"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value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&gt;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Atributo “</a:t>
            </a:r>
            <a:r>
              <a:rPr lang="es-ES" sz="1200" b="0" i="0" u="none" strike="noStrike" kern="1200" dirty="0" err="1" smtClean="0">
                <a:solidFill>
                  <a:schemeClr val="tx1"/>
                </a:solidFill>
                <a:effectLst/>
                <a:latin typeface="+mn-lt"/>
                <a:ea typeface="+mn-ea"/>
                <a:cs typeface="+mn-cs"/>
              </a:rPr>
              <a:t>method</a:t>
            </a:r>
            <a:r>
              <a:rPr lang="es-ES" sz="1200" b="0" i="0" u="none" strike="noStrike" kern="1200" dirty="0" smtClean="0">
                <a:solidFill>
                  <a:schemeClr val="tx1"/>
                </a:solidFill>
                <a:effectLst/>
                <a:latin typeface="+mn-lt"/>
                <a:ea typeface="+mn-ea"/>
                <a:cs typeface="+mn-cs"/>
              </a:rPr>
              <a:t>”: le indica al navegador si debe usar HTTP POST o HTTP GET cuando </a:t>
            </a:r>
            <a:r>
              <a:rPr lang="es-ES" sz="1200" b="0" i="0" u="none" strike="noStrike" kern="1200" dirty="0" err="1" smtClean="0">
                <a:solidFill>
                  <a:schemeClr val="tx1"/>
                </a:solidFill>
                <a:effectLst/>
                <a:latin typeface="+mn-lt"/>
                <a:ea typeface="+mn-ea"/>
                <a:cs typeface="+mn-cs"/>
              </a:rPr>
              <a:t>envia</a:t>
            </a:r>
            <a:r>
              <a:rPr lang="es-ES" sz="1200" b="0" i="0" u="none" strike="noStrike" kern="1200" dirty="0" smtClean="0">
                <a:solidFill>
                  <a:schemeClr val="tx1"/>
                </a:solidFill>
                <a:effectLst/>
                <a:latin typeface="+mn-lt"/>
                <a:ea typeface="+mn-ea"/>
                <a:cs typeface="+mn-cs"/>
              </a:rPr>
              <a:t> la </a:t>
            </a:r>
            <a:r>
              <a:rPr lang="es-ES" sz="1200" b="0" i="0" u="none" strike="noStrike" kern="1200" dirty="0" err="1" smtClean="0">
                <a:solidFill>
                  <a:schemeClr val="tx1"/>
                </a:solidFill>
                <a:effectLst/>
                <a:latin typeface="+mn-lt"/>
                <a:ea typeface="+mn-ea"/>
                <a:cs typeface="+mn-cs"/>
              </a:rPr>
              <a:t>informacion</a:t>
            </a:r>
            <a:r>
              <a:rPr lang="es-ES" sz="1200" b="0" i="0" u="none" strike="noStrike" kern="1200" dirty="0" smtClean="0">
                <a:solidFill>
                  <a:schemeClr val="tx1"/>
                </a:solidFill>
                <a:effectLst/>
                <a:latin typeface="+mn-lt"/>
                <a:ea typeface="+mn-ea"/>
                <a:cs typeface="+mn-cs"/>
              </a:rPr>
              <a:t>. Por defecto, utiliza el valor “</a:t>
            </a:r>
            <a:r>
              <a:rPr lang="es-ES" sz="1200" b="0" i="0" u="none" strike="noStrike" kern="1200" dirty="0" err="1" smtClean="0">
                <a:solidFill>
                  <a:schemeClr val="tx1"/>
                </a:solidFill>
                <a:effectLst/>
                <a:latin typeface="+mn-lt"/>
                <a:ea typeface="+mn-ea"/>
                <a:cs typeface="+mn-cs"/>
              </a:rPr>
              <a:t>get</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&lt;</a:t>
            </a:r>
            <a:r>
              <a:rPr lang="es-ES" sz="1200" b="1" i="0" u="none" strike="noStrike" kern="1200" dirty="0" err="1" smtClean="0">
                <a:solidFill>
                  <a:schemeClr val="tx1"/>
                </a:solidFill>
                <a:effectLst/>
                <a:latin typeface="+mn-lt"/>
                <a:ea typeface="+mn-ea"/>
                <a:cs typeface="+mn-cs"/>
              </a:rPr>
              <a:t>form</a:t>
            </a:r>
            <a:r>
              <a:rPr lang="es-ES" sz="1200" b="1" i="0" u="none" strike="noStrike" kern="1200" dirty="0" smtClean="0">
                <a:solidFill>
                  <a:schemeClr val="tx1"/>
                </a:solidFill>
                <a:effectLst/>
                <a:latin typeface="+mn-lt"/>
                <a:ea typeface="+mn-ea"/>
                <a:cs typeface="+mn-cs"/>
              </a:rPr>
              <a:t> </a:t>
            </a:r>
            <a:r>
              <a:rPr lang="es-ES" sz="1200" b="1" i="0" u="none" strike="noStrike" kern="1200" dirty="0" err="1" smtClean="0">
                <a:solidFill>
                  <a:schemeClr val="tx1"/>
                </a:solidFill>
                <a:effectLst/>
                <a:latin typeface="+mn-lt"/>
                <a:ea typeface="+mn-ea"/>
                <a:cs typeface="+mn-cs"/>
              </a:rPr>
              <a:t>action</a:t>
            </a:r>
            <a:r>
              <a:rPr lang="es-ES" sz="1200" b="1" i="0" u="none" strike="noStrike" kern="1200" dirty="0" smtClean="0">
                <a:solidFill>
                  <a:schemeClr val="tx1"/>
                </a:solidFill>
                <a:effectLst/>
                <a:latin typeface="+mn-lt"/>
                <a:ea typeface="+mn-ea"/>
                <a:cs typeface="+mn-cs"/>
              </a:rPr>
              <a:t>="http://www.bing.com/search" </a:t>
            </a:r>
            <a:r>
              <a:rPr lang="es-ES" sz="1200" b="1" i="0" u="none" strike="noStrike" kern="1200" dirty="0" err="1" smtClean="0">
                <a:solidFill>
                  <a:schemeClr val="tx1"/>
                </a:solidFill>
                <a:effectLst/>
                <a:latin typeface="+mn-lt"/>
                <a:ea typeface="+mn-ea"/>
                <a:cs typeface="+mn-cs"/>
              </a:rPr>
              <a:t>method</a:t>
            </a:r>
            <a:r>
              <a:rPr lang="es-ES" sz="1200" b="1" i="0" u="none" strike="noStrike" kern="1200" dirty="0" smtClean="0">
                <a:solidFill>
                  <a:schemeClr val="tx1"/>
                </a:solidFill>
                <a:effectLst/>
                <a:latin typeface="+mn-lt"/>
                <a:ea typeface="+mn-ea"/>
                <a:cs typeface="+mn-cs"/>
              </a:rPr>
              <a:t>="</a:t>
            </a:r>
            <a:r>
              <a:rPr lang="es-ES" sz="1200" b="1" i="0" u="none" strike="noStrike" kern="1200" dirty="0" err="1" smtClean="0">
                <a:solidFill>
                  <a:schemeClr val="tx1"/>
                </a:solidFill>
                <a:effectLst/>
                <a:latin typeface="+mn-lt"/>
                <a:ea typeface="+mn-ea"/>
                <a:cs typeface="+mn-cs"/>
              </a:rPr>
              <a:t>get</a:t>
            </a:r>
            <a:r>
              <a:rPr lang="es-ES" sz="1200" b="1" i="0" u="none" strike="noStrike" kern="1200" dirty="0" smtClean="0">
                <a:solidFill>
                  <a:schemeClr val="tx1"/>
                </a:solidFill>
                <a:effectLst/>
                <a:latin typeface="+mn-lt"/>
                <a:ea typeface="+mn-ea"/>
                <a:cs typeface="+mn-cs"/>
              </a:rPr>
              <a:t>"&gt;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="q"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value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&gt;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Cuando se hace un “</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de un </a:t>
            </a:r>
            <a:r>
              <a:rPr lang="es-ES" sz="1200" b="0" i="0" u="none" strike="noStrike" kern="1200" dirty="0" err="1" smtClean="0">
                <a:solidFill>
                  <a:schemeClr val="tx1"/>
                </a:solidFill>
                <a:effectLst/>
                <a:latin typeface="+mn-lt"/>
                <a:ea typeface="+mn-ea"/>
                <a:cs typeface="+mn-cs"/>
              </a:rPr>
              <a:t>form</a:t>
            </a:r>
            <a:r>
              <a:rPr lang="es-ES" sz="1200" b="0" i="0" u="none" strike="noStrike" kern="1200" dirty="0" smtClean="0">
                <a:solidFill>
                  <a:schemeClr val="tx1"/>
                </a:solidFill>
                <a:effectLst/>
                <a:latin typeface="+mn-lt"/>
                <a:ea typeface="+mn-ea"/>
                <a:cs typeface="+mn-cs"/>
              </a:rPr>
              <a:t> usando HTTP GET </a:t>
            </a:r>
            <a:r>
              <a:rPr lang="es-ES" sz="1200" b="0" i="0" u="none" strike="noStrike" kern="1200" dirty="0" err="1" smtClean="0">
                <a:solidFill>
                  <a:schemeClr val="tx1"/>
                </a:solidFill>
                <a:effectLst/>
                <a:latin typeface="+mn-lt"/>
                <a:ea typeface="+mn-ea"/>
                <a:cs typeface="+mn-cs"/>
              </a:rPr>
              <a:t>request</a:t>
            </a:r>
            <a:r>
              <a:rPr lang="es-ES" sz="1200" b="0" i="0" u="none" strike="noStrike" kern="1200" dirty="0" smtClean="0">
                <a:solidFill>
                  <a:schemeClr val="tx1"/>
                </a:solidFill>
                <a:effectLst/>
                <a:latin typeface="+mn-lt"/>
                <a:ea typeface="+mn-ea"/>
                <a:cs typeface="+mn-cs"/>
              </a:rPr>
              <a:t>, el navegador toma los nombres de los inputs y sus valores y los coloca en el </a:t>
            </a:r>
            <a:r>
              <a:rPr lang="es-ES" sz="1200" b="0" i="0" u="none" strike="noStrike" kern="1200" dirty="0" err="1" smtClean="0">
                <a:solidFill>
                  <a:schemeClr val="tx1"/>
                </a:solidFill>
                <a:effectLst/>
                <a:latin typeface="+mn-lt"/>
                <a:ea typeface="+mn-ea"/>
                <a:cs typeface="+mn-cs"/>
              </a:rPr>
              <a:t>query</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string</a:t>
            </a:r>
            <a:r>
              <a:rPr lang="es-ES" sz="1200" b="0" i="0" u="none" strike="noStrike" kern="1200" dirty="0" smtClean="0">
                <a:solidFill>
                  <a:schemeClr val="tx1"/>
                </a:solidFill>
                <a:effectLst/>
                <a:latin typeface="+mn-lt"/>
                <a:ea typeface="+mn-ea"/>
                <a:cs typeface="+mn-cs"/>
              </a:rPr>
              <a:t>. Suponiendo que esta </a:t>
            </a:r>
            <a:r>
              <a:rPr lang="es-ES" sz="1200" b="0" i="0" u="none" strike="noStrike" kern="1200" dirty="0" err="1" smtClean="0">
                <a:solidFill>
                  <a:schemeClr val="tx1"/>
                </a:solidFill>
                <a:effectLst/>
                <a:latin typeface="+mn-lt"/>
                <a:ea typeface="+mn-ea"/>
                <a:cs typeface="+mn-cs"/>
              </a:rPr>
              <a:t>bucando</a:t>
            </a:r>
            <a:r>
              <a:rPr lang="es-ES" sz="1200" b="0" i="0" u="none" strike="noStrike" kern="1200" dirty="0" smtClean="0">
                <a:solidFill>
                  <a:schemeClr val="tx1"/>
                </a:solidFill>
                <a:effectLst/>
                <a:latin typeface="+mn-lt"/>
                <a:ea typeface="+mn-ea"/>
                <a:cs typeface="+mn-cs"/>
              </a:rPr>
              <a:t> la palabra “</a:t>
            </a:r>
            <a:r>
              <a:rPr lang="es-ES" sz="1200" b="0" i="0" u="none" strike="noStrike" kern="1200" dirty="0" err="1" smtClean="0">
                <a:solidFill>
                  <a:schemeClr val="tx1"/>
                </a:solidFill>
                <a:effectLst/>
                <a:latin typeface="+mn-lt"/>
                <a:ea typeface="+mn-ea"/>
                <a:cs typeface="+mn-cs"/>
              </a:rPr>
              <a:t>love</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sng" strike="noStrike" kern="1200" dirty="0" smtClean="0">
                <a:solidFill>
                  <a:schemeClr val="tx1"/>
                </a:solidFill>
                <a:effectLst/>
                <a:latin typeface="+mn-lt"/>
                <a:ea typeface="+mn-ea"/>
                <a:cs typeface="+mn-cs"/>
                <a:hlinkClick r:id="rId5"/>
              </a:rPr>
              <a:t>http://www.bing.com/search?q=love</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GET </a:t>
            </a:r>
            <a:r>
              <a:rPr lang="es-ES" sz="1200" b="0" i="0" u="none" strike="noStrike" kern="1200" dirty="0" err="1" smtClean="0">
                <a:solidFill>
                  <a:schemeClr val="tx1"/>
                </a:solidFill>
                <a:effectLst/>
                <a:latin typeface="+mn-lt"/>
                <a:ea typeface="+mn-ea"/>
                <a:cs typeface="+mn-cs"/>
              </a:rPr>
              <a:t>request</a:t>
            </a:r>
            <a:r>
              <a:rPr lang="es-ES" sz="1200" b="0" i="0" u="none" strike="noStrike" kern="1200" dirty="0" smtClean="0">
                <a:solidFill>
                  <a:schemeClr val="tx1"/>
                </a:solidFill>
                <a:effectLst/>
                <a:latin typeface="+mn-lt"/>
                <a:ea typeface="+mn-ea"/>
                <a:cs typeface="+mn-cs"/>
              </a:rPr>
              <a:t> no cambia el estado en el servidor. Solo lectura. </a:t>
            </a:r>
            <a:endParaRPr lang="es-ES" b="0" dirty="0" smtClean="0">
              <a:effectLst/>
            </a:endParaRPr>
          </a:p>
          <a:p>
            <a:pPr rtl="0"/>
            <a:r>
              <a:rPr lang="es-ES" sz="1200" b="0" i="0" u="none" strike="noStrike" kern="1200" dirty="0" smtClean="0">
                <a:solidFill>
                  <a:schemeClr val="tx1"/>
                </a:solidFill>
                <a:effectLst/>
                <a:latin typeface="+mn-lt"/>
                <a:ea typeface="+mn-ea"/>
                <a:cs typeface="+mn-cs"/>
              </a:rPr>
              <a:t>POST </a:t>
            </a:r>
            <a:r>
              <a:rPr lang="es-ES" sz="1200" b="0" i="0" u="none" strike="noStrike" kern="1200" dirty="0" err="1" smtClean="0">
                <a:solidFill>
                  <a:schemeClr val="tx1"/>
                </a:solidFill>
                <a:effectLst/>
                <a:latin typeface="+mn-lt"/>
                <a:ea typeface="+mn-ea"/>
                <a:cs typeface="+mn-cs"/>
              </a:rPr>
              <a:t>request</a:t>
            </a:r>
            <a:r>
              <a:rPr lang="es-ES" sz="1200" b="0" i="0" u="none" strike="noStrike" kern="1200" dirty="0" smtClean="0">
                <a:solidFill>
                  <a:schemeClr val="tx1"/>
                </a:solidFill>
                <a:effectLst/>
                <a:latin typeface="+mn-lt"/>
                <a:ea typeface="+mn-ea"/>
                <a:cs typeface="+mn-cs"/>
              </a:rPr>
              <a:t> si cambia el estado. </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Las aplicaciones web normalmente utilizan GET </a:t>
            </a:r>
            <a:r>
              <a:rPr lang="es-ES" sz="1200" b="0" i="0" u="none" strike="noStrike" kern="1200" dirty="0" err="1" smtClean="0">
                <a:solidFill>
                  <a:schemeClr val="tx1"/>
                </a:solidFill>
                <a:effectLst/>
                <a:latin typeface="+mn-lt"/>
                <a:ea typeface="+mn-ea"/>
                <a:cs typeface="+mn-cs"/>
              </a:rPr>
              <a:t>requests</a:t>
            </a:r>
            <a:r>
              <a:rPr lang="es-ES" sz="1200" b="0" i="0" u="none" strike="noStrike" kern="1200" dirty="0" smtClean="0">
                <a:solidFill>
                  <a:schemeClr val="tx1"/>
                </a:solidFill>
                <a:effectLst/>
                <a:latin typeface="+mn-lt"/>
                <a:ea typeface="+mn-ea"/>
                <a:cs typeface="+mn-cs"/>
              </a:rPr>
              <a:t> para lectura y POST </a:t>
            </a:r>
            <a:r>
              <a:rPr lang="es-ES" sz="1200" b="0" i="0" u="none" strike="noStrike" kern="1200" dirty="0" err="1" smtClean="0">
                <a:solidFill>
                  <a:schemeClr val="tx1"/>
                </a:solidFill>
                <a:effectLst/>
                <a:latin typeface="+mn-lt"/>
                <a:ea typeface="+mn-ea"/>
                <a:cs typeface="+mn-cs"/>
              </a:rPr>
              <a:t>requests</a:t>
            </a:r>
            <a:r>
              <a:rPr lang="es-ES" sz="1200" b="0" i="0" u="none" strike="noStrike" kern="1200" dirty="0" smtClean="0">
                <a:solidFill>
                  <a:schemeClr val="tx1"/>
                </a:solidFill>
                <a:effectLst/>
                <a:latin typeface="+mn-lt"/>
                <a:ea typeface="+mn-ea"/>
                <a:cs typeface="+mn-cs"/>
              </a:rPr>
              <a:t> para escrituras.</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Calculando el valor del atributo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Es preferible calcular el valor del atributo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antes que tenerlo </a:t>
            </a:r>
            <a:r>
              <a:rPr lang="es-ES" sz="1200" b="0" i="0" u="none" strike="noStrike" kern="1200" dirty="0" err="1" smtClean="0">
                <a:solidFill>
                  <a:schemeClr val="tx1"/>
                </a:solidFill>
                <a:effectLst/>
                <a:latin typeface="+mn-lt"/>
                <a:ea typeface="+mn-ea"/>
                <a:cs typeface="+mn-cs"/>
              </a:rPr>
              <a:t>hardcodeado</a:t>
            </a:r>
            <a:r>
              <a:rPr lang="es-ES" sz="1200" b="0" i="0" u="none" strike="noStrike" kern="1200" dirty="0" smtClean="0">
                <a:solidFill>
                  <a:schemeClr val="tx1"/>
                </a:solidFill>
                <a:effectLst/>
                <a:latin typeface="+mn-lt"/>
                <a:ea typeface="+mn-ea"/>
                <a:cs typeface="+mn-cs"/>
              </a:rPr>
              <a:t>. Hay un HTML </a:t>
            </a:r>
            <a:r>
              <a:rPr lang="es-ES" sz="1200" b="0" i="0" u="none" strike="noStrike" kern="1200" dirty="0" err="1" smtClean="0">
                <a:solidFill>
                  <a:schemeClr val="tx1"/>
                </a:solidFill>
                <a:effectLst/>
                <a:latin typeface="+mn-lt"/>
                <a:ea typeface="+mn-ea"/>
                <a:cs typeface="+mn-cs"/>
              </a:rPr>
              <a:t>helper</a:t>
            </a:r>
            <a:r>
              <a:rPr lang="es-ES" sz="1200" b="0" i="0" u="none" strike="noStrike" kern="1200" dirty="0" smtClean="0">
                <a:solidFill>
                  <a:schemeClr val="tx1"/>
                </a:solidFill>
                <a:effectLst/>
                <a:latin typeface="+mn-lt"/>
                <a:ea typeface="+mn-ea"/>
                <a:cs typeface="+mn-cs"/>
              </a:rPr>
              <a:t> que realiza el calculo por nosotros:</a:t>
            </a:r>
            <a:endParaRPr lang="es-ES" b="0" dirty="0" smtClean="0">
              <a:effectLst/>
            </a:endParaRPr>
          </a:p>
          <a:p>
            <a:pPr rtl="0"/>
            <a:r>
              <a:rPr lang="es-ES" b="0" dirty="0" smtClean="0">
                <a:effectLst/>
              </a:rPr>
              <a:t/>
            </a:r>
            <a:br>
              <a:rPr lang="es-ES" b="0" dirty="0" smtClean="0">
                <a:effectLst/>
              </a:rPr>
            </a:br>
            <a:r>
              <a:rPr lang="es-ES" sz="1200" b="1" i="0" u="none" strike="noStrike" kern="1200" dirty="0" smtClean="0">
                <a:solidFill>
                  <a:schemeClr val="tx1"/>
                </a:solidFill>
                <a:effectLst/>
                <a:latin typeface="+mn-lt"/>
                <a:ea typeface="+mn-ea"/>
                <a:cs typeface="+mn-cs"/>
              </a:rPr>
              <a:t>@</a:t>
            </a:r>
            <a:r>
              <a:rPr lang="es-ES" sz="1200" b="1" i="0" u="none" strike="noStrike" kern="1200" dirty="0" err="1" smtClean="0">
                <a:solidFill>
                  <a:schemeClr val="tx1"/>
                </a:solidFill>
                <a:effectLst/>
                <a:latin typeface="+mn-lt"/>
                <a:ea typeface="+mn-ea"/>
                <a:cs typeface="+mn-cs"/>
              </a:rPr>
              <a:t>using</a:t>
            </a:r>
            <a:r>
              <a:rPr lang="es-ES" sz="1200" b="1" i="0" u="none" strike="noStrike" kern="1200" dirty="0" smtClean="0">
                <a:solidFill>
                  <a:schemeClr val="tx1"/>
                </a:solidFill>
                <a:effectLst/>
                <a:latin typeface="+mn-lt"/>
                <a:ea typeface="+mn-ea"/>
                <a:cs typeface="+mn-cs"/>
              </a:rPr>
              <a:t> (</a:t>
            </a:r>
            <a:r>
              <a:rPr lang="es-ES" sz="1200" b="1" i="0" u="none" strike="noStrike" kern="1200" dirty="0" err="1" smtClean="0">
                <a:solidFill>
                  <a:schemeClr val="tx1"/>
                </a:solidFill>
                <a:effectLst/>
                <a:latin typeface="+mn-lt"/>
                <a:ea typeface="+mn-ea"/>
                <a:cs typeface="+mn-cs"/>
              </a:rPr>
              <a:t>Html.BeginForm</a:t>
            </a:r>
            <a:r>
              <a:rPr lang="es-ES" sz="1200" b="1" i="0" u="none" strike="noStrike" kern="1200" dirty="0" smtClean="0">
                <a:solidFill>
                  <a:schemeClr val="tx1"/>
                </a:solidFill>
                <a:effectLst/>
                <a:latin typeface="+mn-lt"/>
                <a:ea typeface="+mn-ea"/>
                <a:cs typeface="+mn-cs"/>
              </a:rPr>
              <a:t>("</a:t>
            </a:r>
            <a:r>
              <a:rPr lang="es-ES" sz="1200" b="1" i="0" u="none" strike="noStrike" kern="1200" dirty="0" err="1" smtClean="0">
                <a:solidFill>
                  <a:schemeClr val="tx1"/>
                </a:solidFill>
                <a:effectLst/>
                <a:latin typeface="+mn-lt"/>
                <a:ea typeface="+mn-ea"/>
                <a:cs typeface="+mn-cs"/>
              </a:rPr>
              <a:t>Search</a:t>
            </a:r>
            <a:r>
              <a:rPr lang="es-ES" sz="1200" b="1" i="0" u="none" strike="noStrike" kern="1200" dirty="0" smtClean="0">
                <a:solidFill>
                  <a:schemeClr val="tx1"/>
                </a:solidFill>
                <a:effectLst/>
                <a:latin typeface="+mn-lt"/>
                <a:ea typeface="+mn-ea"/>
                <a:cs typeface="+mn-cs"/>
              </a:rPr>
              <a:t>", "Home", </a:t>
            </a:r>
            <a:r>
              <a:rPr lang="es-ES" sz="1200" b="1" i="0" u="none" strike="noStrike" kern="1200" dirty="0" err="1" smtClean="0">
                <a:solidFill>
                  <a:schemeClr val="tx1"/>
                </a:solidFill>
                <a:effectLst/>
                <a:latin typeface="+mn-lt"/>
                <a:ea typeface="+mn-ea"/>
                <a:cs typeface="+mn-cs"/>
              </a:rPr>
              <a:t>FormMethod.Get</a:t>
            </a:r>
            <a:r>
              <a:rPr lang="es-ES" sz="1200" b="1" i="0" u="none" strike="noStrike" kern="1200" dirty="0" smtClean="0">
                <a:solidFill>
                  <a:schemeClr val="tx1"/>
                </a:solidFill>
                <a:effectLst/>
                <a:latin typeface="+mn-lt"/>
                <a:ea typeface="+mn-ea"/>
                <a:cs typeface="+mn-cs"/>
              </a:rPr>
              <a:t>)) {</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="q" /&gt;</a:t>
            </a:r>
            <a:endParaRPr lang="es-ES" b="0" dirty="0" smtClean="0">
              <a:effectLst/>
            </a:endParaRPr>
          </a:p>
          <a:p>
            <a:pPr rtl="0"/>
            <a:r>
              <a:rPr lang="es-ES" sz="1200" b="0" i="0" u="none" strike="noStrike" kern="1200" dirty="0" smtClean="0">
                <a:solidFill>
                  <a:schemeClr val="tx1"/>
                </a:solidFill>
                <a:effectLst/>
                <a:latin typeface="+mn-lt"/>
                <a:ea typeface="+mn-ea"/>
                <a:cs typeface="+mn-cs"/>
              </a:rPr>
              <a:t>&lt;input </a:t>
            </a:r>
            <a:r>
              <a:rPr lang="es-ES" sz="1200" b="0" i="0" u="none" strike="noStrike" kern="1200" dirty="0" err="1" smtClean="0">
                <a:solidFill>
                  <a:schemeClr val="tx1"/>
                </a:solidFill>
                <a:effectLst/>
                <a:latin typeface="+mn-lt"/>
                <a:ea typeface="+mn-ea"/>
                <a:cs typeface="+mn-cs"/>
              </a:rPr>
              <a:t>type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submit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value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/&gt;</a:t>
            </a:r>
            <a:endParaRPr lang="es-ES" b="0" dirty="0" smtClean="0">
              <a:effectLst/>
            </a:endParaRPr>
          </a:p>
          <a:p>
            <a:pPr rtl="0"/>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El HTML </a:t>
            </a:r>
            <a:r>
              <a:rPr lang="es-ES" sz="1200" b="0" i="0" u="none" strike="noStrike" kern="1200" dirty="0" err="1" smtClean="0">
                <a:solidFill>
                  <a:schemeClr val="tx1"/>
                </a:solidFill>
                <a:effectLst/>
                <a:latin typeface="+mn-lt"/>
                <a:ea typeface="+mn-ea"/>
                <a:cs typeface="+mn-cs"/>
              </a:rPr>
              <a:t>helper</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BeginForm</a:t>
            </a:r>
            <a:r>
              <a:rPr lang="es-ES" sz="1200" b="0" i="0" u="none" strike="noStrike" kern="1200" dirty="0" smtClean="0">
                <a:solidFill>
                  <a:schemeClr val="tx1"/>
                </a:solidFill>
                <a:effectLst/>
                <a:latin typeface="+mn-lt"/>
                <a:ea typeface="+mn-ea"/>
                <a:cs typeface="+mn-cs"/>
              </a:rPr>
              <a:t> le pregunta al motor de </a:t>
            </a:r>
            <a:r>
              <a:rPr lang="es-ES" sz="1200" b="0" i="0" u="none" strike="noStrike" kern="1200" dirty="0" err="1" smtClean="0">
                <a:solidFill>
                  <a:schemeClr val="tx1"/>
                </a:solidFill>
                <a:effectLst/>
                <a:latin typeface="+mn-lt"/>
                <a:ea typeface="+mn-ea"/>
                <a:cs typeface="+mn-cs"/>
              </a:rPr>
              <a:t>routing</a:t>
            </a:r>
            <a:r>
              <a:rPr lang="es-ES" sz="1200" b="0" i="0" u="none" strike="noStrike" kern="1200" dirty="0" smtClean="0">
                <a:solidFill>
                  <a:schemeClr val="tx1"/>
                </a:solidFill>
                <a:effectLst/>
                <a:latin typeface="+mn-lt"/>
                <a:ea typeface="+mn-ea"/>
                <a:cs typeface="+mn-cs"/>
              </a:rPr>
              <a:t> como llegar a la </a:t>
            </a:r>
            <a:r>
              <a:rPr lang="es-ES" sz="1200" b="0" i="0" u="none" strike="noStrike" kern="1200" dirty="0" err="1" smtClean="0">
                <a:solidFill>
                  <a:schemeClr val="tx1"/>
                </a:solidFill>
                <a:effectLst/>
                <a:latin typeface="+mn-lt"/>
                <a:ea typeface="+mn-ea"/>
                <a:cs typeface="+mn-cs"/>
              </a:rPr>
              <a:t>accion</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action</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method</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Search</a:t>
            </a:r>
            <a:r>
              <a:rPr lang="es-ES" sz="1200" b="0" i="0" u="none" strike="noStrike" kern="1200" dirty="0" smtClean="0">
                <a:solidFill>
                  <a:schemeClr val="tx1"/>
                </a:solidFill>
                <a:effectLst/>
                <a:latin typeface="+mn-lt"/>
                <a:ea typeface="+mn-ea"/>
                <a:cs typeface="+mn-cs"/>
              </a:rPr>
              <a:t> del </a:t>
            </a:r>
            <a:r>
              <a:rPr lang="es-ES" sz="1200" b="0" i="0" u="none" strike="noStrike" kern="1200" dirty="0" err="1" smtClean="0">
                <a:solidFill>
                  <a:schemeClr val="tx1"/>
                </a:solidFill>
                <a:effectLst/>
                <a:latin typeface="+mn-lt"/>
                <a:ea typeface="+mn-ea"/>
                <a:cs typeface="+mn-cs"/>
              </a:rPr>
              <a:t>HomeController</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1" i="0" u="sng" kern="1200" dirty="0" smtClean="0">
                <a:solidFill>
                  <a:schemeClr val="tx1"/>
                </a:solidFill>
                <a:effectLst/>
                <a:latin typeface="+mn-lt"/>
                <a:ea typeface="+mn-ea"/>
                <a:cs typeface="+mn-cs"/>
              </a:rPr>
              <a:t>HTML </a:t>
            </a:r>
            <a:r>
              <a:rPr lang="es-ES" sz="1200" b="1" i="0" u="sng" kern="1200" dirty="0" err="1" smtClean="0">
                <a:solidFill>
                  <a:schemeClr val="tx1"/>
                </a:solidFill>
                <a:effectLst/>
                <a:latin typeface="+mn-lt"/>
                <a:ea typeface="+mn-ea"/>
                <a:cs typeface="+mn-cs"/>
              </a:rPr>
              <a:t>Helpers</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Son métodos que se pueden invocar en la propiedad </a:t>
            </a:r>
            <a:r>
              <a:rPr lang="es-ES" sz="1200" b="1" i="0" u="none" strike="noStrike" kern="1200" dirty="0" err="1" smtClean="0">
                <a:solidFill>
                  <a:schemeClr val="tx1"/>
                </a:solidFill>
                <a:effectLst/>
                <a:latin typeface="+mn-lt"/>
                <a:ea typeface="+mn-ea"/>
                <a:cs typeface="+mn-cs"/>
              </a:rPr>
              <a:t>Html</a:t>
            </a:r>
            <a:r>
              <a:rPr lang="es-ES" sz="1200" b="1" i="0" u="none" strike="noStrike" kern="1200" dirty="0" smtClean="0">
                <a:solidFill>
                  <a:schemeClr val="tx1"/>
                </a:solidFill>
                <a:effectLst/>
                <a:latin typeface="+mn-lt"/>
                <a:ea typeface="+mn-ea"/>
                <a:cs typeface="+mn-cs"/>
              </a:rPr>
              <a:t> </a:t>
            </a:r>
            <a:r>
              <a:rPr lang="es-ES" sz="1200" b="0" i="0" u="none" strike="noStrike" kern="1200" dirty="0" smtClean="0">
                <a:solidFill>
                  <a:schemeClr val="tx1"/>
                </a:solidFill>
                <a:effectLst/>
                <a:latin typeface="+mn-lt"/>
                <a:ea typeface="+mn-ea"/>
                <a:cs typeface="+mn-cs"/>
              </a:rPr>
              <a:t>de la Vista. También se puede acceder a URL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(a través de la propiedad </a:t>
            </a:r>
            <a:r>
              <a:rPr lang="es-ES" sz="1200" b="0" i="0" u="none" strike="noStrike" kern="1200" dirty="0" err="1" smtClean="0">
                <a:solidFill>
                  <a:schemeClr val="tx1"/>
                </a:solidFill>
                <a:effectLst/>
                <a:latin typeface="+mn-lt"/>
                <a:ea typeface="+mn-ea"/>
                <a:cs typeface="+mn-cs"/>
              </a:rPr>
              <a:t>Url</a:t>
            </a:r>
            <a:r>
              <a:rPr lang="es-ES" sz="1200" b="0" i="0" u="none" strike="noStrike" kern="1200" dirty="0" smtClean="0">
                <a:solidFill>
                  <a:schemeClr val="tx1"/>
                </a:solidFill>
                <a:effectLst/>
                <a:latin typeface="+mn-lt"/>
                <a:ea typeface="+mn-ea"/>
                <a:cs typeface="+mn-cs"/>
              </a:rPr>
              <a:t>) y Ajax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(a través de la propiedad  Ajax). El </a:t>
            </a:r>
            <a:r>
              <a:rPr lang="es-ES" sz="1200" b="0" i="0" u="none" strike="noStrike" kern="1200" dirty="0" err="1" smtClean="0">
                <a:solidFill>
                  <a:schemeClr val="tx1"/>
                </a:solidFill>
                <a:effectLst/>
                <a:latin typeface="+mn-lt"/>
                <a:ea typeface="+mn-ea"/>
                <a:cs typeface="+mn-cs"/>
              </a:rPr>
              <a:t>proposito</a:t>
            </a:r>
            <a:r>
              <a:rPr lang="es-ES" sz="1200" b="0" i="0" u="none" strike="noStrike" kern="1200" dirty="0" smtClean="0">
                <a:solidFill>
                  <a:schemeClr val="tx1"/>
                </a:solidFill>
                <a:effectLst/>
                <a:latin typeface="+mn-lt"/>
                <a:ea typeface="+mn-ea"/>
                <a:cs typeface="+mn-cs"/>
              </a:rPr>
              <a:t> de estos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es hacer las Vistas más fáciles al desarrollador. El URL </a:t>
            </a:r>
            <a:r>
              <a:rPr lang="es-ES" sz="1200" b="0" i="0" u="none" strike="noStrike" kern="1200" dirty="0" err="1" smtClean="0">
                <a:solidFill>
                  <a:schemeClr val="tx1"/>
                </a:solidFill>
                <a:effectLst/>
                <a:latin typeface="+mn-lt"/>
                <a:ea typeface="+mn-ea"/>
                <a:cs typeface="+mn-cs"/>
              </a:rPr>
              <a:t>helper</a:t>
            </a:r>
            <a:r>
              <a:rPr lang="es-ES" sz="1200" b="0" i="0" u="none" strike="noStrike" kern="1200" dirty="0" smtClean="0">
                <a:solidFill>
                  <a:schemeClr val="tx1"/>
                </a:solidFill>
                <a:effectLst/>
                <a:latin typeface="+mn-lt"/>
                <a:ea typeface="+mn-ea"/>
                <a:cs typeface="+mn-cs"/>
              </a:rPr>
              <a:t> también está disponible dentro de los </a:t>
            </a:r>
            <a:r>
              <a:rPr lang="es-ES" sz="1200" b="0" i="0" u="none" strike="noStrike" kern="1200" dirty="0" err="1" smtClean="0">
                <a:solidFill>
                  <a:schemeClr val="tx1"/>
                </a:solidFill>
                <a:effectLst/>
                <a:latin typeface="+mn-lt"/>
                <a:ea typeface="+mn-ea"/>
                <a:cs typeface="+mn-cs"/>
              </a:rPr>
              <a:t>Controllers</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sz="1200" b="0" i="0" u="none" strike="noStrike" kern="1200" dirty="0" smtClean="0">
                <a:solidFill>
                  <a:schemeClr val="tx1"/>
                </a:solidFill>
                <a:effectLst/>
                <a:latin typeface="+mn-lt"/>
                <a:ea typeface="+mn-ea"/>
                <a:cs typeface="+mn-cs"/>
              </a:rPr>
              <a:t>La mayoría de los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particularmente los HTML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producen </a:t>
            </a:r>
            <a:r>
              <a:rPr lang="es-ES" sz="1200" b="0" i="0" u="none" strike="noStrike" kern="1200" dirty="0" err="1" smtClean="0">
                <a:solidFill>
                  <a:schemeClr val="tx1"/>
                </a:solidFill>
                <a:effectLst/>
                <a:latin typeface="+mn-lt"/>
                <a:ea typeface="+mn-ea"/>
                <a:cs typeface="+mn-cs"/>
              </a:rPr>
              <a:t>codigo</a:t>
            </a:r>
            <a:r>
              <a:rPr lang="es-ES" sz="1200" b="0" i="0" u="none" strike="noStrike" kern="1200" dirty="0" smtClean="0">
                <a:solidFill>
                  <a:schemeClr val="tx1"/>
                </a:solidFill>
                <a:effectLst/>
                <a:latin typeface="+mn-lt"/>
                <a:ea typeface="+mn-ea"/>
                <a:cs typeface="+mn-cs"/>
              </a:rPr>
              <a:t> HTML.</a:t>
            </a:r>
            <a:endParaRPr lang="es-ES" b="0" dirty="0" smtClean="0">
              <a:effectLst/>
            </a:endParaRPr>
          </a:p>
          <a:p>
            <a:pPr rtl="0"/>
            <a:r>
              <a:rPr lang="es-ES" b="0" dirty="0" smtClean="0">
                <a:effectLst/>
              </a:rPr>
              <a:t/>
            </a:r>
            <a:br>
              <a:rPr lang="es-ES" b="0" dirty="0" smtClean="0">
                <a:effectLst/>
              </a:rPr>
            </a:br>
            <a:r>
              <a:rPr lang="es-ES" sz="1200" b="1" i="0" u="none" strike="noStrike" kern="1200" dirty="0" err="1" smtClean="0">
                <a:solidFill>
                  <a:schemeClr val="tx1"/>
                </a:solidFill>
                <a:effectLst/>
                <a:latin typeface="+mn-lt"/>
                <a:ea typeface="+mn-ea"/>
                <a:cs typeface="+mn-cs"/>
              </a:rPr>
              <a:t>Encoding</a:t>
            </a:r>
            <a:r>
              <a:rPr lang="es-ES" sz="1200" b="1" i="0" u="none" strike="noStrike" kern="1200" dirty="0" smtClean="0">
                <a:solidFill>
                  <a:schemeClr val="tx1"/>
                </a:solidFill>
                <a:effectLst/>
                <a:latin typeface="+mn-lt"/>
                <a:ea typeface="+mn-ea"/>
                <a:cs typeface="+mn-cs"/>
              </a:rPr>
              <a:t> </a:t>
            </a:r>
            <a:r>
              <a:rPr lang="es-ES" sz="1200" b="1" i="0" u="none" strike="noStrike" kern="1200" dirty="0" err="1" smtClean="0">
                <a:solidFill>
                  <a:schemeClr val="tx1"/>
                </a:solidFill>
                <a:effectLst/>
                <a:latin typeface="+mn-lt"/>
                <a:ea typeface="+mn-ea"/>
                <a:cs typeface="+mn-cs"/>
              </a:rPr>
              <a:t>automatico</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Mucho de los HTML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son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que usamos para mostrar valores correspondientes al modelo. Estos son </a:t>
            </a:r>
            <a:r>
              <a:rPr lang="es-ES" sz="1200" b="0" i="0" u="none" strike="noStrike" kern="1200" dirty="0" err="1" smtClean="0">
                <a:solidFill>
                  <a:schemeClr val="tx1"/>
                </a:solidFill>
                <a:effectLst/>
                <a:latin typeface="+mn-lt"/>
                <a:ea typeface="+mn-ea"/>
                <a:cs typeface="+mn-cs"/>
              </a:rPr>
              <a:t>encodeados</a:t>
            </a:r>
            <a:r>
              <a:rPr lang="es-ES" sz="1200" b="0" i="0" u="none" strike="noStrike" kern="1200" dirty="0" smtClean="0">
                <a:solidFill>
                  <a:schemeClr val="tx1"/>
                </a:solidFill>
                <a:effectLst/>
                <a:latin typeface="+mn-lt"/>
                <a:ea typeface="+mn-ea"/>
                <a:cs typeface="+mn-cs"/>
              </a:rPr>
              <a:t> antes de ser </a:t>
            </a:r>
            <a:r>
              <a:rPr lang="es-ES" sz="1200" b="0" i="0" u="none" strike="noStrike" kern="1200" dirty="0" err="1" smtClean="0">
                <a:solidFill>
                  <a:schemeClr val="tx1"/>
                </a:solidFill>
                <a:effectLst/>
                <a:latin typeface="+mn-lt"/>
                <a:ea typeface="+mn-ea"/>
                <a:cs typeface="+mn-cs"/>
              </a:rPr>
              <a:t>renderizados</a:t>
            </a:r>
            <a:r>
              <a:rPr lang="es-ES" sz="1200" b="0" i="0" u="none" strike="noStrike" kern="1200" dirty="0" smtClean="0">
                <a:solidFill>
                  <a:schemeClr val="tx1"/>
                </a:solidFill>
                <a:effectLst/>
                <a:latin typeface="+mn-lt"/>
                <a:ea typeface="+mn-ea"/>
                <a:cs typeface="+mn-cs"/>
              </a:rPr>
              <a:t>.  </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Html.TextArea</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hello</a:t>
            </a:r>
            <a:r>
              <a:rPr lang="es-ES" sz="1200" b="0" i="0" u="none" strike="noStrike" kern="1200" dirty="0" smtClean="0">
                <a:solidFill>
                  <a:schemeClr val="tx1"/>
                </a:solidFill>
                <a:effectLst/>
                <a:latin typeface="+mn-lt"/>
                <a:ea typeface="+mn-ea"/>
                <a:cs typeface="+mn-cs"/>
              </a:rPr>
              <a:t> </a:t>
            </a:r>
            <a:r>
              <a:rPr lang="es-ES" sz="1200" b="1" i="0" u="none" strike="noStrike" kern="1200" dirty="0" smtClean="0">
                <a:solidFill>
                  <a:schemeClr val="tx1"/>
                </a:solidFill>
                <a:effectLst/>
                <a:latin typeface="+mn-lt"/>
                <a:ea typeface="+mn-ea"/>
                <a:cs typeface="+mn-cs"/>
              </a:rPr>
              <a:t>&lt;</a:t>
            </a:r>
            <a:r>
              <a:rPr lang="es-ES" sz="1200" b="1" i="0" u="none" strike="noStrike" kern="1200" dirty="0" err="1" smtClean="0">
                <a:solidFill>
                  <a:schemeClr val="tx1"/>
                </a:solidFill>
                <a:effectLst/>
                <a:latin typeface="+mn-lt"/>
                <a:ea typeface="+mn-ea"/>
                <a:cs typeface="+mn-cs"/>
              </a:rPr>
              <a:t>br</a:t>
            </a:r>
            <a:r>
              <a:rPr lang="es-ES" sz="1200" b="1" i="0" u="none" strike="noStrike" kern="1200" dirty="0" smtClean="0">
                <a:solidFill>
                  <a:schemeClr val="tx1"/>
                </a:solidFill>
                <a:effectLst/>
                <a:latin typeface="+mn-lt"/>
                <a:ea typeface="+mn-ea"/>
                <a:cs typeface="+mn-cs"/>
              </a:rPr>
              <a:t>/&gt;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world</a:t>
            </a:r>
            <a:r>
              <a:rPr lang="es-ES" sz="1200" b="0" i="0" u="none" strike="noStrike" kern="1200" dirty="0" smtClean="0">
                <a:solidFill>
                  <a:schemeClr val="tx1"/>
                </a:solidFill>
                <a:effectLst/>
                <a:latin typeface="+mn-lt"/>
                <a:ea typeface="+mn-ea"/>
                <a:cs typeface="+mn-cs"/>
              </a:rPr>
              <a:t>")</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el segundo parámetro es el valor a mostrar.</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Código HTML producido:</a:t>
            </a:r>
            <a:endParaRPr lang="es-ES" b="0" dirty="0" smtClean="0">
              <a:effectLst/>
            </a:endParaRPr>
          </a:p>
          <a:p>
            <a:pPr rtl="0"/>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textarea</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cols</a:t>
            </a:r>
            <a:r>
              <a:rPr lang="es-ES" sz="1200" b="0" i="0" u="none" strike="noStrike" kern="1200" dirty="0" smtClean="0">
                <a:solidFill>
                  <a:schemeClr val="tx1"/>
                </a:solidFill>
                <a:effectLst/>
                <a:latin typeface="+mn-lt"/>
                <a:ea typeface="+mn-ea"/>
                <a:cs typeface="+mn-cs"/>
              </a:rPr>
              <a:t>="20" id="</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name</a:t>
            </a:r>
            <a:r>
              <a:rPr lang="es-ES" sz="1200" b="0" i="0" u="none" strike="noStrike" kern="1200" dirty="0" smtClean="0">
                <a:solidFill>
                  <a:schemeClr val="tx1"/>
                </a:solidFill>
                <a:effectLst/>
                <a:latin typeface="+mn-lt"/>
                <a:ea typeface="+mn-ea"/>
                <a:cs typeface="+mn-cs"/>
              </a:rPr>
              <a:t>="</a:t>
            </a:r>
            <a:r>
              <a:rPr lang="es-ES" sz="1200" b="0" i="0" u="none" strike="noStrike" kern="1200" dirty="0" err="1" smtClean="0">
                <a:solidFill>
                  <a:schemeClr val="tx1"/>
                </a:solidFill>
                <a:effectLst/>
                <a:latin typeface="+mn-lt"/>
                <a:ea typeface="+mn-ea"/>
                <a:cs typeface="+mn-cs"/>
              </a:rPr>
              <a:t>text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rows</a:t>
            </a:r>
            <a:r>
              <a:rPr lang="es-ES" sz="1200" b="0" i="0" u="none" strike="noStrike" kern="1200" dirty="0" smtClean="0">
                <a:solidFill>
                  <a:schemeClr val="tx1"/>
                </a:solidFill>
                <a:effectLst/>
                <a:latin typeface="+mn-lt"/>
                <a:ea typeface="+mn-ea"/>
                <a:cs typeface="+mn-cs"/>
              </a:rPr>
              <a:t>="2"&gt;</a:t>
            </a:r>
            <a:endParaRPr lang="es-ES" b="0" dirty="0" smtClean="0">
              <a:effectLst/>
            </a:endParaRPr>
          </a:p>
          <a:p>
            <a:pPr rtl="0"/>
            <a:r>
              <a:rPr lang="es-ES" sz="1200" b="0" i="0" u="none" strike="noStrike" kern="1200" dirty="0" err="1" smtClean="0">
                <a:solidFill>
                  <a:schemeClr val="tx1"/>
                </a:solidFill>
                <a:effectLst/>
                <a:latin typeface="+mn-lt"/>
                <a:ea typeface="+mn-ea"/>
                <a:cs typeface="+mn-cs"/>
              </a:rPr>
              <a:t>hello</a:t>
            </a:r>
            <a:r>
              <a:rPr lang="es-ES" sz="1200" b="0" i="0" u="none" strike="noStrike" kern="1200" dirty="0" smtClean="0">
                <a:solidFill>
                  <a:schemeClr val="tx1"/>
                </a:solidFill>
                <a:effectLst/>
                <a:latin typeface="+mn-lt"/>
                <a:ea typeface="+mn-ea"/>
                <a:cs typeface="+mn-cs"/>
              </a:rPr>
              <a:t>  </a:t>
            </a:r>
            <a:r>
              <a:rPr lang="es-ES" sz="1200" b="1" i="0" u="none" strike="noStrike" kern="1200" dirty="0" smtClean="0">
                <a:solidFill>
                  <a:schemeClr val="tx1"/>
                </a:solidFill>
                <a:effectLst/>
                <a:latin typeface="+mn-lt"/>
                <a:ea typeface="+mn-ea"/>
                <a:cs typeface="+mn-cs"/>
              </a:rPr>
              <a:t>&amp;</a:t>
            </a:r>
            <a:r>
              <a:rPr lang="es-ES" sz="1200" b="1" i="0" u="none" strike="noStrike" kern="1200" dirty="0" err="1" smtClean="0">
                <a:solidFill>
                  <a:schemeClr val="tx1"/>
                </a:solidFill>
                <a:effectLst/>
                <a:latin typeface="+mn-lt"/>
                <a:ea typeface="+mn-ea"/>
                <a:cs typeface="+mn-cs"/>
              </a:rPr>
              <a:t>lt;br</a:t>
            </a:r>
            <a:r>
              <a:rPr lang="es-ES" sz="1200" b="1" i="0" u="none" strike="noStrike" kern="1200" dirty="0" smtClean="0">
                <a:solidFill>
                  <a:schemeClr val="tx1"/>
                </a:solidFill>
                <a:effectLst/>
                <a:latin typeface="+mn-lt"/>
                <a:ea typeface="+mn-ea"/>
                <a:cs typeface="+mn-cs"/>
              </a:rPr>
              <a:t> /&amp;</a:t>
            </a:r>
            <a:r>
              <a:rPr lang="es-ES" sz="1200" b="1" i="0" u="none" strike="noStrike" kern="1200" dirty="0" err="1" smtClean="0">
                <a:solidFill>
                  <a:schemeClr val="tx1"/>
                </a:solidFill>
                <a:effectLst/>
                <a:latin typeface="+mn-lt"/>
                <a:ea typeface="+mn-ea"/>
                <a:cs typeface="+mn-cs"/>
              </a:rPr>
              <a:t>gt</a:t>
            </a:r>
            <a:r>
              <a:rPr lang="es-ES" sz="1200" b="1" i="0" u="none" strike="noStrike" kern="1200" dirty="0" smtClean="0">
                <a:solidFill>
                  <a:schemeClr val="tx1"/>
                </a:solidFill>
                <a:effectLst/>
                <a:latin typeface="+mn-lt"/>
                <a:ea typeface="+mn-ea"/>
                <a:cs typeface="+mn-cs"/>
              </a:rPr>
              <a:t>;</a:t>
            </a:r>
            <a:r>
              <a:rPr lang="es-ES" sz="1200" b="0" i="0" u="none" strike="noStrike" kern="1200" dirty="0" smtClean="0">
                <a:solidFill>
                  <a:schemeClr val="tx1"/>
                </a:solidFill>
                <a:effectLst/>
                <a:latin typeface="+mn-lt"/>
                <a:ea typeface="+mn-ea"/>
                <a:cs typeface="+mn-cs"/>
              </a:rPr>
              <a:t> </a:t>
            </a:r>
            <a:r>
              <a:rPr lang="es-ES" sz="1200" b="0" i="0" u="none" strike="noStrike" kern="1200" dirty="0" err="1" smtClean="0">
                <a:solidFill>
                  <a:schemeClr val="tx1"/>
                </a:solidFill>
                <a:effectLst/>
                <a:latin typeface="+mn-lt"/>
                <a:ea typeface="+mn-ea"/>
                <a:cs typeface="+mn-cs"/>
              </a:rPr>
              <a:t>world</a:t>
            </a:r>
            <a:endParaRPr lang="es-ES" b="0" dirty="0" smtClean="0">
              <a:effectLst/>
            </a:endParaRPr>
          </a:p>
          <a:p>
            <a:pPr rtl="0"/>
            <a:r>
              <a:rPr lang="es-ES" sz="1200" b="0" i="0" u="none" strike="noStrike" kern="1200" dirty="0" smtClean="0">
                <a:solidFill>
                  <a:schemeClr val="tx1"/>
                </a:solidFill>
                <a:effectLst/>
                <a:latin typeface="+mn-lt"/>
                <a:ea typeface="+mn-ea"/>
                <a:cs typeface="+mn-cs"/>
              </a:rPr>
              <a:t>&lt;/</a:t>
            </a:r>
            <a:r>
              <a:rPr lang="es-ES" sz="1200" b="0" i="0" u="none" strike="noStrike" kern="1200" dirty="0" err="1" smtClean="0">
                <a:solidFill>
                  <a:schemeClr val="tx1"/>
                </a:solidFill>
                <a:effectLst/>
                <a:latin typeface="+mn-lt"/>
                <a:ea typeface="+mn-ea"/>
                <a:cs typeface="+mn-cs"/>
              </a:rPr>
              <a:t>textarea</a:t>
            </a:r>
            <a:r>
              <a:rPr lang="es-ES" sz="1200" b="0" i="0" u="none" strike="noStrike" kern="1200" dirty="0" smtClean="0">
                <a:solidFill>
                  <a:schemeClr val="tx1"/>
                </a:solidFill>
                <a:effectLst/>
                <a:latin typeface="+mn-lt"/>
                <a:ea typeface="+mn-ea"/>
                <a:cs typeface="+mn-cs"/>
              </a:rPr>
              <a:t>&gt;</a:t>
            </a:r>
            <a:endParaRPr lang="es-ES" b="0" dirty="0" smtClean="0">
              <a:effectLst/>
            </a:endParaRPr>
          </a:p>
          <a:p>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Esto permite evitar Cross-</a:t>
            </a:r>
            <a:r>
              <a:rPr lang="es-ES" sz="1200" b="0" i="0" u="none" strike="noStrike" kern="1200" dirty="0" err="1" smtClean="0">
                <a:solidFill>
                  <a:schemeClr val="tx1"/>
                </a:solidFill>
                <a:effectLst/>
                <a:latin typeface="+mn-lt"/>
                <a:ea typeface="+mn-ea"/>
                <a:cs typeface="+mn-cs"/>
              </a:rPr>
              <a:t>site</a:t>
            </a:r>
            <a:r>
              <a:rPr lang="es-ES" sz="1200" b="0" i="0" u="none" strike="noStrike" kern="1200" dirty="0" smtClean="0">
                <a:solidFill>
                  <a:schemeClr val="tx1"/>
                </a:solidFill>
                <a:effectLst/>
                <a:latin typeface="+mn-lt"/>
                <a:ea typeface="+mn-ea"/>
                <a:cs typeface="+mn-cs"/>
              </a:rPr>
              <a:t> scripting </a:t>
            </a:r>
            <a:r>
              <a:rPr lang="es-ES" sz="1200" b="0" i="0" u="none" strike="noStrike" kern="1200" dirty="0" err="1" smtClean="0">
                <a:solidFill>
                  <a:schemeClr val="tx1"/>
                </a:solidFill>
                <a:effectLst/>
                <a:latin typeface="+mn-lt"/>
                <a:ea typeface="+mn-ea"/>
                <a:cs typeface="+mn-cs"/>
              </a:rPr>
              <a:t>attacks</a:t>
            </a:r>
            <a:r>
              <a:rPr lang="es-ES" sz="1200" b="0" i="0" u="none" strike="noStrike" kern="1200" dirty="0" smtClean="0">
                <a:solidFill>
                  <a:schemeClr val="tx1"/>
                </a:solidFill>
                <a:effectLst/>
                <a:latin typeface="+mn-lt"/>
                <a:ea typeface="+mn-ea"/>
                <a:cs typeface="+mn-cs"/>
              </a:rPr>
              <a:t> (XSS).</a:t>
            </a:r>
          </a:p>
          <a:p>
            <a:pPr rtl="0"/>
            <a:r>
              <a:rPr lang="es-ES" b="0" dirty="0" smtClean="0">
                <a:effectLst/>
              </a:rPr>
              <a:t/>
            </a:r>
            <a:br>
              <a:rPr lang="es-ES" b="0" dirty="0" smtClean="0">
                <a:effectLst/>
              </a:rPr>
            </a:br>
            <a:r>
              <a:rPr lang="es-ES" sz="1200" b="1" i="0" u="none" strike="noStrike" kern="1200" dirty="0" err="1" smtClean="0">
                <a:solidFill>
                  <a:schemeClr val="tx1"/>
                </a:solidFill>
                <a:effectLst/>
                <a:latin typeface="+mn-lt"/>
                <a:ea typeface="+mn-ea"/>
                <a:cs typeface="+mn-cs"/>
              </a:rPr>
              <a:t>Helpers</a:t>
            </a:r>
            <a:r>
              <a:rPr lang="es-ES" sz="1200" b="1" i="0" u="none" strike="noStrike" kern="1200" dirty="0" smtClean="0">
                <a:solidFill>
                  <a:schemeClr val="tx1"/>
                </a:solidFill>
                <a:effectLst/>
                <a:latin typeface="+mn-lt"/>
                <a:ea typeface="+mn-ea"/>
                <a:cs typeface="+mn-cs"/>
              </a:rPr>
              <a:t> fuertemente </a:t>
            </a:r>
            <a:r>
              <a:rPr lang="es-ES" sz="1200" b="1" i="0" u="none" strike="noStrike" kern="1200" dirty="0" err="1" smtClean="0">
                <a:solidFill>
                  <a:schemeClr val="tx1"/>
                </a:solidFill>
                <a:effectLst/>
                <a:latin typeface="+mn-lt"/>
                <a:ea typeface="+mn-ea"/>
                <a:cs typeface="+mn-cs"/>
              </a:rPr>
              <a:t>tipados</a:t>
            </a:r>
            <a:endParaRPr lang="es-ES" b="1" dirty="0" smtClean="0">
              <a:effectLst/>
            </a:endParaRPr>
          </a:p>
          <a:p>
            <a:r>
              <a:rPr lang="es-ES" b="0" dirty="0" smtClean="0">
                <a:effectLst/>
              </a:rPr>
              <a:t/>
            </a:r>
            <a:br>
              <a:rPr lang="es-ES" b="0" dirty="0" smtClean="0">
                <a:effectLst/>
              </a:rPr>
            </a:br>
            <a:r>
              <a:rPr lang="es-ES" sz="1200" b="0" i="0" u="none" strike="noStrike" kern="1200" dirty="0" smtClean="0">
                <a:solidFill>
                  <a:schemeClr val="tx1"/>
                </a:solidFill>
                <a:effectLst/>
                <a:latin typeface="+mn-lt"/>
                <a:ea typeface="+mn-ea"/>
                <a:cs typeface="+mn-cs"/>
              </a:rPr>
              <a:t>ASP.NET </a:t>
            </a:r>
            <a:r>
              <a:rPr lang="es-ES" sz="1200" b="0" i="0" u="none" strike="noStrike" kern="1200" dirty="0" err="1" smtClean="0">
                <a:solidFill>
                  <a:schemeClr val="tx1"/>
                </a:solidFill>
                <a:effectLst/>
                <a:latin typeface="+mn-lt"/>
                <a:ea typeface="+mn-ea"/>
                <a:cs typeface="+mn-cs"/>
              </a:rPr>
              <a:t>tambien</a:t>
            </a:r>
            <a:r>
              <a:rPr lang="es-ES" sz="1200" b="0" i="0" u="none" strike="noStrike" kern="1200" dirty="0" smtClean="0">
                <a:solidFill>
                  <a:schemeClr val="tx1"/>
                </a:solidFill>
                <a:effectLst/>
                <a:latin typeface="+mn-lt"/>
                <a:ea typeface="+mn-ea"/>
                <a:cs typeface="+mn-cs"/>
              </a:rPr>
              <a:t> provee una lista de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fuertemente </a:t>
            </a:r>
            <a:r>
              <a:rPr lang="es-ES" sz="1200" b="0" i="0" u="none" strike="noStrike" kern="1200" dirty="0" err="1" smtClean="0">
                <a:solidFill>
                  <a:schemeClr val="tx1"/>
                </a:solidFill>
                <a:effectLst/>
                <a:latin typeface="+mn-lt"/>
                <a:ea typeface="+mn-ea"/>
                <a:cs typeface="+mn-cs"/>
              </a:rPr>
              <a:t>tipados</a:t>
            </a:r>
            <a:r>
              <a:rPr lang="es-ES" sz="1200" b="0" i="0" u="none" strike="noStrike" kern="1200" dirty="0" smtClean="0">
                <a:solidFill>
                  <a:schemeClr val="tx1"/>
                </a:solidFill>
                <a:effectLst/>
                <a:latin typeface="+mn-lt"/>
                <a:ea typeface="+mn-ea"/>
                <a:cs typeface="+mn-cs"/>
              </a:rPr>
              <a:t>. Con estos, se pasa una expresión lambda para especificar una propiedad del modelo a </a:t>
            </a:r>
            <a:r>
              <a:rPr lang="es-ES" sz="1200" b="0" i="0" u="none" strike="noStrike" kern="1200" dirty="0" err="1" smtClean="0">
                <a:solidFill>
                  <a:schemeClr val="tx1"/>
                </a:solidFill>
                <a:effectLst/>
                <a:latin typeface="+mn-lt"/>
                <a:ea typeface="+mn-ea"/>
                <a:cs typeface="+mn-cs"/>
              </a:rPr>
              <a:t>renderizar</a:t>
            </a:r>
            <a:r>
              <a:rPr lang="es-ES" sz="1200" b="0" i="0" u="none" strike="noStrike" kern="1200" dirty="0" smtClean="0">
                <a:solidFill>
                  <a:schemeClr val="tx1"/>
                </a:solidFill>
                <a:effectLst/>
                <a:latin typeface="+mn-lt"/>
                <a:ea typeface="+mn-ea"/>
                <a:cs typeface="+mn-cs"/>
              </a:rPr>
              <a:t>. El tipo del modelo para la expresión </a:t>
            </a:r>
            <a:r>
              <a:rPr lang="es-ES" sz="1200" b="0" i="0" u="none" strike="noStrike" kern="1200" dirty="0" err="1" smtClean="0">
                <a:solidFill>
                  <a:schemeClr val="tx1"/>
                </a:solidFill>
                <a:effectLst/>
                <a:latin typeface="+mn-lt"/>
                <a:ea typeface="+mn-ea"/>
                <a:cs typeface="+mn-cs"/>
              </a:rPr>
              <a:t>sera</a:t>
            </a:r>
            <a:r>
              <a:rPr lang="es-ES" sz="1200" b="0" i="0" u="none" strike="noStrike" kern="1200" dirty="0" smtClean="0">
                <a:solidFill>
                  <a:schemeClr val="tx1"/>
                </a:solidFill>
                <a:effectLst/>
                <a:latin typeface="+mn-lt"/>
                <a:ea typeface="+mn-ea"/>
                <a:cs typeface="+mn-cs"/>
              </a:rPr>
              <a:t> el mismo que el tipo del modelo especificado en la directiva @</a:t>
            </a:r>
            <a:r>
              <a:rPr lang="es-ES" sz="1200" b="0" i="0" u="none" strike="noStrike" kern="1200" dirty="0" err="1" smtClean="0">
                <a:solidFill>
                  <a:schemeClr val="tx1"/>
                </a:solidFill>
                <a:effectLst/>
                <a:latin typeface="+mn-lt"/>
                <a:ea typeface="+mn-ea"/>
                <a:cs typeface="+mn-cs"/>
              </a:rPr>
              <a:t>model</a:t>
            </a:r>
            <a:r>
              <a:rPr lang="es-ES" sz="1200" b="0" i="0" u="none" strike="noStrike" kern="1200" dirty="0" smtClean="0">
                <a:solidFill>
                  <a:schemeClr val="tx1"/>
                </a:solidFill>
                <a:effectLst/>
                <a:latin typeface="+mn-lt"/>
                <a:ea typeface="+mn-ea"/>
                <a:cs typeface="+mn-cs"/>
              </a:rPr>
              <a:t>. </a:t>
            </a:r>
          </a:p>
          <a:p>
            <a:r>
              <a:rPr lang="es-ES" sz="1200" b="0" i="0" u="none" strike="noStrike" kern="1200" dirty="0" smtClean="0">
                <a:solidFill>
                  <a:schemeClr val="tx1"/>
                </a:solidFill>
                <a:effectLst/>
                <a:latin typeface="+mn-lt"/>
                <a:ea typeface="+mn-ea"/>
                <a:cs typeface="+mn-cs"/>
              </a:rPr>
              <a:t>Utilizar estos </a:t>
            </a:r>
            <a:r>
              <a:rPr lang="es-ES" sz="1200" b="0" i="0" u="none" strike="noStrike" kern="1200" dirty="0" err="1" smtClean="0">
                <a:solidFill>
                  <a:schemeClr val="tx1"/>
                </a:solidFill>
                <a:effectLst/>
                <a:latin typeface="+mn-lt"/>
                <a:ea typeface="+mn-ea"/>
                <a:cs typeface="+mn-cs"/>
              </a:rPr>
              <a:t>helpers</a:t>
            </a:r>
            <a:r>
              <a:rPr lang="es-ES" sz="1200" b="0" i="0" u="none" strike="noStrike" kern="1200" dirty="0" smtClean="0">
                <a:solidFill>
                  <a:schemeClr val="tx1"/>
                </a:solidFill>
                <a:effectLst/>
                <a:latin typeface="+mn-lt"/>
                <a:ea typeface="+mn-ea"/>
                <a:cs typeface="+mn-cs"/>
              </a:rPr>
              <a:t> tiene sus beneficios: </a:t>
            </a:r>
            <a:r>
              <a:rPr lang="es-ES" sz="1200" b="0" i="0" u="none" strike="noStrike" kern="1200" dirty="0" err="1" smtClean="0">
                <a:solidFill>
                  <a:schemeClr val="tx1"/>
                </a:solidFill>
                <a:effectLst/>
                <a:latin typeface="+mn-lt"/>
                <a:ea typeface="+mn-ea"/>
                <a:cs typeface="+mn-cs"/>
              </a:rPr>
              <a:t>Intellisense</a:t>
            </a:r>
            <a:r>
              <a:rPr lang="es-ES" sz="1200" b="0" i="0" u="none" strike="noStrike" kern="1200" dirty="0" smtClean="0">
                <a:solidFill>
                  <a:schemeClr val="tx1"/>
                </a:solidFill>
                <a:effectLst/>
                <a:latin typeface="+mn-lt"/>
                <a:ea typeface="+mn-ea"/>
                <a:cs typeface="+mn-cs"/>
              </a:rPr>
              <a:t>, chequeos de errores en tiempo de compilación, facilidad de refactorización (Si se cambia el nombre de la propiedad, Visual Studio automáticamente cambia el </a:t>
            </a:r>
            <a:r>
              <a:rPr lang="es-ES" sz="1200" b="0" i="0" u="none" strike="noStrike" kern="1200" dirty="0" err="1" smtClean="0">
                <a:solidFill>
                  <a:schemeClr val="tx1"/>
                </a:solidFill>
                <a:effectLst/>
                <a:latin typeface="+mn-lt"/>
                <a:ea typeface="+mn-ea"/>
                <a:cs typeface="+mn-cs"/>
              </a:rPr>
              <a:t>codigo</a:t>
            </a:r>
            <a:r>
              <a:rPr lang="es-ES" sz="1200" b="0" i="0" u="none" strike="noStrike" kern="1200" dirty="0" smtClean="0">
                <a:solidFill>
                  <a:schemeClr val="tx1"/>
                </a:solidFill>
                <a:effectLst/>
                <a:latin typeface="+mn-lt"/>
                <a:ea typeface="+mn-ea"/>
                <a:cs typeface="+mn-cs"/>
              </a:rPr>
              <a:t> en la Vista).</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16</a:t>
            </a:fld>
            <a:endParaRPr lang="en-US"/>
          </a:p>
        </p:txBody>
      </p:sp>
    </p:spTree>
    <p:extLst>
      <p:ext uri="{BB962C8B-B14F-4D97-AF65-F5344CB8AC3E}">
        <p14:creationId xmlns:p14="http://schemas.microsoft.com/office/powerpoint/2010/main" val="1904450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&lt;label id="</a:t>
            </a:r>
            <a:r>
              <a:rPr lang="en-US" dirty="0" err="1" smtClean="0"/>
              <a:t>expresion</a:t>
            </a:r>
            <a:r>
              <a:rPr lang="en-US" dirty="0" smtClean="0"/>
              <a:t>"&gt;</a:t>
            </a:r>
            <a:r>
              <a:rPr lang="en-US" dirty="0" err="1" smtClean="0"/>
              <a:t>textoagregado</a:t>
            </a:r>
            <a:r>
              <a:rPr lang="en-US" dirty="0" smtClean="0"/>
              <a:t>&lt;/label&gt;</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17</a:t>
            </a:fld>
            <a:endParaRPr lang="en-US"/>
          </a:p>
        </p:txBody>
      </p:sp>
    </p:spTree>
    <p:extLst>
      <p:ext uri="{BB962C8B-B14F-4D97-AF65-F5344CB8AC3E}">
        <p14:creationId xmlns:p14="http://schemas.microsoft.com/office/powerpoint/2010/main" val="2476451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19</a:t>
            </a:fld>
            <a:endParaRPr lang="en-US" dirty="0"/>
          </a:p>
        </p:txBody>
      </p:sp>
    </p:spTree>
    <p:extLst>
      <p:ext uri="{BB962C8B-B14F-4D97-AF65-F5344CB8AC3E}">
        <p14:creationId xmlns:p14="http://schemas.microsoft.com/office/powerpoint/2010/main" val="662003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s-AR" dirty="0" smtClean="0"/>
              <a:t>View</a:t>
            </a:r>
            <a:r>
              <a:rPr lang="es-AR" baseline="0" dirty="0" smtClean="0"/>
              <a:t> </a:t>
            </a:r>
            <a:r>
              <a:rPr lang="es-AR" baseline="0" dirty="0" err="1" smtClean="0"/>
              <a:t>Model</a:t>
            </a:r>
            <a:endParaRPr lang="es-AR" baseline="0" dirty="0" smtClean="0"/>
          </a:p>
          <a:p>
            <a:r>
              <a:rPr lang="en-US" sz="1200" b="0" i="0" u="none" strike="noStrike" kern="1200" baseline="0" dirty="0" smtClean="0">
                <a:solidFill>
                  <a:schemeClr val="tx1"/>
                </a:solidFill>
                <a:latin typeface="+mn-lt"/>
                <a:ea typeface="+mn-ea"/>
                <a:cs typeface="+mn-cs"/>
              </a:rPr>
              <a:t>The purpose of a view model is quite straightforward—it is a model that is specifically</a:t>
            </a:r>
          </a:p>
          <a:p>
            <a:r>
              <a:rPr lang="en-US" sz="1200" b="0" i="0" u="none" strike="noStrike" kern="1200" baseline="0" dirty="0" smtClean="0">
                <a:solidFill>
                  <a:schemeClr val="tx1"/>
                </a:solidFill>
                <a:latin typeface="+mn-lt"/>
                <a:ea typeface="+mn-ea"/>
                <a:cs typeface="+mn-cs"/>
              </a:rPr>
              <a:t>designed for use within a view. It provides a simplified interface on top of the domain</a:t>
            </a:r>
          </a:p>
          <a:p>
            <a:r>
              <a:rPr lang="en-US" sz="1200" b="0" i="0" u="none" strike="noStrike" kern="1200" baseline="0" dirty="0" smtClean="0">
                <a:solidFill>
                  <a:schemeClr val="tx1"/>
                </a:solidFill>
                <a:latin typeface="+mn-lt"/>
                <a:ea typeface="+mn-ea"/>
                <a:cs typeface="+mn-cs"/>
              </a:rPr>
              <a:t>model that keeps decision-making in the view to a minimum.</a:t>
            </a:r>
          </a:p>
          <a:p>
            <a:r>
              <a:rPr lang="en-US" sz="1200" b="0" i="0" u="none" strike="noStrike" kern="1200" baseline="0" dirty="0" smtClean="0">
                <a:solidFill>
                  <a:schemeClr val="tx1"/>
                </a:solidFill>
                <a:latin typeface="+mn-lt"/>
                <a:ea typeface="+mn-ea"/>
                <a:cs typeface="+mn-cs"/>
              </a:rPr>
              <a:t>In this section, we’ll illustrate how this works with the example of a simplified</a:t>
            </a:r>
          </a:p>
          <a:p>
            <a:r>
              <a:rPr lang="en-US" sz="1200" b="0" i="0" u="none" strike="noStrike" kern="1200" baseline="0" dirty="0" smtClean="0">
                <a:solidFill>
                  <a:schemeClr val="tx1"/>
                </a:solidFill>
                <a:latin typeface="+mn-lt"/>
                <a:ea typeface="+mn-ea"/>
                <a:cs typeface="+mn-cs"/>
              </a:rPr>
              <a:t>online store. We’ll take a look at how a view model differs from a domain model and</a:t>
            </a:r>
          </a:p>
          <a:p>
            <a:r>
              <a:rPr lang="en-US" sz="1200" b="0" i="0" u="none" strike="noStrike" kern="1200" baseline="0" dirty="0" smtClean="0">
                <a:solidFill>
                  <a:schemeClr val="tx1"/>
                </a:solidFill>
                <a:latin typeface="+mn-lt"/>
                <a:ea typeface="+mn-ea"/>
                <a:cs typeface="+mn-cs"/>
              </a:rPr>
              <a:t>at what mechanisms are available for passing the view model to the view. Finally, we’ll</a:t>
            </a:r>
          </a:p>
          <a:p>
            <a:r>
              <a:rPr lang="en-US" sz="1200" b="0" i="0" u="none" strike="noStrike" kern="1200" baseline="0" dirty="0" smtClean="0">
                <a:solidFill>
                  <a:schemeClr val="tx1"/>
                </a:solidFill>
                <a:latin typeface="+mn-lt"/>
                <a:ea typeface="+mn-ea"/>
                <a:cs typeface="+mn-cs"/>
              </a:rPr>
              <a:t>take a look at input models as a way of sending user input back from the view into the</a:t>
            </a:r>
          </a:p>
          <a:p>
            <a:r>
              <a:rPr lang="en-US" sz="1200" b="0" i="0" u="none" strike="noStrike" kern="1200" baseline="0" dirty="0" smtClean="0">
                <a:solidFill>
                  <a:schemeClr val="tx1"/>
                </a:solidFill>
                <a:latin typeface="+mn-lt"/>
                <a:ea typeface="+mn-ea"/>
                <a:cs typeface="+mn-cs"/>
              </a:rPr>
              <a:t>controller layer</a:t>
            </a:r>
          </a:p>
          <a:p>
            <a:endParaRPr lang="es-AR" sz="1200" b="0" i="0" u="none" strike="noStrike" kern="1200" baseline="0" dirty="0" smtClean="0">
              <a:solidFill>
                <a:schemeClr val="tx1"/>
              </a:solidFill>
              <a:latin typeface="+mn-lt"/>
              <a:ea typeface="+mn-ea"/>
              <a:cs typeface="+mn-cs"/>
            </a:endParaRPr>
          </a:p>
          <a:p>
            <a:r>
              <a:rPr lang="es-AR" sz="1200" b="0" i="0" u="none" strike="noStrike" kern="1200" baseline="0" dirty="0" smtClean="0">
                <a:solidFill>
                  <a:schemeClr val="tx1"/>
                </a:solidFill>
                <a:latin typeface="+mn-lt"/>
                <a:ea typeface="+mn-ea"/>
                <a:cs typeface="+mn-cs"/>
              </a:rPr>
              <a:t>View Bag</a:t>
            </a:r>
          </a:p>
          <a:p>
            <a:r>
              <a:rPr lang="en-US" sz="1200" b="0" i="0" u="none" strike="noStrike" kern="1200" baseline="0" dirty="0" smtClean="0">
                <a:solidFill>
                  <a:schemeClr val="tx1"/>
                </a:solidFill>
                <a:latin typeface="+mn-lt"/>
                <a:ea typeface="+mn-ea"/>
                <a:cs typeface="+mn-cs"/>
              </a:rPr>
              <a:t>Like the </a:t>
            </a:r>
            <a:r>
              <a:rPr lang="en-US" sz="1200" b="0" i="0" u="none" strike="noStrike" kern="1200" baseline="0" dirty="0" err="1" smtClean="0">
                <a:solidFill>
                  <a:schemeClr val="tx1"/>
                </a:solidFill>
                <a:latin typeface="+mn-lt"/>
                <a:ea typeface="+mn-ea"/>
                <a:cs typeface="+mn-cs"/>
              </a:rPr>
              <a:t>ViewDataDictionary</a:t>
            </a:r>
            <a:r>
              <a:rPr lang="en-US" sz="1200" b="0" i="0" u="none" strike="noStrike" kern="1200" baseline="0" dirty="0" smtClean="0">
                <a:solidFill>
                  <a:schemeClr val="tx1"/>
                </a:solidFill>
                <a:latin typeface="+mn-lt"/>
                <a:ea typeface="+mn-ea"/>
                <a:cs typeface="+mn-cs"/>
              </a:rPr>
              <a:t>, the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provides a way to pass data from the</a:t>
            </a:r>
          </a:p>
          <a:p>
            <a:r>
              <a:rPr lang="en-US" sz="1200" b="0" i="0" u="none" strike="noStrike" kern="1200" baseline="0" dirty="0" smtClean="0">
                <a:solidFill>
                  <a:schemeClr val="tx1"/>
                </a:solidFill>
                <a:latin typeface="+mn-lt"/>
                <a:ea typeface="+mn-ea"/>
                <a:cs typeface="+mn-cs"/>
              </a:rPr>
              <a:t>controller to the view, but the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makes use of the dynamic language features of</a:t>
            </a:r>
          </a:p>
          <a:p>
            <a:r>
              <a:rPr lang="en-US" sz="1200" b="0" i="0" u="none" strike="noStrike" kern="1200" baseline="0" dirty="0" smtClean="0">
                <a:solidFill>
                  <a:schemeClr val="tx1"/>
                </a:solidFill>
                <a:latin typeface="+mn-lt"/>
                <a:ea typeface="+mn-ea"/>
                <a:cs typeface="+mn-cs"/>
              </a:rPr>
              <a:t>C# 4. Instead of storing items in a dictionary using a string key, you can simply set</a:t>
            </a:r>
          </a:p>
          <a:p>
            <a:r>
              <a:rPr lang="en-US" sz="1200" b="0" i="0" u="none" strike="noStrike" kern="1200" baseline="0" dirty="0" smtClean="0">
                <a:solidFill>
                  <a:schemeClr val="tx1"/>
                </a:solidFill>
                <a:latin typeface="+mn-lt"/>
                <a:ea typeface="+mn-ea"/>
                <a:cs typeface="+mn-cs"/>
              </a:rPr>
              <a:t>properties on the dynamic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property within your controller:</a:t>
            </a:r>
          </a:p>
          <a:p>
            <a:r>
              <a:rPr lang="en-US" sz="1200" b="0" i="0" u="none" strike="noStrike" kern="1200" baseline="0" dirty="0" err="1" smtClean="0">
                <a:solidFill>
                  <a:schemeClr val="tx1"/>
                </a:solidFill>
                <a:latin typeface="+mn-lt"/>
                <a:ea typeface="+mn-ea"/>
                <a:cs typeface="+mn-cs"/>
              </a:rPr>
              <a:t>ViewBag.HasPermission</a:t>
            </a:r>
            <a:r>
              <a:rPr lang="en-US" sz="1200" b="0" i="0" u="none" strike="noStrike" kern="1200" baseline="0" dirty="0" smtClean="0">
                <a:solidFill>
                  <a:schemeClr val="tx1"/>
                </a:solidFill>
                <a:latin typeface="+mn-lt"/>
                <a:ea typeface="+mn-ea"/>
                <a:cs typeface="+mn-cs"/>
              </a:rPr>
              <a:t> = </a:t>
            </a:r>
            <a:r>
              <a:rPr lang="en-US" sz="1200" b="0" i="0" u="none" strike="noStrike" kern="1200" baseline="0" dirty="0" err="1" smtClean="0">
                <a:solidFill>
                  <a:schemeClr val="tx1"/>
                </a:solidFill>
                <a:latin typeface="+mn-lt"/>
                <a:ea typeface="+mn-ea"/>
                <a:cs typeface="+mn-cs"/>
              </a:rPr>
              <a:t>hasPermission</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A </a:t>
            </a:r>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property is also available in the view, so instead of having to retrieve the</a:t>
            </a:r>
          </a:p>
          <a:p>
            <a:r>
              <a:rPr lang="en-US" sz="1200" b="0" i="0" u="none" strike="noStrike" kern="1200" baseline="0" dirty="0" smtClean="0">
                <a:solidFill>
                  <a:schemeClr val="tx1"/>
                </a:solidFill>
                <a:latin typeface="+mn-lt"/>
                <a:ea typeface="+mn-ea"/>
                <a:cs typeface="+mn-cs"/>
              </a:rPr>
              <a:t>item from </a:t>
            </a:r>
            <a:r>
              <a:rPr lang="en-US" sz="1200" b="0" i="0" u="none" strike="noStrike" kern="1200" baseline="0" dirty="0" err="1" smtClean="0">
                <a:solidFill>
                  <a:schemeClr val="tx1"/>
                </a:solidFill>
                <a:latin typeface="+mn-lt"/>
                <a:ea typeface="+mn-ea"/>
                <a:cs typeface="+mn-cs"/>
              </a:rPr>
              <a:t>ViewData</a:t>
            </a:r>
            <a:r>
              <a:rPr lang="en-US" sz="1200" b="0" i="0" u="none" strike="noStrike" kern="1200" baseline="0" dirty="0" smtClean="0">
                <a:solidFill>
                  <a:schemeClr val="tx1"/>
                </a:solidFill>
                <a:latin typeface="+mn-lt"/>
                <a:ea typeface="+mn-ea"/>
                <a:cs typeface="+mn-cs"/>
              </a:rPr>
              <a:t> and casting it to a Boolean, we can simplify our view to access the</a:t>
            </a:r>
          </a:p>
          <a:p>
            <a:r>
              <a:rPr lang="en-US" sz="1200" b="0" i="0" u="none" strike="noStrike" kern="1200" baseline="0" dirty="0" err="1" smtClean="0">
                <a:solidFill>
                  <a:schemeClr val="tx1"/>
                </a:solidFill>
                <a:latin typeface="+mn-lt"/>
                <a:ea typeface="+mn-ea"/>
                <a:cs typeface="+mn-cs"/>
              </a:rPr>
              <a:t>ViewBag</a:t>
            </a:r>
            <a:r>
              <a:rPr lang="en-US" sz="1200" b="0" i="0" u="none" strike="noStrike" kern="1200" baseline="0" dirty="0" smtClean="0">
                <a:solidFill>
                  <a:schemeClr val="tx1"/>
                </a:solidFill>
                <a:latin typeface="+mn-lt"/>
                <a:ea typeface="+mn-ea"/>
                <a:cs typeface="+mn-cs"/>
              </a:rPr>
              <a:t> directly:</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22</a:t>
            </a:fld>
            <a:endParaRPr lang="en-US"/>
          </a:p>
        </p:txBody>
      </p:sp>
    </p:spTree>
    <p:extLst>
      <p:ext uri="{BB962C8B-B14F-4D97-AF65-F5344CB8AC3E}">
        <p14:creationId xmlns:p14="http://schemas.microsoft.com/office/powerpoint/2010/main" val="999026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23</a:t>
            </a:fld>
            <a:endParaRPr lang="en-US" dirty="0"/>
          </a:p>
        </p:txBody>
      </p:sp>
    </p:spTree>
    <p:extLst>
      <p:ext uri="{BB962C8B-B14F-4D97-AF65-F5344CB8AC3E}">
        <p14:creationId xmlns:p14="http://schemas.microsoft.com/office/powerpoint/2010/main" val="3765550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&lt;label id="</a:t>
            </a:r>
            <a:r>
              <a:rPr lang="en-US" dirty="0" err="1" smtClean="0"/>
              <a:t>expresion</a:t>
            </a:r>
            <a:r>
              <a:rPr lang="en-US" dirty="0" smtClean="0"/>
              <a:t>"&gt;</a:t>
            </a:r>
            <a:r>
              <a:rPr lang="en-US" dirty="0" err="1" smtClean="0"/>
              <a:t>textoagregado</a:t>
            </a:r>
            <a:r>
              <a:rPr lang="en-US" dirty="0" smtClean="0"/>
              <a:t>&lt;/label&gt;</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24</a:t>
            </a:fld>
            <a:endParaRPr lang="en-US"/>
          </a:p>
        </p:txBody>
      </p:sp>
    </p:spTree>
    <p:extLst>
      <p:ext uri="{BB962C8B-B14F-4D97-AF65-F5344CB8AC3E}">
        <p14:creationId xmlns:p14="http://schemas.microsoft.com/office/powerpoint/2010/main" val="808311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&lt;label id="</a:t>
            </a:r>
            <a:r>
              <a:rPr lang="en-US" dirty="0" err="1" smtClean="0"/>
              <a:t>expresion</a:t>
            </a:r>
            <a:r>
              <a:rPr lang="en-US" dirty="0" smtClean="0"/>
              <a:t>"&gt;</a:t>
            </a:r>
            <a:r>
              <a:rPr lang="en-US" dirty="0" err="1" smtClean="0"/>
              <a:t>textoagregado</a:t>
            </a:r>
            <a:r>
              <a:rPr lang="en-US" dirty="0" smtClean="0"/>
              <a:t>&lt;/label&gt;</a:t>
            </a:r>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25</a:t>
            </a:fld>
            <a:endParaRPr lang="en-US"/>
          </a:p>
        </p:txBody>
      </p:sp>
    </p:spTree>
    <p:extLst>
      <p:ext uri="{BB962C8B-B14F-4D97-AF65-F5344CB8AC3E}">
        <p14:creationId xmlns:p14="http://schemas.microsoft.com/office/powerpoint/2010/main" val="7933524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effectLst/>
                <a:latin typeface="+mn-lt"/>
                <a:ea typeface="+mn-ea"/>
                <a:cs typeface="+mn-cs"/>
              </a:rPr>
              <a:t>HTTP GET- Requests a representation of the specified resource. Get Should only retrieve data and have no other effect. Only a URL and headers are sent to the server</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HTTP POST- Submits Data to be processed </a:t>
            </a:r>
            <a:r>
              <a:rPr lang="en-US" sz="1200" b="0" i="0" kern="1200" dirty="0" err="1" smtClean="0">
                <a:solidFill>
                  <a:schemeClr val="tx1"/>
                </a:solidFill>
                <a:effectLst/>
                <a:latin typeface="+mn-lt"/>
                <a:ea typeface="+mn-ea"/>
                <a:cs typeface="+mn-cs"/>
              </a:rPr>
              <a:t>Eg</a:t>
            </a:r>
            <a:r>
              <a:rPr lang="en-US" sz="1200" b="0" i="0" kern="1200" dirty="0" smtClean="0">
                <a:solidFill>
                  <a:schemeClr val="tx1"/>
                </a:solidFill>
                <a:effectLst/>
                <a:latin typeface="+mn-lt"/>
                <a:ea typeface="+mn-ea"/>
                <a:cs typeface="+mn-cs"/>
              </a:rPr>
              <a:t> from an HTML form to the identified resource. The data is included in the body of the request. Post method is used when the client needs to send data to the server as part of the request, such as when uploading a file or submitting a completed form. </a:t>
            </a:r>
            <a:endParaRPr lang="es-AR" dirty="0"/>
          </a:p>
        </p:txBody>
      </p:sp>
      <p:sp>
        <p:nvSpPr>
          <p:cNvPr id="4" name="Slide Number Placeholder 3"/>
          <p:cNvSpPr>
            <a:spLocks noGrp="1"/>
          </p:cNvSpPr>
          <p:nvPr>
            <p:ph type="sldNum" sz="quarter" idx="10"/>
          </p:nvPr>
        </p:nvSpPr>
        <p:spPr/>
        <p:txBody>
          <a:bodyPr/>
          <a:lstStyle/>
          <a:p>
            <a:fld id="{298467EE-86EC-4951-9175-136C08F4E327}" type="slidenum">
              <a:rPr lang="en-US" smtClean="0"/>
              <a:t>26</a:t>
            </a:fld>
            <a:endParaRPr lang="en-US"/>
          </a:p>
        </p:txBody>
      </p:sp>
    </p:spTree>
    <p:extLst>
      <p:ext uri="{BB962C8B-B14F-4D97-AF65-F5344CB8AC3E}">
        <p14:creationId xmlns:p14="http://schemas.microsoft.com/office/powerpoint/2010/main" val="3922114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effectLst/>
                <a:latin typeface="+mn-lt"/>
                <a:ea typeface="+mn-ea"/>
                <a:cs typeface="+mn-cs"/>
              </a:rPr>
              <a:t>LINQ</a:t>
            </a:r>
          </a:p>
          <a:p>
            <a:r>
              <a:rPr lang="en-US" sz="1200" b="0" i="0" kern="1200" dirty="0" smtClean="0">
                <a:solidFill>
                  <a:schemeClr val="tx1"/>
                </a:solidFill>
                <a:effectLst/>
                <a:latin typeface="+mn-lt"/>
                <a:ea typeface="+mn-ea"/>
                <a:cs typeface="+mn-cs"/>
              </a:rPr>
              <a:t>LINQ is Microsoft’s technology to provide a language-level support mechanism for querying data of all types. These types include in memory arrays and collections, databases, XML documents and more, since version 3.5 and Visual Studio 2008. (.NET 4 and Visual Studio 2010 added support for the Parallel LINQ features).</a:t>
            </a:r>
          </a:p>
          <a:p>
            <a:r>
              <a:rPr lang="en-US" sz="1200" b="1" i="0" kern="1200" dirty="0" smtClean="0">
                <a:solidFill>
                  <a:schemeClr val="tx1"/>
                </a:solidFill>
                <a:effectLst/>
                <a:latin typeface="+mn-lt"/>
                <a:ea typeface="+mn-ea"/>
                <a:cs typeface="+mn-cs"/>
              </a:rPr>
              <a:t>Need for LINQ</a:t>
            </a:r>
          </a:p>
          <a:p>
            <a:r>
              <a:rPr lang="en-US" sz="1200" b="0" i="0" kern="1200" dirty="0" smtClean="0">
                <a:solidFill>
                  <a:schemeClr val="tx1"/>
                </a:solidFill>
                <a:effectLst/>
                <a:latin typeface="+mn-lt"/>
                <a:ea typeface="+mn-ea"/>
                <a:cs typeface="+mn-cs"/>
              </a:rPr>
              <a:t>Here is the issue that we cannot programmatically interact with a database at the native language level. This means syntax errors often go undetected until runtime.</a:t>
            </a:r>
          </a:p>
          <a:p>
            <a:r>
              <a:rPr lang="en-US" sz="1200" b="0" i="0" kern="1200" dirty="0" smtClean="0">
                <a:solidFill>
                  <a:schemeClr val="tx1"/>
                </a:solidFill>
                <a:effectLst/>
                <a:latin typeface="+mn-lt"/>
                <a:ea typeface="+mn-ea"/>
                <a:cs typeface="+mn-cs"/>
              </a:rPr>
              <a:t>Differing data types utilized by a particular data domain, such as database or XML data types versus the native language</a:t>
            </a:r>
          </a:p>
          <a:p>
            <a:r>
              <a:rPr lang="en-US" sz="1200" b="0" i="0" kern="1200" dirty="0" smtClean="0">
                <a:solidFill>
                  <a:schemeClr val="tx1"/>
                </a:solidFill>
                <a:effectLst/>
                <a:latin typeface="+mn-lt"/>
                <a:ea typeface="+mn-ea"/>
                <a:cs typeface="+mn-cs"/>
              </a:rPr>
              <a:t>XML parsing, iterating, and manipulation can be quite tedious. an </a:t>
            </a:r>
            <a:r>
              <a:rPr lang="en-US" sz="1200" b="0" i="0" kern="1200" dirty="0" err="1" smtClean="0">
                <a:solidFill>
                  <a:schemeClr val="tx1"/>
                </a:solidFill>
                <a:effectLst/>
                <a:latin typeface="+mn-lt"/>
                <a:ea typeface="+mn-ea"/>
                <a:cs typeface="+mn-cs"/>
              </a:rPr>
              <a:t>XmlDocument</a:t>
            </a:r>
            <a:r>
              <a:rPr lang="en-US" sz="1200" b="0" i="0" kern="1200" dirty="0" smtClean="0">
                <a:solidFill>
                  <a:schemeClr val="tx1"/>
                </a:solidFill>
                <a:effectLst/>
                <a:latin typeface="+mn-lt"/>
                <a:ea typeface="+mn-ea"/>
                <a:cs typeface="+mn-cs"/>
              </a:rPr>
              <a:t> must be created just to perform various operations on the XML fragment</a:t>
            </a:r>
          </a:p>
          <a:p>
            <a:r>
              <a:rPr lang="en-US" sz="1200" b="1" i="0" kern="1200" dirty="0" smtClean="0">
                <a:solidFill>
                  <a:schemeClr val="tx1"/>
                </a:solidFill>
                <a:effectLst/>
                <a:latin typeface="+mn-lt"/>
                <a:ea typeface="+mn-ea"/>
                <a:cs typeface="+mn-cs"/>
              </a:rPr>
              <a:t>Advantages of LINQ</a:t>
            </a:r>
          </a:p>
          <a:p>
            <a:r>
              <a:rPr lang="en-US" sz="1200" b="0" i="0" kern="1200" dirty="0" smtClean="0">
                <a:solidFill>
                  <a:schemeClr val="tx1"/>
                </a:solidFill>
                <a:effectLst/>
                <a:latin typeface="+mn-lt"/>
                <a:ea typeface="+mn-ea"/>
                <a:cs typeface="+mn-cs"/>
              </a:rPr>
              <a:t>Query is integrated into the language. Gone are the days of writing a SQL query into a string and not detecting a syntax error until runtime, for example we forget the name of a field of the table (or reference) or it has been changed in DB.</a:t>
            </a:r>
          </a:p>
          <a:p>
            <a:r>
              <a:rPr lang="en-US" sz="1200" b="0" i="0" kern="1200" dirty="0" smtClean="0">
                <a:solidFill>
                  <a:schemeClr val="tx1"/>
                </a:solidFill>
                <a:effectLst/>
                <a:latin typeface="+mn-lt"/>
                <a:ea typeface="+mn-ea"/>
                <a:cs typeface="+mn-cs"/>
              </a:rPr>
              <a:t>In addition to query features, LINQ to XML provides a more powerful and easier-to-use interface for working with XML data, as though it were a database.</a:t>
            </a:r>
          </a:p>
          <a:p>
            <a:r>
              <a:rPr lang="en-US" sz="1200" b="0" i="0" kern="1200" dirty="0" smtClean="0">
                <a:solidFill>
                  <a:schemeClr val="tx1"/>
                </a:solidFill>
                <a:effectLst/>
                <a:latin typeface="+mn-lt"/>
                <a:ea typeface="+mn-ea"/>
                <a:cs typeface="+mn-cs"/>
              </a:rPr>
              <a:t>Not only for querying data but for formatting, validating, and even getting data into the necessary format : example string array to integer array and sort. can also use select new for complex classes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28</a:t>
            </a:fld>
            <a:endParaRPr lang="en-US"/>
          </a:p>
        </p:txBody>
      </p:sp>
    </p:spTree>
    <p:extLst>
      <p:ext uri="{BB962C8B-B14F-4D97-AF65-F5344CB8AC3E}">
        <p14:creationId xmlns:p14="http://schemas.microsoft.com/office/powerpoint/2010/main" val="4015581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30</a:t>
            </a:fld>
            <a:endParaRPr lang="en-US"/>
          </a:p>
        </p:txBody>
      </p:sp>
    </p:spTree>
    <p:extLst>
      <p:ext uri="{BB962C8B-B14F-4D97-AF65-F5344CB8AC3E}">
        <p14:creationId xmlns:p14="http://schemas.microsoft.com/office/powerpoint/2010/main" val="19770503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31</a:t>
            </a:fld>
            <a:endParaRPr lang="en-US" dirty="0"/>
          </a:p>
        </p:txBody>
      </p:sp>
    </p:spTree>
    <p:extLst>
      <p:ext uri="{BB962C8B-B14F-4D97-AF65-F5344CB8AC3E}">
        <p14:creationId xmlns:p14="http://schemas.microsoft.com/office/powerpoint/2010/main" val="28695303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32</a:t>
            </a:fld>
            <a:endParaRPr lang="en-US"/>
          </a:p>
        </p:txBody>
      </p:sp>
    </p:spTree>
    <p:extLst>
      <p:ext uri="{BB962C8B-B14F-4D97-AF65-F5344CB8AC3E}">
        <p14:creationId xmlns:p14="http://schemas.microsoft.com/office/powerpoint/2010/main" val="33245163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33</a:t>
            </a:fld>
            <a:endParaRPr lang="en-US"/>
          </a:p>
        </p:txBody>
      </p:sp>
    </p:spTree>
    <p:extLst>
      <p:ext uri="{BB962C8B-B14F-4D97-AF65-F5344CB8AC3E}">
        <p14:creationId xmlns:p14="http://schemas.microsoft.com/office/powerpoint/2010/main" val="3603584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34</a:t>
            </a:fld>
            <a:endParaRPr lang="en-US" dirty="0"/>
          </a:p>
        </p:txBody>
      </p:sp>
    </p:spTree>
    <p:extLst>
      <p:ext uri="{BB962C8B-B14F-4D97-AF65-F5344CB8AC3E}">
        <p14:creationId xmlns:p14="http://schemas.microsoft.com/office/powerpoint/2010/main" val="495053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t>
            </a:r>
            <a:r>
              <a:rPr lang="en-US" sz="1200" b="0" i="0" kern="1200" dirty="0" err="1" smtClean="0">
                <a:solidFill>
                  <a:schemeClr val="tx1"/>
                </a:solidFill>
                <a:effectLst/>
                <a:latin typeface="+mn-lt"/>
                <a:ea typeface="+mn-ea"/>
                <a:cs typeface="+mn-cs"/>
              </a:rPr>
              <a:t>allo</a:t>
            </a: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allowed in your parameters. When using MVC and scaffolding these validation rules are also used when creating the user interface for you. You get a lot for free by simply adding the right </a:t>
            </a:r>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to your model. It’s really something worth looking into if you haven’t done it so far.</a:t>
            </a:r>
          </a:p>
          <a:p>
            <a:r>
              <a:rPr lang="en-US" sz="1200" b="0" i="0" kern="1200" dirty="0" smtClean="0">
                <a:solidFill>
                  <a:schemeClr val="tx1"/>
                </a:solidFill>
                <a:effectLst/>
                <a:latin typeface="+mn-lt"/>
                <a:ea typeface="+mn-ea"/>
                <a:cs typeface="+mn-cs"/>
              </a:rPr>
              <a:t>The attributes used in Code-First can be classified into two categories:</a:t>
            </a:r>
          </a:p>
          <a:p>
            <a:r>
              <a:rPr lang="en-US" sz="1200" b="0" i="0" kern="1200" dirty="0" smtClean="0">
                <a:solidFill>
                  <a:schemeClr val="tx1"/>
                </a:solidFill>
                <a:effectLst/>
                <a:latin typeface="+mn-lt"/>
                <a:ea typeface="+mn-ea"/>
                <a:cs typeface="+mn-cs"/>
              </a:rPr>
              <a:t>Validation attributes</a:t>
            </a:r>
          </a:p>
          <a:p>
            <a:r>
              <a:rPr lang="en-US" sz="1200" b="0" i="0" kern="1200" dirty="0" smtClean="0">
                <a:solidFill>
                  <a:schemeClr val="tx1"/>
                </a:solidFill>
                <a:effectLst/>
                <a:latin typeface="+mn-lt"/>
                <a:ea typeface="+mn-ea"/>
                <a:cs typeface="+mn-cs"/>
              </a:rPr>
              <a:t>Database schema related attributes</a:t>
            </a:r>
          </a:p>
          <a:p>
            <a:r>
              <a:rPr lang="en-US" sz="1200" b="0" i="0" kern="1200" dirty="0" smtClean="0">
                <a:solidFill>
                  <a:schemeClr val="tx1"/>
                </a:solidFill>
                <a:effectLst/>
                <a:latin typeface="+mn-lt"/>
                <a:ea typeface="+mn-ea"/>
                <a:cs typeface="+mn-cs"/>
              </a:rPr>
              <a:t>In this post I’ll look into the first category and will also provide with code examples for each of the attributes. If you think I’ve missed out on any good ones you’re more then welcome to write a comment. Later on I’ll post a text based upon the second category of attributes as well.</a:t>
            </a:r>
          </a:p>
          <a:p>
            <a:r>
              <a:rPr lang="en-US" sz="1200" b="1" i="0" kern="1200" dirty="0" smtClean="0">
                <a:solidFill>
                  <a:schemeClr val="tx1"/>
                </a:solidFill>
                <a:effectLst/>
                <a:latin typeface="+mn-lt"/>
                <a:ea typeface="+mn-ea"/>
                <a:cs typeface="+mn-cs"/>
              </a:rPr>
              <a:t>How to use attributes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All attributes are written just before the property/class/function they’re validating, with zero or more mandatory parameters followed by a list of optional named parameters. The attribute </a:t>
            </a:r>
            <a:r>
              <a:rPr lang="en-US" sz="1200" b="0" i="0" kern="1200" dirty="0" err="1" smtClean="0">
                <a:solidFill>
                  <a:schemeClr val="tx1"/>
                </a:solidFill>
                <a:effectLst/>
                <a:latin typeface="+mn-lt"/>
                <a:ea typeface="+mn-ea"/>
                <a:cs typeface="+mn-cs"/>
              </a:rPr>
              <a:t>StringLength</a:t>
            </a:r>
            <a:r>
              <a:rPr lang="en-US" sz="1200" b="0" i="0" kern="1200" dirty="0" smtClean="0">
                <a:solidFill>
                  <a:schemeClr val="tx1"/>
                </a:solidFill>
                <a:effectLst/>
                <a:latin typeface="+mn-lt"/>
                <a:ea typeface="+mn-ea"/>
                <a:cs typeface="+mn-cs"/>
              </a:rPr>
              <a:t>, for example, has one mandatory parameter: </a:t>
            </a:r>
            <a:r>
              <a:rPr lang="en-US" sz="1200" b="0" i="0" kern="1200" dirty="0" err="1" smtClean="0">
                <a:solidFill>
                  <a:schemeClr val="tx1"/>
                </a:solidFill>
                <a:effectLst/>
                <a:latin typeface="+mn-lt"/>
                <a:ea typeface="+mn-ea"/>
                <a:cs typeface="+mn-cs"/>
              </a:rPr>
              <a:t>MaximumLength</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8467EE-86EC-4951-9175-136C08F4E327}" type="slidenum">
              <a:rPr lang="en-US" smtClean="0"/>
              <a:t>35</a:t>
            </a:fld>
            <a:endParaRPr lang="en-US"/>
          </a:p>
        </p:txBody>
      </p:sp>
    </p:spTree>
    <p:extLst>
      <p:ext uri="{BB962C8B-B14F-4D97-AF65-F5344CB8AC3E}">
        <p14:creationId xmlns:p14="http://schemas.microsoft.com/office/powerpoint/2010/main" val="843038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36</a:t>
            </a:fld>
            <a:endParaRPr lang="en-US"/>
          </a:p>
        </p:txBody>
      </p:sp>
    </p:spTree>
    <p:extLst>
      <p:ext uri="{BB962C8B-B14F-4D97-AF65-F5344CB8AC3E}">
        <p14:creationId xmlns:p14="http://schemas.microsoft.com/office/powerpoint/2010/main" val="23457246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s-ES" sz="1200" b="1" i="1" kern="1200" dirty="0" err="1" smtClean="0">
                <a:solidFill>
                  <a:schemeClr val="tx1"/>
                </a:solidFill>
                <a:effectLst/>
                <a:latin typeface="+mn-lt"/>
                <a:ea typeface="+mn-ea"/>
                <a:cs typeface="+mn-cs"/>
              </a:rPr>
              <a:t>RegularExpressionAttribute</a:t>
            </a:r>
            <a:r>
              <a:rPr lang="es-ES" sz="1200" b="0" i="0" kern="1200" dirty="0" smtClean="0">
                <a:solidFill>
                  <a:schemeClr val="tx1"/>
                </a:solidFill>
                <a:effectLst/>
                <a:latin typeface="+mn-lt"/>
                <a:ea typeface="+mn-ea"/>
                <a:cs typeface="+mn-cs"/>
              </a:rPr>
              <a:t>: Con esto se exige que la entrada “</a:t>
            </a:r>
            <a:r>
              <a:rPr lang="es-ES" sz="1200" b="0" i="0" kern="1200" dirty="0" err="1" smtClean="0">
                <a:solidFill>
                  <a:schemeClr val="tx1"/>
                </a:solidFill>
                <a:effectLst/>
                <a:latin typeface="+mn-lt"/>
                <a:ea typeface="+mn-ea"/>
                <a:cs typeface="+mn-cs"/>
              </a:rPr>
              <a:t>String</a:t>
            </a:r>
            <a:r>
              <a:rPr lang="es-ES" sz="1200" b="0" i="0" kern="1200" dirty="0" smtClean="0">
                <a:solidFill>
                  <a:schemeClr val="tx1"/>
                </a:solidFill>
                <a:effectLst/>
                <a:latin typeface="+mn-lt"/>
                <a:ea typeface="+mn-ea"/>
                <a:cs typeface="+mn-cs"/>
              </a:rPr>
              <a:t>” cumpla con un determinado formato que debe cumplirse de forma obligatoria ya que en caso contrario el servidor lo dará como invalido. Muy útil para evitar que los usuarios introduzcan caracteres que no deben, como puede ser el caso de un intento de XSS o SQL </a:t>
            </a:r>
            <a:r>
              <a:rPr lang="es-ES" sz="1200" b="0" i="0" kern="1200" dirty="0" err="1" smtClean="0">
                <a:solidFill>
                  <a:schemeClr val="tx1"/>
                </a:solidFill>
                <a:effectLst/>
                <a:latin typeface="+mn-lt"/>
                <a:ea typeface="+mn-ea"/>
                <a:cs typeface="+mn-cs"/>
              </a:rPr>
              <a:t>Injection</a:t>
            </a:r>
            <a:r>
              <a:rPr lang="es-ES" sz="1200" b="0" i="0" kern="1200" dirty="0" smtClean="0">
                <a:solidFill>
                  <a:schemeClr val="tx1"/>
                </a:solidFill>
                <a:effectLst/>
                <a:latin typeface="+mn-lt"/>
                <a:ea typeface="+mn-ea"/>
                <a:cs typeface="+mn-cs"/>
              </a:rPr>
              <a:t>.</a:t>
            </a:r>
          </a:p>
          <a:p>
            <a:r>
              <a:rPr lang="es-ES" sz="1200" b="1" i="1" kern="1200" dirty="0" err="1" smtClean="0">
                <a:solidFill>
                  <a:schemeClr val="tx1"/>
                </a:solidFill>
                <a:effectLst/>
                <a:latin typeface="+mn-lt"/>
                <a:ea typeface="+mn-ea"/>
                <a:cs typeface="+mn-cs"/>
              </a:rPr>
              <a:t>RequiredAttribute</a:t>
            </a:r>
            <a:r>
              <a:rPr lang="es-ES" sz="1200" b="0" i="0" kern="1200" dirty="0" smtClean="0">
                <a:solidFill>
                  <a:schemeClr val="tx1"/>
                </a:solidFill>
                <a:effectLst/>
                <a:latin typeface="+mn-lt"/>
                <a:ea typeface="+mn-ea"/>
                <a:cs typeface="+mn-cs"/>
              </a:rPr>
              <a:t>: Exige que la entrada sea diferente de </a:t>
            </a:r>
            <a:r>
              <a:rPr lang="es-ES" sz="1200" b="0" i="0" kern="1200" dirty="0" err="1" smtClean="0">
                <a:solidFill>
                  <a:schemeClr val="tx1"/>
                </a:solidFill>
                <a:effectLst/>
                <a:latin typeface="+mn-lt"/>
                <a:ea typeface="+mn-ea"/>
                <a:cs typeface="+mn-cs"/>
              </a:rPr>
              <a:t>null</a:t>
            </a:r>
            <a:r>
              <a:rPr lang="es-ES" sz="1200" b="0" i="0" kern="1200" dirty="0" smtClean="0">
                <a:solidFill>
                  <a:schemeClr val="tx1"/>
                </a:solidFill>
                <a:effectLst/>
                <a:latin typeface="+mn-lt"/>
                <a:ea typeface="+mn-ea"/>
                <a:cs typeface="+mn-cs"/>
              </a:rPr>
              <a:t> o vacío, con lo que si el campo se envía sin datos generará un mensaje de error. Puede verse su uso en la clase Persona que se encuentra en la imagen anterior.</a:t>
            </a:r>
          </a:p>
          <a:p>
            <a:r>
              <a:rPr lang="es-ES" sz="1200" b="1" i="1" kern="1200" dirty="0" err="1" smtClean="0">
                <a:solidFill>
                  <a:schemeClr val="tx1"/>
                </a:solidFill>
                <a:effectLst/>
                <a:latin typeface="+mn-lt"/>
                <a:ea typeface="+mn-ea"/>
                <a:cs typeface="+mn-cs"/>
              </a:rPr>
              <a:t>DataTypeAttribute</a:t>
            </a:r>
            <a:r>
              <a:rPr lang="es-ES" sz="1200" b="0" i="0" kern="1200" dirty="0" smtClean="0">
                <a:solidFill>
                  <a:schemeClr val="tx1"/>
                </a:solidFill>
                <a:effectLst/>
                <a:latin typeface="+mn-lt"/>
                <a:ea typeface="+mn-ea"/>
                <a:cs typeface="+mn-cs"/>
              </a:rPr>
              <a:t>: Exige que un elemento sea de un determinado tipo en el caso de que sea necesario, por ejemplo un email, aunque puede entenderse que por debajo utiliza una expresión regular para determinar cuál es correcta y cual no, en la lista posterior se pueden ver los tipos más comúnmente utilizados.</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EmailAddressAttribute</a:t>
            </a:r>
            <a:r>
              <a:rPr lang="es-ES" sz="1200" b="0" i="0" kern="1200" dirty="0" smtClean="0">
                <a:solidFill>
                  <a:schemeClr val="tx1"/>
                </a:solidFill>
                <a:effectLst/>
                <a:latin typeface="+mn-lt"/>
                <a:ea typeface="+mn-ea"/>
                <a:cs typeface="+mn-cs"/>
              </a:rPr>
              <a:t>: Que sea de tipo correo electrónico.</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FileExtensionsAttribute</a:t>
            </a:r>
            <a:r>
              <a:rPr lang="es-ES" sz="1200" b="0" i="0" kern="1200" dirty="0" smtClean="0">
                <a:solidFill>
                  <a:schemeClr val="tx1"/>
                </a:solidFill>
                <a:effectLst/>
                <a:latin typeface="+mn-lt"/>
                <a:ea typeface="+mn-ea"/>
                <a:cs typeface="+mn-cs"/>
              </a:rPr>
              <a:t>: Que coincida con una extensión de fichero.</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CreditCardAttribute</a:t>
            </a:r>
            <a:r>
              <a:rPr lang="es-ES" sz="1200" b="0" i="0" kern="1200" dirty="0" smtClean="0">
                <a:solidFill>
                  <a:schemeClr val="tx1"/>
                </a:solidFill>
                <a:effectLst/>
                <a:latin typeface="+mn-lt"/>
                <a:ea typeface="+mn-ea"/>
                <a:cs typeface="+mn-cs"/>
              </a:rPr>
              <a:t>: Que tenga la forma de una tarjeta de crédito</a:t>
            </a:r>
          </a:p>
          <a:p>
            <a:r>
              <a:rPr lang="es-ES" sz="1200" b="0" i="0" kern="1200" dirty="0" smtClean="0">
                <a:solidFill>
                  <a:schemeClr val="tx1"/>
                </a:solidFill>
                <a:effectLst/>
                <a:latin typeface="+mn-lt"/>
                <a:ea typeface="+mn-ea"/>
                <a:cs typeface="+mn-cs"/>
              </a:rPr>
              <a:t>o   </a:t>
            </a:r>
            <a:r>
              <a:rPr lang="es-ES" sz="1200" b="1" i="1" kern="1200" dirty="0" err="1" smtClean="0">
                <a:solidFill>
                  <a:schemeClr val="tx1"/>
                </a:solidFill>
                <a:effectLst/>
                <a:latin typeface="+mn-lt"/>
                <a:ea typeface="+mn-ea"/>
                <a:cs typeface="+mn-cs"/>
              </a:rPr>
              <a:t>PhoneAttribute</a:t>
            </a:r>
            <a:r>
              <a:rPr lang="es-ES" sz="1200" b="0" i="0" kern="1200" dirty="0" smtClean="0">
                <a:solidFill>
                  <a:schemeClr val="tx1"/>
                </a:solidFill>
                <a:effectLst/>
                <a:latin typeface="+mn-lt"/>
                <a:ea typeface="+mn-ea"/>
                <a:cs typeface="+mn-cs"/>
              </a:rPr>
              <a:t>: Que tenga el formato de un número de teléfono.</a:t>
            </a:r>
          </a:p>
          <a:p>
            <a:endParaRPr lang="es-ES" sz="1200" b="1" i="1" kern="1200" dirty="0" smtClean="0">
              <a:solidFill>
                <a:schemeClr val="tx1"/>
              </a:solidFill>
              <a:effectLst/>
              <a:latin typeface="+mn-lt"/>
              <a:ea typeface="+mn-ea"/>
              <a:cs typeface="+mn-cs"/>
            </a:endParaRPr>
          </a:p>
          <a:p>
            <a:r>
              <a:rPr lang="es-ES" sz="1200" b="1" i="1" kern="1200" dirty="0" err="1" smtClean="0">
                <a:solidFill>
                  <a:schemeClr val="tx1"/>
                </a:solidFill>
                <a:effectLst/>
                <a:latin typeface="+mn-lt"/>
                <a:ea typeface="+mn-ea"/>
                <a:cs typeface="+mn-cs"/>
              </a:rPr>
              <a:t>StringLengthAttribute</a:t>
            </a:r>
            <a:r>
              <a:rPr lang="es-ES" sz="1200" b="0" i="0" kern="1200" dirty="0" smtClean="0">
                <a:solidFill>
                  <a:schemeClr val="tx1"/>
                </a:solidFill>
                <a:effectLst/>
                <a:latin typeface="+mn-lt"/>
                <a:ea typeface="+mn-ea"/>
                <a:cs typeface="+mn-cs"/>
              </a:rPr>
              <a:t>: Establece una longitud exacta de la cadena de caracteres.</a:t>
            </a:r>
          </a:p>
          <a:p>
            <a:r>
              <a:rPr lang="es-ES" sz="1200" b="1" i="1" kern="1200" dirty="0" err="1" smtClean="0">
                <a:solidFill>
                  <a:schemeClr val="tx1"/>
                </a:solidFill>
                <a:effectLst/>
                <a:latin typeface="+mn-lt"/>
                <a:ea typeface="+mn-ea"/>
                <a:cs typeface="+mn-cs"/>
              </a:rPr>
              <a:t>MinLengthAttribute</a:t>
            </a:r>
            <a:r>
              <a:rPr lang="es-ES" sz="1200" b="0" i="0" kern="1200" dirty="0" smtClean="0">
                <a:solidFill>
                  <a:schemeClr val="tx1"/>
                </a:solidFill>
                <a:effectLst/>
                <a:latin typeface="+mn-lt"/>
                <a:ea typeface="+mn-ea"/>
                <a:cs typeface="+mn-cs"/>
              </a:rPr>
              <a:t>: Establece una longitud máxima de la cadena de caracteres.</a:t>
            </a:r>
          </a:p>
          <a:p>
            <a:r>
              <a:rPr lang="es-ES" sz="1200" b="1" i="1" kern="1200" dirty="0" err="1" smtClean="0">
                <a:solidFill>
                  <a:schemeClr val="tx1"/>
                </a:solidFill>
                <a:effectLst/>
                <a:latin typeface="+mn-lt"/>
                <a:ea typeface="+mn-ea"/>
                <a:cs typeface="+mn-cs"/>
              </a:rPr>
              <a:t>MaxLengthAttribute</a:t>
            </a:r>
            <a:r>
              <a:rPr lang="es-ES" sz="1200" b="0" i="0" kern="1200" dirty="0" smtClean="0">
                <a:solidFill>
                  <a:schemeClr val="tx1"/>
                </a:solidFill>
                <a:effectLst/>
                <a:latin typeface="+mn-lt"/>
                <a:ea typeface="+mn-ea"/>
                <a:cs typeface="+mn-cs"/>
              </a:rPr>
              <a:t>: Establece una longitud mínima de la cadena de caracteres.</a:t>
            </a:r>
          </a:p>
          <a:p>
            <a:endParaRPr lang="en-US" dirty="0"/>
          </a:p>
        </p:txBody>
      </p:sp>
      <p:sp>
        <p:nvSpPr>
          <p:cNvPr id="4" name="Slide Number Placeholder 3"/>
          <p:cNvSpPr>
            <a:spLocks noGrp="1"/>
          </p:cNvSpPr>
          <p:nvPr>
            <p:ph type="sldNum" sz="quarter" idx="10"/>
          </p:nvPr>
        </p:nvSpPr>
        <p:spPr/>
        <p:txBody>
          <a:bodyPr/>
          <a:lstStyle/>
          <a:p>
            <a:fld id="{298467EE-86EC-4951-9175-136C08F4E327}" type="slidenum">
              <a:rPr lang="en-US" smtClean="0"/>
              <a:t>37</a:t>
            </a:fld>
            <a:endParaRPr lang="en-US"/>
          </a:p>
        </p:txBody>
      </p:sp>
    </p:spTree>
    <p:extLst>
      <p:ext uri="{BB962C8B-B14F-4D97-AF65-F5344CB8AC3E}">
        <p14:creationId xmlns:p14="http://schemas.microsoft.com/office/powerpoint/2010/main" val="22214970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t>
            </a:r>
            <a:r>
              <a:rPr lang="en-US" sz="1200" b="0" i="0" kern="1200" dirty="0" err="1" smtClean="0">
                <a:solidFill>
                  <a:schemeClr val="tx1"/>
                </a:solidFill>
                <a:effectLst/>
                <a:latin typeface="+mn-lt"/>
                <a:ea typeface="+mn-ea"/>
                <a:cs typeface="+mn-cs"/>
              </a:rPr>
              <a:t>allo</a:t>
            </a: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are really helpful when creating a model in Entity Framework Code-First. They are a simple way of instructing EF how you want the model to be structured and how it should translate the model into a relational database. You can also use validation rules to specify what values are allowed in your parameters. When using MVC and scaffolding these validation rules are also used when creating the user interface for you. You get a lot for free by simply adding the right </a:t>
            </a:r>
            <a:r>
              <a:rPr lang="en-US" sz="1200" b="0" i="0" kern="1200" dirty="0" err="1" smtClean="0">
                <a:solidFill>
                  <a:schemeClr val="tx1"/>
                </a:solidFill>
                <a:effectLst/>
                <a:latin typeface="+mn-lt"/>
                <a:ea typeface="+mn-ea"/>
                <a:cs typeface="+mn-cs"/>
              </a:rPr>
              <a:t>DataAnnotations</a:t>
            </a:r>
            <a:r>
              <a:rPr lang="en-US" sz="1200" b="0" i="0" kern="1200" dirty="0" smtClean="0">
                <a:solidFill>
                  <a:schemeClr val="tx1"/>
                </a:solidFill>
                <a:effectLst/>
                <a:latin typeface="+mn-lt"/>
                <a:ea typeface="+mn-ea"/>
                <a:cs typeface="+mn-cs"/>
              </a:rPr>
              <a:t> to your model. It’s really something worth looking into if you haven’t done it so far.</a:t>
            </a:r>
          </a:p>
          <a:p>
            <a:r>
              <a:rPr lang="en-US" sz="1200" b="0" i="0" kern="1200" dirty="0" smtClean="0">
                <a:solidFill>
                  <a:schemeClr val="tx1"/>
                </a:solidFill>
                <a:effectLst/>
                <a:latin typeface="+mn-lt"/>
                <a:ea typeface="+mn-ea"/>
                <a:cs typeface="+mn-cs"/>
              </a:rPr>
              <a:t>The attributes used in Code-First can be classified into two categories:</a:t>
            </a:r>
          </a:p>
          <a:p>
            <a:r>
              <a:rPr lang="en-US" sz="1200" b="0" i="0" kern="1200" dirty="0" smtClean="0">
                <a:solidFill>
                  <a:schemeClr val="tx1"/>
                </a:solidFill>
                <a:effectLst/>
                <a:latin typeface="+mn-lt"/>
                <a:ea typeface="+mn-ea"/>
                <a:cs typeface="+mn-cs"/>
              </a:rPr>
              <a:t>Validation attributes</a:t>
            </a:r>
          </a:p>
          <a:p>
            <a:r>
              <a:rPr lang="en-US" sz="1200" b="0" i="0" kern="1200" dirty="0" smtClean="0">
                <a:solidFill>
                  <a:schemeClr val="tx1"/>
                </a:solidFill>
                <a:effectLst/>
                <a:latin typeface="+mn-lt"/>
                <a:ea typeface="+mn-ea"/>
                <a:cs typeface="+mn-cs"/>
              </a:rPr>
              <a:t>Database schema related attributes</a:t>
            </a:r>
          </a:p>
          <a:p>
            <a:r>
              <a:rPr lang="en-US" sz="1200" b="0" i="0" kern="1200" dirty="0" smtClean="0">
                <a:solidFill>
                  <a:schemeClr val="tx1"/>
                </a:solidFill>
                <a:effectLst/>
                <a:latin typeface="+mn-lt"/>
                <a:ea typeface="+mn-ea"/>
                <a:cs typeface="+mn-cs"/>
              </a:rPr>
              <a:t>In this post I’ll look into the first category and will also provide with code examples for each of the attributes. If you think I’ve missed out on any good ones you’re more then welcome to write a comment. Later on I’ll post a text based upon the second category of attributes as well.</a:t>
            </a:r>
          </a:p>
          <a:p>
            <a:r>
              <a:rPr lang="en-US" sz="1200" b="1" i="0" kern="1200" dirty="0" smtClean="0">
                <a:solidFill>
                  <a:schemeClr val="tx1"/>
                </a:solidFill>
                <a:effectLst/>
                <a:latin typeface="+mn-lt"/>
                <a:ea typeface="+mn-ea"/>
                <a:cs typeface="+mn-cs"/>
              </a:rPr>
              <a:t>How to use attributes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All attributes are written just before the property/class/function they’re validating, with zero or more mandatory parameters followed by a list of optional named parameters. The attribute </a:t>
            </a:r>
            <a:r>
              <a:rPr lang="en-US" sz="1200" b="0" i="0" kern="1200" dirty="0" err="1" smtClean="0">
                <a:solidFill>
                  <a:schemeClr val="tx1"/>
                </a:solidFill>
                <a:effectLst/>
                <a:latin typeface="+mn-lt"/>
                <a:ea typeface="+mn-ea"/>
                <a:cs typeface="+mn-cs"/>
              </a:rPr>
              <a:t>StringLength</a:t>
            </a:r>
            <a:r>
              <a:rPr lang="en-US" sz="1200" b="0" i="0" kern="1200" dirty="0" smtClean="0">
                <a:solidFill>
                  <a:schemeClr val="tx1"/>
                </a:solidFill>
                <a:effectLst/>
                <a:latin typeface="+mn-lt"/>
                <a:ea typeface="+mn-ea"/>
                <a:cs typeface="+mn-cs"/>
              </a:rPr>
              <a:t>, for example, has one mandatory parameter: </a:t>
            </a:r>
            <a:r>
              <a:rPr lang="en-US" sz="1200" b="0" i="0" kern="1200" dirty="0" err="1" smtClean="0">
                <a:solidFill>
                  <a:schemeClr val="tx1"/>
                </a:solidFill>
                <a:effectLst/>
                <a:latin typeface="+mn-lt"/>
                <a:ea typeface="+mn-ea"/>
                <a:cs typeface="+mn-cs"/>
              </a:rPr>
              <a:t>MaximumLength</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8467EE-86EC-4951-9175-136C08F4E327}" type="slidenum">
              <a:rPr lang="en-US" smtClean="0"/>
              <a:t>38</a:t>
            </a:fld>
            <a:endParaRPr lang="en-US"/>
          </a:p>
        </p:txBody>
      </p:sp>
    </p:spTree>
    <p:extLst>
      <p:ext uri="{BB962C8B-B14F-4D97-AF65-F5344CB8AC3E}">
        <p14:creationId xmlns:p14="http://schemas.microsoft.com/office/powerpoint/2010/main" val="2966637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39</a:t>
            </a:fld>
            <a:endParaRPr lang="en-US" dirty="0"/>
          </a:p>
        </p:txBody>
      </p:sp>
    </p:spTree>
    <p:extLst>
      <p:ext uri="{BB962C8B-B14F-4D97-AF65-F5344CB8AC3E}">
        <p14:creationId xmlns:p14="http://schemas.microsoft.com/office/powerpoint/2010/main" val="3057648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40</a:t>
            </a:fld>
            <a:endParaRPr lang="en-US" dirty="0"/>
          </a:p>
        </p:txBody>
      </p:sp>
    </p:spTree>
    <p:extLst>
      <p:ext uri="{BB962C8B-B14F-4D97-AF65-F5344CB8AC3E}">
        <p14:creationId xmlns:p14="http://schemas.microsoft.com/office/powerpoint/2010/main" val="39534506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t>
            </a:r>
            <a:r>
              <a:rPr lang="en-US" sz="1200" b="1" i="0" kern="1200" dirty="0" err="1" smtClean="0">
                <a:solidFill>
                  <a:schemeClr val="tx1"/>
                </a:solidFill>
                <a:effectLst/>
                <a:latin typeface="+mn-lt"/>
                <a:ea typeface="+mn-ea"/>
                <a:cs typeface="+mn-cs"/>
              </a:rPr>
              <a:t>FormCollection</a:t>
            </a:r>
            <a:r>
              <a:rPr lang="en-US" sz="1200" b="0" i="0" kern="1200" dirty="0" smtClean="0">
                <a:solidFill>
                  <a:schemeClr val="tx1"/>
                </a:solidFill>
                <a:effectLst/>
                <a:latin typeface="+mn-lt"/>
                <a:ea typeface="+mn-ea"/>
                <a:cs typeface="+mn-cs"/>
              </a:rPr>
              <a:t> is how ASP.NET provides you access to the values that were just posted to your page. You could also use a strongly typed argument and then ASP.NET MVC would use </a:t>
            </a:r>
            <a:r>
              <a:rPr lang="en-US" sz="1200" b="0" i="0" kern="1200" dirty="0" err="1" smtClean="0">
                <a:solidFill>
                  <a:schemeClr val="tx1"/>
                </a:solidFill>
                <a:effectLst/>
                <a:latin typeface="+mn-lt"/>
                <a:ea typeface="+mn-ea"/>
                <a:cs typeface="+mn-cs"/>
              </a:rPr>
              <a:t>the</a:t>
            </a:r>
            <a:r>
              <a:rPr lang="en-US" sz="1200" b="1" i="0" kern="1200" dirty="0" err="1" smtClean="0">
                <a:solidFill>
                  <a:schemeClr val="tx1"/>
                </a:solidFill>
                <a:effectLst/>
                <a:latin typeface="+mn-lt"/>
                <a:ea typeface="+mn-ea"/>
                <a:cs typeface="+mn-cs"/>
              </a:rPr>
              <a:t>FormCollection</a:t>
            </a:r>
            <a:r>
              <a:rPr lang="en-US" sz="1200" b="0" i="0" kern="1200" dirty="0" smtClean="0">
                <a:solidFill>
                  <a:schemeClr val="tx1"/>
                </a:solidFill>
                <a:effectLst/>
                <a:latin typeface="+mn-lt"/>
                <a:ea typeface="+mn-ea"/>
                <a:cs typeface="+mn-cs"/>
              </a:rPr>
              <a:t> internally to create your strongly typed </a:t>
            </a:r>
          </a:p>
          <a:p>
            <a:endParaRPr lang="en-US" sz="1200" b="0" i="0" kern="1200" dirty="0" smtClean="0">
              <a:solidFill>
                <a:schemeClr val="tx1"/>
              </a:solidFill>
              <a:effectLst/>
              <a:latin typeface="+mn-lt"/>
              <a:ea typeface="+mn-ea"/>
              <a:cs typeface="+mn-cs"/>
            </a:endParaRPr>
          </a:p>
          <a:p>
            <a:r>
              <a:rPr lang="en-US" dirty="0" err="1" smtClean="0"/>
              <a:t>FormCollection</a:t>
            </a:r>
            <a:r>
              <a:rPr lang="en-US" sz="1200" b="0" i="0" kern="1200" dirty="0" smtClean="0">
                <a:solidFill>
                  <a:schemeClr val="tx1"/>
                </a:solidFill>
                <a:effectLst/>
                <a:latin typeface="+mn-lt"/>
                <a:ea typeface="+mn-ea"/>
                <a:cs typeface="+mn-cs"/>
              </a:rPr>
              <a:t> contains your form state coming back to your server.</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41</a:t>
            </a:fld>
            <a:endParaRPr lang="en-US" dirty="0"/>
          </a:p>
        </p:txBody>
      </p:sp>
    </p:spTree>
    <p:extLst>
      <p:ext uri="{BB962C8B-B14F-4D97-AF65-F5344CB8AC3E}">
        <p14:creationId xmlns:p14="http://schemas.microsoft.com/office/powerpoint/2010/main" val="1862115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42</a:t>
            </a:fld>
            <a:endParaRPr lang="en-US" dirty="0"/>
          </a:p>
        </p:txBody>
      </p:sp>
    </p:spTree>
    <p:extLst>
      <p:ext uri="{BB962C8B-B14F-4D97-AF65-F5344CB8AC3E}">
        <p14:creationId xmlns:p14="http://schemas.microsoft.com/office/powerpoint/2010/main" val="1029699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43</a:t>
            </a:fld>
            <a:endParaRPr lang="en-US" dirty="0"/>
          </a:p>
        </p:txBody>
      </p:sp>
    </p:spTree>
    <p:extLst>
      <p:ext uri="{BB962C8B-B14F-4D97-AF65-F5344CB8AC3E}">
        <p14:creationId xmlns:p14="http://schemas.microsoft.com/office/powerpoint/2010/main" val="20392659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1" kern="1200" dirty="0" smtClean="0">
                <a:solidFill>
                  <a:schemeClr val="tx1"/>
                </a:solidFill>
                <a:effectLst/>
                <a:latin typeface="+mn-lt"/>
                <a:ea typeface="+mn-ea"/>
                <a:cs typeface="+mn-cs"/>
              </a:rPr>
              <a:t>How the values from HTML form(view) gets converted to the Model class when it reaches the Action method of the Controller class?</a:t>
            </a:r>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Model Binding allows you to map and bind the HTTP request data with a model. If you want to work with the form data, Model Binding makes it easier because the requested data is submitted automatically into a data model that we specify</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44</a:t>
            </a:fld>
            <a:endParaRPr lang="en-US" dirty="0"/>
          </a:p>
        </p:txBody>
      </p:sp>
    </p:spTree>
    <p:extLst>
      <p:ext uri="{BB962C8B-B14F-4D97-AF65-F5344CB8AC3E}">
        <p14:creationId xmlns:p14="http://schemas.microsoft.com/office/powerpoint/2010/main" val="14465044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is called immediately above the HTML form. This helper is used to display a list of validation error messages. 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renders the errors in a bulleted list.</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Html.ValidationMessage</a:t>
            </a:r>
            <a:r>
              <a:rPr lang="en-US" sz="1200" b="0" i="0" kern="1200" dirty="0" smtClean="0">
                <a:solidFill>
                  <a:schemeClr val="tx1"/>
                </a:solidFill>
                <a:effectLst/>
                <a:latin typeface="+mn-lt"/>
                <a:ea typeface="+mn-ea"/>
                <a:cs typeface="+mn-cs"/>
              </a:rPr>
              <a:t>() helper is called next to each of the HTML form fields. This helper is used to display an error message right next to a form field. In the case of Listing 2, the </a:t>
            </a:r>
            <a:r>
              <a:rPr lang="en-US" sz="1200" b="0" i="0" kern="1200" dirty="0" err="1" smtClean="0">
                <a:solidFill>
                  <a:schemeClr val="tx1"/>
                </a:solidFill>
                <a:effectLst/>
                <a:latin typeface="+mn-lt"/>
                <a:ea typeface="+mn-ea"/>
                <a:cs typeface="+mn-cs"/>
              </a:rPr>
              <a:t>Html.ValidationMessage</a:t>
            </a:r>
            <a:r>
              <a:rPr lang="en-US" sz="1200" b="0" i="0" kern="1200" dirty="0" smtClean="0">
                <a:solidFill>
                  <a:schemeClr val="tx1"/>
                </a:solidFill>
                <a:effectLst/>
                <a:latin typeface="+mn-lt"/>
                <a:ea typeface="+mn-ea"/>
                <a:cs typeface="+mn-cs"/>
              </a:rPr>
              <a:t>() helper displays an asterisk when there is an error.</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46</a:t>
            </a:fld>
            <a:endParaRPr lang="en-US" dirty="0"/>
          </a:p>
        </p:txBody>
      </p:sp>
    </p:spTree>
    <p:extLst>
      <p:ext uri="{BB962C8B-B14F-4D97-AF65-F5344CB8AC3E}">
        <p14:creationId xmlns:p14="http://schemas.microsoft.com/office/powerpoint/2010/main" val="3500081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is called immediately above the HTML form. This helper is used to display a list of validation error messages. The </a:t>
            </a:r>
            <a:r>
              <a:rPr lang="en-US" sz="1200" b="0" i="0" kern="1200" dirty="0" err="1" smtClean="0">
                <a:solidFill>
                  <a:schemeClr val="tx1"/>
                </a:solidFill>
                <a:effectLst/>
                <a:latin typeface="+mn-lt"/>
                <a:ea typeface="+mn-ea"/>
                <a:cs typeface="+mn-cs"/>
              </a:rPr>
              <a:t>Html.ValidationSummary</a:t>
            </a:r>
            <a:r>
              <a:rPr lang="en-US" sz="1200" b="0" i="0" kern="1200" dirty="0" smtClean="0">
                <a:solidFill>
                  <a:schemeClr val="tx1"/>
                </a:solidFill>
                <a:effectLst/>
                <a:latin typeface="+mn-lt"/>
                <a:ea typeface="+mn-ea"/>
                <a:cs typeface="+mn-cs"/>
              </a:rPr>
              <a:t>() helper renders the errors in a bulleted list.</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Html.ValidationMessage</a:t>
            </a:r>
            <a:r>
              <a:rPr lang="en-US" sz="1200" b="0" i="0" kern="1200" dirty="0" smtClean="0">
                <a:solidFill>
                  <a:schemeClr val="tx1"/>
                </a:solidFill>
                <a:effectLst/>
                <a:latin typeface="+mn-lt"/>
                <a:ea typeface="+mn-ea"/>
                <a:cs typeface="+mn-cs"/>
              </a:rPr>
              <a:t>() helper is called next to each of the HTML form fields. This helper is used to display an error message right next to a form field. In the case of Listing 2, the </a:t>
            </a:r>
            <a:r>
              <a:rPr lang="en-US" sz="1200" b="0" i="0" kern="1200" dirty="0" err="1" smtClean="0">
                <a:solidFill>
                  <a:schemeClr val="tx1"/>
                </a:solidFill>
                <a:effectLst/>
                <a:latin typeface="+mn-lt"/>
                <a:ea typeface="+mn-ea"/>
                <a:cs typeface="+mn-cs"/>
              </a:rPr>
              <a:t>Html.ValidationMessage</a:t>
            </a:r>
            <a:r>
              <a:rPr lang="en-US" sz="1200" b="0" i="0" kern="1200" smtClean="0">
                <a:solidFill>
                  <a:schemeClr val="tx1"/>
                </a:solidFill>
                <a:effectLst/>
                <a:latin typeface="+mn-lt"/>
                <a:ea typeface="+mn-ea"/>
                <a:cs typeface="+mn-cs"/>
              </a:rPr>
              <a:t>() helper displays an asterisk when there is an error.</a:t>
            </a:r>
            <a:endParaRPr lang="es-AR" dirty="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47</a:t>
            </a:fld>
            <a:endParaRPr lang="en-US" dirty="0"/>
          </a:p>
        </p:txBody>
      </p:sp>
    </p:spTree>
    <p:extLst>
      <p:ext uri="{BB962C8B-B14F-4D97-AF65-F5344CB8AC3E}">
        <p14:creationId xmlns:p14="http://schemas.microsoft.com/office/powerpoint/2010/main" val="18113539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49</a:t>
            </a:fld>
            <a:endParaRPr lang="en-US" dirty="0"/>
          </a:p>
        </p:txBody>
      </p:sp>
    </p:spTree>
    <p:extLst>
      <p:ext uri="{BB962C8B-B14F-4D97-AF65-F5344CB8AC3E}">
        <p14:creationId xmlns:p14="http://schemas.microsoft.com/office/powerpoint/2010/main" val="25114219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i="0" kern="1200" dirty="0" smtClean="0">
                <a:solidFill>
                  <a:schemeClr val="tx1"/>
                </a:solidFill>
                <a:effectLst/>
                <a:latin typeface="+mn-lt"/>
                <a:ea typeface="+mn-ea"/>
                <a:cs typeface="+mn-cs"/>
              </a:rPr>
              <a:t>In </a:t>
            </a:r>
            <a:r>
              <a:rPr lang="en-US" sz="1200" b="0" i="0" u="none" strike="noStrike" kern="1200" dirty="0" smtClean="0">
                <a:solidFill>
                  <a:schemeClr val="tx1"/>
                </a:solidFill>
                <a:effectLst/>
                <a:latin typeface="+mn-lt"/>
                <a:ea typeface="+mn-ea"/>
                <a:cs typeface="+mn-cs"/>
                <a:hlinkClick r:id="rId3" tooltip="Software engineering"/>
              </a:rPr>
              <a:t>software engineering</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dependency injection</a:t>
            </a:r>
            <a:r>
              <a:rPr lang="en-US" sz="1200" b="0" i="0" kern="1200" dirty="0" smtClean="0">
                <a:solidFill>
                  <a:schemeClr val="tx1"/>
                </a:solidFill>
                <a:effectLst/>
                <a:latin typeface="+mn-lt"/>
                <a:ea typeface="+mn-ea"/>
                <a:cs typeface="+mn-cs"/>
              </a:rPr>
              <a:t> is a </a:t>
            </a:r>
            <a:r>
              <a:rPr lang="en-US" sz="1200" b="0" i="0" u="none" strike="noStrike" kern="1200" dirty="0" smtClean="0">
                <a:solidFill>
                  <a:schemeClr val="tx1"/>
                </a:solidFill>
                <a:effectLst/>
                <a:latin typeface="+mn-lt"/>
                <a:ea typeface="+mn-ea"/>
                <a:cs typeface="+mn-cs"/>
                <a:hlinkClick r:id="rId4" tooltip="Software design pattern"/>
              </a:rPr>
              <a:t>software design pattern</a:t>
            </a:r>
            <a:r>
              <a:rPr lang="en-US" sz="1200" b="0" i="0" kern="1200" dirty="0" smtClean="0">
                <a:solidFill>
                  <a:schemeClr val="tx1"/>
                </a:solidFill>
                <a:effectLst/>
                <a:latin typeface="+mn-lt"/>
                <a:ea typeface="+mn-ea"/>
                <a:cs typeface="+mn-cs"/>
              </a:rPr>
              <a:t> that implements </a:t>
            </a:r>
            <a:r>
              <a:rPr lang="en-US" sz="1200" b="0" i="0" u="none" strike="noStrike" kern="1200" dirty="0" smtClean="0">
                <a:solidFill>
                  <a:schemeClr val="tx1"/>
                </a:solidFill>
                <a:effectLst/>
                <a:latin typeface="+mn-lt"/>
                <a:ea typeface="+mn-ea"/>
                <a:cs typeface="+mn-cs"/>
                <a:hlinkClick r:id="rId5" tooltip="Inversion of control"/>
              </a:rPr>
              <a:t>inversion of control</a:t>
            </a:r>
            <a:r>
              <a:rPr lang="en-US" sz="1200" b="0" i="0" kern="1200" dirty="0" smtClean="0">
                <a:solidFill>
                  <a:schemeClr val="tx1"/>
                </a:solidFill>
                <a:effectLst/>
                <a:latin typeface="+mn-lt"/>
                <a:ea typeface="+mn-ea"/>
                <a:cs typeface="+mn-cs"/>
              </a:rPr>
              <a:t> for resolving dependencies.</a:t>
            </a:r>
          </a:p>
          <a:p>
            <a:r>
              <a:rPr lang="en-US" sz="1200" b="0" i="0" kern="1200" dirty="0" smtClean="0">
                <a:solidFill>
                  <a:schemeClr val="tx1"/>
                </a:solidFill>
                <a:effectLst/>
                <a:latin typeface="+mn-lt"/>
                <a:ea typeface="+mn-ea"/>
                <a:cs typeface="+mn-cs"/>
              </a:rPr>
              <a:t>Dependency injection means giving an object its instance variables. Really. That's it.</a:t>
            </a:r>
          </a:p>
          <a:p>
            <a:r>
              <a:rPr lang="en-US" sz="1200" b="0" i="1" kern="1200" dirty="0" smtClean="0">
                <a:solidFill>
                  <a:schemeClr val="tx1"/>
                </a:solidFill>
                <a:effectLst/>
                <a:latin typeface="+mn-lt"/>
                <a:ea typeface="+mn-ea"/>
                <a:cs typeface="+mn-cs"/>
              </a:rPr>
              <a:t>James Shore, 22 March 2006.</a:t>
            </a:r>
            <a:r>
              <a:rPr lang="en-US" sz="1200" b="0" i="0" u="none" strike="noStrike" kern="1200" baseline="30000" dirty="0" smtClean="0">
                <a:solidFill>
                  <a:schemeClr val="tx1"/>
                </a:solidFill>
                <a:effectLst/>
                <a:latin typeface="+mn-lt"/>
                <a:ea typeface="+mn-ea"/>
                <a:cs typeface="+mn-cs"/>
                <a:hlinkClick r:id="rId6"/>
              </a:rPr>
              <a:t>[1]</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dependency is an </a:t>
            </a:r>
            <a:r>
              <a:rPr lang="en-US" sz="1200" b="0" i="0" u="none" strike="noStrike" kern="1200" dirty="0" smtClean="0">
                <a:solidFill>
                  <a:schemeClr val="tx1"/>
                </a:solidFill>
                <a:effectLst/>
                <a:latin typeface="+mn-lt"/>
                <a:ea typeface="+mn-ea"/>
                <a:cs typeface="+mn-cs"/>
                <a:hlinkClick r:id="rId7" tooltip="Object (computer science)"/>
              </a:rPr>
              <a:t>object</a:t>
            </a:r>
            <a:r>
              <a:rPr lang="en-US" sz="1200" b="0" i="0" kern="1200" dirty="0" smtClean="0">
                <a:solidFill>
                  <a:schemeClr val="tx1"/>
                </a:solidFill>
                <a:effectLst/>
                <a:latin typeface="+mn-lt"/>
                <a:ea typeface="+mn-ea"/>
                <a:cs typeface="+mn-cs"/>
              </a:rPr>
              <a:t> that can be used (a </a:t>
            </a:r>
            <a:r>
              <a:rPr lang="en-US" sz="1200" b="0" i="0" u="none" strike="noStrike" kern="1200" dirty="0" smtClean="0">
                <a:solidFill>
                  <a:schemeClr val="tx1"/>
                </a:solidFill>
                <a:effectLst/>
                <a:latin typeface="+mn-lt"/>
                <a:ea typeface="+mn-ea"/>
                <a:cs typeface="+mn-cs"/>
                <a:hlinkClick r:id="rId8" tooltip="Service (systems architecture)"/>
              </a:rPr>
              <a:t>service</a:t>
            </a:r>
            <a:r>
              <a:rPr lang="en-US" sz="1200" b="0" i="0" kern="1200" dirty="0" smtClean="0">
                <a:solidFill>
                  <a:schemeClr val="tx1"/>
                </a:solidFill>
                <a:effectLst/>
                <a:latin typeface="+mn-lt"/>
                <a:ea typeface="+mn-ea"/>
                <a:cs typeface="+mn-cs"/>
              </a:rPr>
              <a:t>). An injection is the passing of a dependency to a dependent object (a </a:t>
            </a:r>
            <a:r>
              <a:rPr lang="en-US" sz="1200" b="0" i="0" u="none" strike="noStrike" kern="1200" dirty="0" smtClean="0">
                <a:solidFill>
                  <a:schemeClr val="tx1"/>
                </a:solidFill>
                <a:effectLst/>
                <a:latin typeface="+mn-lt"/>
                <a:ea typeface="+mn-ea"/>
                <a:cs typeface="+mn-cs"/>
                <a:hlinkClick r:id="rId9" tooltip="Client (computing)"/>
              </a:rPr>
              <a:t>client</a:t>
            </a:r>
            <a:r>
              <a:rPr lang="en-US" sz="1200" b="0" i="0" kern="1200" dirty="0" smtClean="0">
                <a:solidFill>
                  <a:schemeClr val="tx1"/>
                </a:solidFill>
                <a:effectLst/>
                <a:latin typeface="+mn-lt"/>
                <a:ea typeface="+mn-ea"/>
                <a:cs typeface="+mn-cs"/>
              </a:rPr>
              <a:t>) that would use it. The service is made part of the client's </a:t>
            </a:r>
            <a:r>
              <a:rPr lang="en-US" sz="1200" b="0" i="0" u="none" strike="noStrike" kern="1200" dirty="0" smtClean="0">
                <a:solidFill>
                  <a:schemeClr val="tx1"/>
                </a:solidFill>
                <a:effectLst/>
                <a:latin typeface="+mn-lt"/>
                <a:ea typeface="+mn-ea"/>
                <a:cs typeface="+mn-cs"/>
                <a:hlinkClick r:id="rId10" tooltip="State (computer science)"/>
              </a:rPr>
              <a:t>state</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6"/>
              </a:rPr>
              <a:t>[1]</a:t>
            </a:r>
            <a:r>
              <a:rPr lang="en-US" sz="1200" b="0" i="0" kern="1200" dirty="0" smtClean="0">
                <a:solidFill>
                  <a:schemeClr val="tx1"/>
                </a:solidFill>
                <a:effectLst/>
                <a:latin typeface="+mn-lt"/>
                <a:ea typeface="+mn-ea"/>
                <a:cs typeface="+mn-cs"/>
              </a:rPr>
              <a:t> Passing the service to the client, rather than allowing a client to build or find the service, is the fundamental requirement of the pattern.</a:t>
            </a:r>
          </a:p>
          <a:p>
            <a:r>
              <a:rPr lang="en-US" sz="1200" b="0" i="0" kern="1200" dirty="0" smtClean="0">
                <a:solidFill>
                  <a:schemeClr val="tx1"/>
                </a:solidFill>
                <a:effectLst/>
                <a:latin typeface="+mn-lt"/>
                <a:ea typeface="+mn-ea"/>
                <a:cs typeface="+mn-cs"/>
              </a:rPr>
              <a:t>"Don't call us, we'll call you"</a:t>
            </a:r>
          </a:p>
          <a:p>
            <a:r>
              <a:rPr lang="en-US" sz="1200" b="0" i="1" u="none" strike="noStrike" kern="1200" dirty="0" smtClean="0">
                <a:solidFill>
                  <a:schemeClr val="tx1"/>
                </a:solidFill>
                <a:effectLst/>
                <a:latin typeface="+mn-lt"/>
                <a:ea typeface="+mn-ea"/>
                <a:cs typeface="+mn-cs"/>
                <a:hlinkClick r:id="rId11" tooltip="Hollywood Principle"/>
              </a:rPr>
              <a:t>Hollywood Principle</a:t>
            </a:r>
            <a:r>
              <a:rPr lang="en-US" sz="1200" b="0" i="1"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12"/>
              </a:rPr>
              <a:t>[2]</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Dependency injection allows a program design to follow the </a:t>
            </a:r>
            <a:r>
              <a:rPr lang="en-US" sz="1200" b="0" i="0" u="none" strike="noStrike" kern="1200" dirty="0" smtClean="0">
                <a:solidFill>
                  <a:schemeClr val="tx1"/>
                </a:solidFill>
                <a:effectLst/>
                <a:latin typeface="+mn-lt"/>
                <a:ea typeface="+mn-ea"/>
                <a:cs typeface="+mn-cs"/>
                <a:hlinkClick r:id="rId13" tooltip="Dependency inversion principle"/>
              </a:rPr>
              <a:t>dependency inversion principle</a:t>
            </a:r>
            <a:r>
              <a:rPr lang="en-US" sz="1200" b="0" i="0" kern="1200" dirty="0" smtClean="0">
                <a:solidFill>
                  <a:schemeClr val="tx1"/>
                </a:solidFill>
                <a:effectLst/>
                <a:latin typeface="+mn-lt"/>
                <a:ea typeface="+mn-ea"/>
                <a:cs typeface="+mn-cs"/>
              </a:rPr>
              <a:t>. The client delegates to external code (the injector) the responsibility of providing its dependencies. The client is not allowed to call the injector code.</a:t>
            </a:r>
            <a:r>
              <a:rPr lang="en-US" sz="1200" b="0" i="0" u="none" strike="noStrike" kern="1200" baseline="30000" dirty="0" smtClean="0">
                <a:solidFill>
                  <a:schemeClr val="tx1"/>
                </a:solidFill>
                <a:effectLst/>
                <a:latin typeface="+mn-lt"/>
                <a:ea typeface="+mn-ea"/>
                <a:cs typeface="+mn-cs"/>
                <a:hlinkClick r:id="rId12"/>
              </a:rPr>
              <a:t>[2]</a:t>
            </a:r>
            <a:r>
              <a:rPr lang="en-US" sz="1200" b="0" i="0" kern="1200" dirty="0" smtClean="0">
                <a:solidFill>
                  <a:schemeClr val="tx1"/>
                </a:solidFill>
                <a:effectLst/>
                <a:latin typeface="+mn-lt"/>
                <a:ea typeface="+mn-ea"/>
                <a:cs typeface="+mn-cs"/>
              </a:rPr>
              <a:t> It is the injecting code that constructs the services and calls the client to inject them. This means the client code does not need to know about the injecting code. The client does not need to know how to construct the services. The client does not need to know which actual services it is using. The client only needs to know about the intrinsic interfaces of the services because these define how the client may use the services. This separates the responsibilities of use and construction.</a:t>
            </a:r>
          </a:p>
          <a:p>
            <a:r>
              <a:rPr lang="en-US" sz="1200" b="0" i="0" kern="1200" dirty="0" smtClean="0">
                <a:solidFill>
                  <a:schemeClr val="tx1"/>
                </a:solidFill>
                <a:effectLst/>
                <a:latin typeface="+mn-lt"/>
                <a:ea typeface="+mn-ea"/>
                <a:cs typeface="+mn-cs"/>
              </a:rPr>
              <a:t>There are three common means for a client to accept a dependency injection: </a:t>
            </a:r>
            <a:r>
              <a:rPr lang="en-US" sz="1200" b="0" i="0" u="none" strike="noStrike" kern="1200" dirty="0" smtClean="0">
                <a:solidFill>
                  <a:schemeClr val="tx1"/>
                </a:solidFill>
                <a:effectLst/>
                <a:latin typeface="+mn-lt"/>
                <a:ea typeface="+mn-ea"/>
                <a:cs typeface="+mn-cs"/>
                <a:hlinkClick r:id="rId14" tooltip="Mutator method"/>
              </a:rPr>
              <a:t>setter</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5" tooltip="Interface (object-oriented programming)"/>
              </a:rPr>
              <a:t>interface</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16" tooltip="Constructor"/>
              </a:rPr>
              <a:t>constructor</a:t>
            </a:r>
            <a:r>
              <a:rPr lang="en-US" sz="1200" b="0" i="0" kern="1200" dirty="0" smtClean="0">
                <a:solidFill>
                  <a:schemeClr val="tx1"/>
                </a:solidFill>
                <a:effectLst/>
                <a:latin typeface="+mn-lt"/>
                <a:ea typeface="+mn-ea"/>
                <a:cs typeface="+mn-cs"/>
              </a:rPr>
              <a:t>-based injection. Setter and constructor injection differ mainly by when they can be used. Interface injection differs in that the dependency is given a chance to control its own injection. All require that separate construction code (the injector) take responsibility for introducing a client and its dependencies to each other.</a:t>
            </a:r>
            <a:r>
              <a:rPr lang="en-US" sz="1200" b="0" i="0" u="none" strike="noStrike" kern="1200" baseline="30000" dirty="0" smtClean="0">
                <a:solidFill>
                  <a:schemeClr val="tx1"/>
                </a:solidFill>
                <a:effectLst/>
                <a:latin typeface="+mn-lt"/>
                <a:ea typeface="+mn-ea"/>
                <a:cs typeface="+mn-cs"/>
                <a:hlinkClick r:id="rId17"/>
              </a:rPr>
              <a:t>[3]</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0A8A4F1-DD7B-454E-8BE0-478365ADD5A0}" type="slidenum">
              <a:rPr lang="en-US" smtClean="0"/>
              <a:pPr/>
              <a:t>50</a:t>
            </a:fld>
            <a:endParaRPr lang="en-US" dirty="0"/>
          </a:p>
        </p:txBody>
      </p:sp>
    </p:spTree>
    <p:extLst>
      <p:ext uri="{BB962C8B-B14F-4D97-AF65-F5344CB8AC3E}">
        <p14:creationId xmlns:p14="http://schemas.microsoft.com/office/powerpoint/2010/main" val="29738309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AR" dirty="0"/>
          </a:p>
        </p:txBody>
      </p:sp>
      <p:sp>
        <p:nvSpPr>
          <p:cNvPr id="4" name="Slide Number Placeholder 3"/>
          <p:cNvSpPr>
            <a:spLocks noGrp="1"/>
          </p:cNvSpPr>
          <p:nvPr>
            <p:ph type="sldNum" sz="quarter" idx="10"/>
          </p:nvPr>
        </p:nvSpPr>
        <p:spPr/>
        <p:txBody>
          <a:bodyPr/>
          <a:lstStyle/>
          <a:p>
            <a:fld id="{F0A8A4F1-DD7B-454E-8BE0-478365ADD5A0}" type="slidenum">
              <a:rPr lang="en-US" smtClean="0"/>
              <a:t>51</a:t>
            </a:fld>
            <a:endParaRPr lang="en-US" dirty="0"/>
          </a:p>
        </p:txBody>
      </p:sp>
    </p:spTree>
    <p:extLst>
      <p:ext uri="{BB962C8B-B14F-4D97-AF65-F5344CB8AC3E}">
        <p14:creationId xmlns:p14="http://schemas.microsoft.com/office/powerpoint/2010/main" val="18802023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smtClean="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54</a:t>
            </a:fld>
            <a:endParaRPr lang="en-US" dirty="0"/>
          </a:p>
        </p:txBody>
      </p:sp>
    </p:spTree>
    <p:extLst>
      <p:ext uri="{BB962C8B-B14F-4D97-AF65-F5344CB8AC3E}">
        <p14:creationId xmlns:p14="http://schemas.microsoft.com/office/powerpoint/2010/main" val="27585206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smtClean="0"/>
          </a:p>
        </p:txBody>
      </p:sp>
      <p:sp>
        <p:nvSpPr>
          <p:cNvPr id="4" name="3 Marcador de número de diapositiva"/>
          <p:cNvSpPr>
            <a:spLocks noGrp="1"/>
          </p:cNvSpPr>
          <p:nvPr>
            <p:ph type="sldNum" sz="quarter" idx="10"/>
          </p:nvPr>
        </p:nvSpPr>
        <p:spPr/>
        <p:txBody>
          <a:bodyPr/>
          <a:lstStyle/>
          <a:p>
            <a:fld id="{F0A8A4F1-DD7B-454E-8BE0-478365ADD5A0}" type="slidenum">
              <a:rPr lang="en-US" smtClean="0"/>
              <a:pPr/>
              <a:t>55</a:t>
            </a:fld>
            <a:endParaRPr lang="en-US" dirty="0"/>
          </a:p>
        </p:txBody>
      </p:sp>
    </p:spTree>
    <p:extLst>
      <p:ext uri="{BB962C8B-B14F-4D97-AF65-F5344CB8AC3E}">
        <p14:creationId xmlns:p14="http://schemas.microsoft.com/office/powerpoint/2010/main" val="1736882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1.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ortada con foto">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14" y="0"/>
            <a:ext cx="12220891" cy="6858000"/>
          </a:xfrm>
          <a:prstGeom prst="rect">
            <a:avLst/>
          </a:prstGeom>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0224459" y="6021288"/>
            <a:ext cx="1711845" cy="428603"/>
          </a:xfrm>
          <a:prstGeom prst="rect">
            <a:avLst/>
          </a:prstGeom>
          <a:noFill/>
          <a:effectLst/>
          <a:extLst>
            <a:ext uri="{909E8E84-426E-40DD-AFC4-6F175D3DCCD1}">
              <a14:hiddenFill xmlns:a14="http://schemas.microsoft.com/office/drawing/2010/main">
                <a:solidFill>
                  <a:srgbClr val="FFFFFF"/>
                </a:solidFill>
              </a14:hiddenFill>
            </a:ext>
          </a:extLst>
        </p:spPr>
      </p:pic>
      <p:sp>
        <p:nvSpPr>
          <p:cNvPr id="7" name="Rectangle 6"/>
          <p:cNvSpPr/>
          <p:nvPr/>
        </p:nvSpPr>
        <p:spPr>
          <a:xfrm>
            <a:off x="-33536" y="4581128"/>
            <a:ext cx="12225536" cy="1248139"/>
          </a:xfrm>
          <a:prstGeom prst="rect">
            <a:avLst/>
          </a:prstGeom>
          <a:solidFill>
            <a:srgbClr val="FFFFFF">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400"/>
          </a:p>
        </p:txBody>
      </p:sp>
      <p:sp>
        <p:nvSpPr>
          <p:cNvPr id="8" name="Text Placeholder 3"/>
          <p:cNvSpPr>
            <a:spLocks noGrp="1"/>
          </p:cNvSpPr>
          <p:nvPr>
            <p:ph type="body" sz="quarter" idx="10"/>
          </p:nvPr>
        </p:nvSpPr>
        <p:spPr>
          <a:xfrm>
            <a:off x="334434" y="4677139"/>
            <a:ext cx="9698004" cy="480483"/>
          </a:xfrm>
        </p:spPr>
        <p:txBody>
          <a:bodyPr anchor="ctr">
            <a:noAutofit/>
          </a:bodyPr>
          <a:lstStyle>
            <a:lvl1pPr marL="0" indent="0">
              <a:buNone/>
              <a:defRPr sz="2667">
                <a:solidFill>
                  <a:schemeClr val="tx1"/>
                </a:solidFill>
                <a:latin typeface="Segoe UI Symbol" panose="020B0502040204020203" pitchFamily="34" charset="0"/>
                <a:ea typeface="Segoe UI Symbol" panose="020B0502040204020203" pitchFamily="34" charset="0"/>
              </a:defRPr>
            </a:lvl1pPr>
          </a:lstStyle>
          <a:p>
            <a:pPr lvl="0"/>
            <a:r>
              <a:rPr lang="en-US" smtClean="0"/>
              <a:t>Click to edit Master text styles</a:t>
            </a:r>
          </a:p>
        </p:txBody>
      </p:sp>
      <p:sp>
        <p:nvSpPr>
          <p:cNvPr id="13" name="Picture Placeholder 11"/>
          <p:cNvSpPr>
            <a:spLocks noGrp="1"/>
          </p:cNvSpPr>
          <p:nvPr>
            <p:ph type="pic" sz="quarter" idx="11"/>
          </p:nvPr>
        </p:nvSpPr>
        <p:spPr>
          <a:xfrm>
            <a:off x="10128672" y="4677139"/>
            <a:ext cx="1807633" cy="768085"/>
          </a:xfrm>
        </p:spPr>
        <p:txBody>
          <a:bodyPr>
            <a:normAutofit/>
          </a:bodyPr>
          <a:lstStyle>
            <a:lvl1pPr marL="0" indent="0">
              <a:buNone/>
              <a:defRPr sz="1067"/>
            </a:lvl1pPr>
          </a:lstStyle>
          <a:p>
            <a:r>
              <a:rPr lang="en-US" smtClean="0"/>
              <a:t>Click icon to add picture</a:t>
            </a:r>
            <a:endParaRPr lang="es-AR" dirty="0"/>
          </a:p>
        </p:txBody>
      </p:sp>
      <p:sp>
        <p:nvSpPr>
          <p:cNvPr id="14" name="Text Placeholder 2"/>
          <p:cNvSpPr>
            <a:spLocks noGrp="1"/>
          </p:cNvSpPr>
          <p:nvPr>
            <p:ph type="body" sz="quarter" idx="12"/>
          </p:nvPr>
        </p:nvSpPr>
        <p:spPr>
          <a:xfrm>
            <a:off x="334434" y="5205199"/>
            <a:ext cx="9698567" cy="528059"/>
          </a:xfrm>
        </p:spPr>
        <p:txBody>
          <a:bodyPr/>
          <a:lstStyle>
            <a:lvl1pPr marL="0" indent="0">
              <a:buNone/>
              <a:defRPr/>
            </a:lvl1pPr>
          </a:lstStyle>
          <a:p>
            <a:pPr lvl="0"/>
            <a:r>
              <a:rPr lang="en-US" smtClean="0"/>
              <a:t>Click to edit Master text styles</a:t>
            </a:r>
          </a:p>
        </p:txBody>
      </p:sp>
    </p:spTree>
    <p:extLst>
      <p:ext uri="{BB962C8B-B14F-4D97-AF65-F5344CB8AC3E}">
        <p14:creationId xmlns:p14="http://schemas.microsoft.com/office/powerpoint/2010/main" val="338359282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parado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1" r="147"/>
          <a:stretch/>
        </p:blipFill>
        <p:spPr bwMode="auto">
          <a:xfrm>
            <a:off x="0" y="6386476"/>
            <a:ext cx="12192000" cy="47538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39350" y="6501342"/>
            <a:ext cx="886148" cy="2218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821560" y="6502115"/>
            <a:ext cx="6227101" cy="256545"/>
          </a:xfrm>
          <a:prstGeom prst="rect">
            <a:avLst/>
          </a:prstGeom>
          <a:noFill/>
        </p:spPr>
        <p:txBody>
          <a:bodyPr wrap="square" rtlCol="0">
            <a:spAutoFit/>
          </a:bodyPr>
          <a:lstStyle/>
          <a:p>
            <a:pPr marL="0" marR="0" indent="0" algn="r" defTabSz="1219170" rtl="0" eaLnBrk="1" fontAlgn="auto" latinLnBrk="0" hangingPunct="1">
              <a:lnSpc>
                <a:spcPct val="100000"/>
              </a:lnSpc>
              <a:spcBef>
                <a:spcPts val="0"/>
              </a:spcBef>
              <a:spcAft>
                <a:spcPts val="0"/>
              </a:spcAft>
              <a:buClrTx/>
              <a:buSzTx/>
              <a:buFontTx/>
              <a:buNone/>
              <a:tabLst/>
              <a:defRPr/>
            </a:pPr>
            <a:r>
              <a:rPr lang="es-MX" sz="1067" i="1" dirty="0" err="1" smtClean="0">
                <a:solidFill>
                  <a:srgbClr val="3A3A3A"/>
                </a:solidFill>
                <a:latin typeface="Segoe UI" panose="020B0502040204020203" pitchFamily="34" charset="0"/>
                <a:ea typeface="Segoe UI" panose="020B0502040204020203" pitchFamily="34" charset="0"/>
                <a:cs typeface="Segoe UI" panose="020B0502040204020203" pitchFamily="34" charset="0"/>
              </a:rPr>
              <a:t>Excellence</a:t>
            </a:r>
            <a:r>
              <a:rPr lang="es-MX" sz="1067" i="1" dirty="0" smtClean="0">
                <a:solidFill>
                  <a:srgbClr val="3A3A3A"/>
                </a:solidFill>
                <a:latin typeface="Segoe UI" panose="020B0502040204020203" pitchFamily="34" charset="0"/>
                <a:ea typeface="Segoe UI" panose="020B0502040204020203" pitchFamily="34" charset="0"/>
                <a:cs typeface="Segoe UI" panose="020B0502040204020203" pitchFamily="34" charset="0"/>
              </a:rPr>
              <a:t> in software </a:t>
            </a:r>
            <a:r>
              <a:rPr lang="es-MX" sz="1067" i="1" dirty="0" err="1" smtClean="0">
                <a:solidFill>
                  <a:srgbClr val="3A3A3A"/>
                </a:solidFill>
                <a:latin typeface="Segoe UI" panose="020B0502040204020203" pitchFamily="34" charset="0"/>
                <a:ea typeface="Segoe UI" panose="020B0502040204020203" pitchFamily="34" charset="0"/>
                <a:cs typeface="Segoe UI" panose="020B0502040204020203" pitchFamily="34" charset="0"/>
              </a:rPr>
              <a:t>development</a:t>
            </a:r>
            <a:endParaRPr lang="es-AR" sz="1067" i="1" dirty="0" smtClean="0">
              <a:solidFill>
                <a:srgbClr val="3A3A3A"/>
              </a:solidFill>
              <a:latin typeface="Segoe UI Semibold" panose="020B0702040204020203" pitchFamily="34" charset="0"/>
            </a:endParaRPr>
          </a:p>
        </p:txBody>
      </p:sp>
      <p:sp>
        <p:nvSpPr>
          <p:cNvPr id="9" name="Text Placeholder 8"/>
          <p:cNvSpPr>
            <a:spLocks noGrp="1"/>
          </p:cNvSpPr>
          <p:nvPr>
            <p:ph type="body" sz="quarter" idx="11"/>
          </p:nvPr>
        </p:nvSpPr>
        <p:spPr>
          <a:xfrm>
            <a:off x="356295" y="2564904"/>
            <a:ext cx="11596523" cy="1246717"/>
          </a:xfrm>
        </p:spPr>
        <p:txBody>
          <a:bodyPr>
            <a:normAutofit/>
          </a:bodyPr>
          <a:lstStyle>
            <a:lvl1pPr marL="0" indent="0" algn="ctr">
              <a:buNone/>
              <a:defRPr sz="4267">
                <a:solidFill>
                  <a:schemeClr val="bg1"/>
                </a:solidFill>
                <a:latin typeface="Segoe UI" panose="020B0502040204020203" pitchFamily="34" charset="0"/>
                <a:ea typeface="Segoe UI" panose="020B0502040204020203" pitchFamily="34" charset="0"/>
                <a:cs typeface="Segoe UI" panose="020B0502040204020203" pitchFamily="34" charset="0"/>
              </a:defRPr>
            </a:lvl1pPr>
            <a:lvl2pPr marL="0" indent="0">
              <a:buNone/>
              <a:defRPr>
                <a:solidFill>
                  <a:schemeClr val="bg1"/>
                </a:solidFill>
              </a:defRPr>
            </a:lvl2pPr>
            <a:lvl3pPr marL="0" indent="0">
              <a:buNone/>
              <a:defRPr>
                <a:solidFill>
                  <a:schemeClr val="bg1"/>
                </a:solidFill>
              </a:defRPr>
            </a:lvl3pPr>
            <a:lvl4pPr marL="0" indent="0">
              <a:buNone/>
              <a:defRPr>
                <a:solidFill>
                  <a:schemeClr val="bg1"/>
                </a:solidFill>
              </a:defRPr>
            </a:lvl4pPr>
            <a:lvl5pPr marL="0" indent="0">
              <a:buNone/>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765197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ítulo, subtítulo y contenido ">
    <p:bg>
      <p:bgPr>
        <a:solidFill>
          <a:schemeClr val="bg1">
            <a:lumMod val="95000"/>
          </a:schemeClr>
        </a:solidFill>
        <a:effectLst/>
      </p:bgPr>
    </p:bg>
    <p:spTree>
      <p:nvGrpSpPr>
        <p:cNvPr id="1" name=""/>
        <p:cNvGrpSpPr/>
        <p:nvPr/>
      </p:nvGrpSpPr>
      <p:grpSpPr>
        <a:xfrm>
          <a:off x="0" y="0"/>
          <a:ext cx="0" cy="0"/>
          <a:chOff x="0" y="0"/>
          <a:chExt cx="0" cy="0"/>
        </a:xfrm>
      </p:grpSpPr>
      <p:sp>
        <p:nvSpPr>
          <p:cNvPr id="8" name="Content Placeholder 2"/>
          <p:cNvSpPr>
            <a:spLocks noGrp="1"/>
          </p:cNvSpPr>
          <p:nvPr>
            <p:ph idx="15"/>
          </p:nvPr>
        </p:nvSpPr>
        <p:spPr>
          <a:xfrm>
            <a:off x="238754" y="1219564"/>
            <a:ext cx="11713897" cy="4992853"/>
          </a:xfrm>
        </p:spPr>
        <p:txBody>
          <a:bodyPr>
            <a:normAutofit/>
          </a:bodyPr>
          <a:lstStyle>
            <a:lvl1pPr marL="239994">
              <a:defRPr sz="1733">
                <a:latin typeface="Segoe UI Light" panose="020B0502040204020203" pitchFamily="34" charset="0"/>
              </a:defRPr>
            </a:lvl1pPr>
            <a:lvl2pPr marL="239994">
              <a:defRPr sz="1733">
                <a:latin typeface="Segoe UI Light" panose="020B0502040204020203" pitchFamily="34" charset="0"/>
              </a:defRPr>
            </a:lvl2pPr>
            <a:lvl3pPr marL="239994">
              <a:defRPr sz="1733">
                <a:latin typeface="Segoe UI Light" panose="020B0502040204020203" pitchFamily="34" charset="0"/>
              </a:defRPr>
            </a:lvl3pPr>
            <a:lvl4pPr marL="239994">
              <a:defRPr sz="1733">
                <a:latin typeface="Segoe UI Light" panose="020B0502040204020203" pitchFamily="34" charset="0"/>
              </a:defRPr>
            </a:lvl4pPr>
            <a:lvl5pPr marL="239994">
              <a:defRPr sz="1733">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3" name="Text Placeholder 2"/>
          <p:cNvSpPr>
            <a:spLocks noGrp="1"/>
          </p:cNvSpPr>
          <p:nvPr>
            <p:ph type="body" sz="quarter" idx="17"/>
          </p:nvPr>
        </p:nvSpPr>
        <p:spPr>
          <a:xfrm>
            <a:off x="239184" y="836448"/>
            <a:ext cx="11713633" cy="383117"/>
          </a:xfrm>
        </p:spPr>
        <p:txBody>
          <a:bodyPr>
            <a:noAutofit/>
          </a:bodyPr>
          <a:lstStyle>
            <a:lvl1pPr marL="0" indent="0">
              <a:buNone/>
              <a:defRPr sz="1733">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10"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339699256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ítulo y subtítulo">
    <p:bg>
      <p:bgPr>
        <a:solidFill>
          <a:schemeClr val="bg1">
            <a:lumMod val="95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239184" y="836448"/>
            <a:ext cx="11713633" cy="383117"/>
          </a:xfrm>
        </p:spPr>
        <p:txBody>
          <a:bodyPr>
            <a:noAutofit/>
          </a:bodyPr>
          <a:lstStyle>
            <a:lvl1pPr marL="0" indent="0">
              <a:buNone/>
              <a:defRPr sz="1733">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10"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389565534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p:bg>
      <p:bgPr>
        <a:solidFill>
          <a:schemeClr val="bg1">
            <a:lumMod val="95000"/>
          </a:schemeClr>
        </a:solidFill>
        <a:effectLst/>
      </p:bgPr>
    </p:bg>
    <p:spTree>
      <p:nvGrpSpPr>
        <p:cNvPr id="1" name=""/>
        <p:cNvGrpSpPr/>
        <p:nvPr/>
      </p:nvGrpSpPr>
      <p:grpSpPr>
        <a:xfrm>
          <a:off x="0" y="0"/>
          <a:ext cx="0" cy="0"/>
          <a:chOff x="0" y="0"/>
          <a:chExt cx="0" cy="0"/>
        </a:xfrm>
      </p:grpSpPr>
      <p:sp>
        <p:nvSpPr>
          <p:cNvPr id="8"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82614337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contenido y recuadro">
    <p:bg>
      <p:bgPr>
        <a:solidFill>
          <a:schemeClr val="bg1">
            <a:lumMod val="95000"/>
          </a:schemeClr>
        </a:solidFill>
        <a:effectLst/>
      </p:bgPr>
    </p:bg>
    <p:spTree>
      <p:nvGrpSpPr>
        <p:cNvPr id="1" name=""/>
        <p:cNvGrpSpPr/>
        <p:nvPr/>
      </p:nvGrpSpPr>
      <p:grpSpPr>
        <a:xfrm>
          <a:off x="0" y="0"/>
          <a:ext cx="0" cy="0"/>
          <a:chOff x="0" y="0"/>
          <a:chExt cx="0" cy="0"/>
        </a:xfrm>
      </p:grpSpPr>
      <p:sp>
        <p:nvSpPr>
          <p:cNvPr id="12" name="Content Placeholder 2"/>
          <p:cNvSpPr>
            <a:spLocks noGrp="1"/>
          </p:cNvSpPr>
          <p:nvPr>
            <p:ph idx="16"/>
          </p:nvPr>
        </p:nvSpPr>
        <p:spPr>
          <a:xfrm>
            <a:off x="240277" y="1220755"/>
            <a:ext cx="7871947" cy="4992555"/>
          </a:xfrm>
        </p:spPr>
        <p:txBody>
          <a:bodyPr>
            <a:normAutofit/>
          </a:bodyPr>
          <a:lstStyle>
            <a:lvl1pPr marL="239994">
              <a:defRPr sz="1733">
                <a:latin typeface="Segoe UI Light" panose="020B0502040204020203" pitchFamily="34" charset="0"/>
              </a:defRPr>
            </a:lvl1pPr>
            <a:lvl2pPr marL="239994">
              <a:defRPr sz="1733">
                <a:latin typeface="Segoe UI Light" panose="020B0502040204020203" pitchFamily="34" charset="0"/>
              </a:defRPr>
            </a:lvl2pPr>
            <a:lvl3pPr marL="239994">
              <a:defRPr sz="1733">
                <a:latin typeface="Segoe UI Light" panose="020B0502040204020203" pitchFamily="34" charset="0"/>
              </a:defRPr>
            </a:lvl3pPr>
            <a:lvl4pPr marL="239994">
              <a:defRPr sz="1733">
                <a:latin typeface="Segoe UI Light" panose="020B0502040204020203" pitchFamily="34" charset="0"/>
              </a:defRPr>
            </a:lvl4pPr>
            <a:lvl5pPr marL="239994">
              <a:defRPr sz="1733">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4" name="Text Placeholder 2"/>
          <p:cNvSpPr>
            <a:spLocks noGrp="1"/>
          </p:cNvSpPr>
          <p:nvPr>
            <p:ph type="body" sz="quarter" idx="18"/>
          </p:nvPr>
        </p:nvSpPr>
        <p:spPr>
          <a:xfrm>
            <a:off x="240277" y="837638"/>
            <a:ext cx="7871947" cy="383117"/>
          </a:xfrm>
        </p:spPr>
        <p:txBody>
          <a:bodyPr>
            <a:noAutofit/>
          </a:bodyPr>
          <a:lstStyle>
            <a:lvl1pPr marL="0" indent="0">
              <a:buNone/>
              <a:defRPr sz="1733">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16" name="Rectangle 15"/>
          <p:cNvSpPr/>
          <p:nvPr/>
        </p:nvSpPr>
        <p:spPr>
          <a:xfrm>
            <a:off x="8304247" y="836713"/>
            <a:ext cx="3648404" cy="5375704"/>
          </a:xfrm>
          <a:prstGeom prst="rect">
            <a:avLst/>
          </a:prstGeom>
          <a:solidFill>
            <a:srgbClr val="E8E8E8">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400"/>
          </a:p>
        </p:txBody>
      </p:sp>
      <p:sp>
        <p:nvSpPr>
          <p:cNvPr id="7" name="Content Placeholder 2"/>
          <p:cNvSpPr>
            <a:spLocks noGrp="1"/>
          </p:cNvSpPr>
          <p:nvPr>
            <p:ph idx="13"/>
          </p:nvPr>
        </p:nvSpPr>
        <p:spPr>
          <a:xfrm>
            <a:off x="8496270" y="1412776"/>
            <a:ext cx="3264693" cy="4608512"/>
          </a:xfrm>
        </p:spPr>
        <p:txBody>
          <a:bodyPr>
            <a:normAutofit/>
          </a:bodyPr>
          <a:lstStyle>
            <a:lvl1pPr marL="239994" indent="-241294">
              <a:spcAft>
                <a:spcPts val="800"/>
              </a:spcAft>
              <a:defRPr sz="1467">
                <a:latin typeface="Segoe UI Light" panose="020B0502040204020203" pitchFamily="34" charset="0"/>
                <a:cs typeface="Arial" panose="020B0604020202020204" pitchFamily="34" charset="0"/>
              </a:defRPr>
            </a:lvl1pPr>
            <a:lvl2pPr marL="239994" indent="-241294">
              <a:spcAft>
                <a:spcPts val="800"/>
              </a:spcAft>
              <a:defRPr sz="1467">
                <a:latin typeface="Segoe UI Light" panose="020B0502040204020203" pitchFamily="34" charset="0"/>
                <a:cs typeface="Arial" panose="020B0604020202020204" pitchFamily="34" charset="0"/>
              </a:defRPr>
            </a:lvl2pPr>
            <a:lvl3pPr marL="239994" indent="-241294">
              <a:spcAft>
                <a:spcPts val="800"/>
              </a:spcAft>
              <a:defRPr sz="1467">
                <a:latin typeface="Segoe UI Light" panose="020B0502040204020203" pitchFamily="34" charset="0"/>
                <a:cs typeface="Arial" panose="020B0604020202020204" pitchFamily="34" charset="0"/>
              </a:defRPr>
            </a:lvl3pPr>
            <a:lvl4pPr marL="239994" indent="-241294">
              <a:spcAft>
                <a:spcPts val="800"/>
              </a:spcAft>
              <a:defRPr sz="1467">
                <a:latin typeface="Segoe UI Light" panose="020B0502040204020203" pitchFamily="34" charset="0"/>
                <a:cs typeface="Arial" panose="020B0604020202020204" pitchFamily="34" charset="0"/>
              </a:defRPr>
            </a:lvl4pPr>
            <a:lvl5pPr marL="239994" indent="-241294">
              <a:spcAft>
                <a:spcPts val="800"/>
              </a:spcAft>
              <a:defRPr sz="1467">
                <a:latin typeface="Segoe UI Light" panose="020B0502040204020203"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1" name="Text Placeholder 9"/>
          <p:cNvSpPr>
            <a:spLocks noGrp="1"/>
          </p:cNvSpPr>
          <p:nvPr>
            <p:ph type="body" sz="quarter" idx="15"/>
          </p:nvPr>
        </p:nvSpPr>
        <p:spPr>
          <a:xfrm>
            <a:off x="8496268" y="1028733"/>
            <a:ext cx="3264363" cy="384043"/>
          </a:xfrm>
        </p:spPr>
        <p:txBody>
          <a:bodyPr>
            <a:noAutofit/>
          </a:bodyPr>
          <a:lstStyle>
            <a:lvl1pPr marL="0" indent="0">
              <a:buNone/>
              <a:defRPr sz="1733" b="1">
                <a:solidFill>
                  <a:schemeClr val="accent1"/>
                </a:solidFill>
                <a:latin typeface="Segoe UI Semibold" panose="020B0702040204020203" pitchFamily="34" charset="0"/>
              </a:defRPr>
            </a:lvl1pPr>
          </a:lstStyle>
          <a:p>
            <a:pPr lvl="0"/>
            <a:r>
              <a:rPr lang="en-US" smtClean="0"/>
              <a:t>Click to edit Master text styles</a:t>
            </a:r>
          </a:p>
        </p:txBody>
      </p:sp>
      <p:sp>
        <p:nvSpPr>
          <p:cNvPr id="15" name="Text Placeholder 10"/>
          <p:cNvSpPr>
            <a:spLocks noGrp="1"/>
          </p:cNvSpPr>
          <p:nvPr>
            <p:ph type="body" sz="quarter" idx="19"/>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13666098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lumnas y subtítulos">
    <p:bg>
      <p:bgPr>
        <a:solidFill>
          <a:schemeClr val="bg1">
            <a:lumMod val="95000"/>
          </a:schemeClr>
        </a:solidFill>
        <a:effectLst/>
      </p:bgPr>
    </p:bg>
    <p:spTree>
      <p:nvGrpSpPr>
        <p:cNvPr id="1" name=""/>
        <p:cNvGrpSpPr/>
        <p:nvPr/>
      </p:nvGrpSpPr>
      <p:grpSpPr>
        <a:xfrm>
          <a:off x="0" y="0"/>
          <a:ext cx="0" cy="0"/>
          <a:chOff x="0" y="0"/>
          <a:chExt cx="0" cy="0"/>
        </a:xfrm>
      </p:grpSpPr>
      <p:sp>
        <p:nvSpPr>
          <p:cNvPr id="13" name="Content Placeholder 2"/>
          <p:cNvSpPr>
            <a:spLocks noGrp="1"/>
          </p:cNvSpPr>
          <p:nvPr>
            <p:ph idx="17"/>
          </p:nvPr>
        </p:nvSpPr>
        <p:spPr>
          <a:xfrm>
            <a:off x="239185" y="1316764"/>
            <a:ext cx="5664795" cy="4703632"/>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4" name="Text Placeholder 9"/>
          <p:cNvSpPr>
            <a:spLocks noGrp="1"/>
          </p:cNvSpPr>
          <p:nvPr>
            <p:ph type="body" sz="quarter" idx="15"/>
          </p:nvPr>
        </p:nvSpPr>
        <p:spPr>
          <a:xfrm>
            <a:off x="239185" y="836712"/>
            <a:ext cx="5664795" cy="384043"/>
          </a:xfrm>
          <a:solidFill>
            <a:schemeClr val="accent1"/>
          </a:solidFill>
        </p:spPr>
        <p:txBody>
          <a:bodyPr>
            <a:noAutofit/>
          </a:bodyPr>
          <a:lstStyle>
            <a:lvl1pPr marL="0" indent="0">
              <a:buNone/>
              <a:defRPr sz="1733" b="1">
                <a:solidFill>
                  <a:schemeClr val="bg1"/>
                </a:solidFill>
                <a:latin typeface="Segoe UI Semibold" panose="020B0702040204020203" pitchFamily="34" charset="0"/>
              </a:defRPr>
            </a:lvl1pPr>
          </a:lstStyle>
          <a:p>
            <a:pPr lvl="0"/>
            <a:r>
              <a:rPr lang="en-US" smtClean="0"/>
              <a:t>Click to edit Master text styles</a:t>
            </a:r>
          </a:p>
        </p:txBody>
      </p:sp>
      <p:sp>
        <p:nvSpPr>
          <p:cNvPr id="15" name="Text Placeholder 9"/>
          <p:cNvSpPr>
            <a:spLocks noGrp="1"/>
          </p:cNvSpPr>
          <p:nvPr>
            <p:ph type="body" sz="quarter" idx="19"/>
          </p:nvPr>
        </p:nvSpPr>
        <p:spPr>
          <a:xfrm>
            <a:off x="6288022" y="836712"/>
            <a:ext cx="5664629" cy="384043"/>
          </a:xfrm>
          <a:solidFill>
            <a:schemeClr val="accent1"/>
          </a:solidFill>
        </p:spPr>
        <p:txBody>
          <a:bodyPr>
            <a:noAutofit/>
          </a:bodyPr>
          <a:lstStyle>
            <a:lvl1pPr marL="0" indent="0">
              <a:buNone/>
              <a:defRPr sz="1733" b="1">
                <a:solidFill>
                  <a:schemeClr val="bg1"/>
                </a:solidFill>
                <a:latin typeface="Segoe UI Semibold" panose="020B0702040204020203" pitchFamily="34" charset="0"/>
              </a:defRPr>
            </a:lvl1pPr>
          </a:lstStyle>
          <a:p>
            <a:pPr lvl="0"/>
            <a:r>
              <a:rPr lang="en-US" smtClean="0"/>
              <a:t>Click to edit Master text styles</a:t>
            </a:r>
          </a:p>
        </p:txBody>
      </p:sp>
      <p:sp>
        <p:nvSpPr>
          <p:cNvPr id="16" name="Content Placeholder 2"/>
          <p:cNvSpPr>
            <a:spLocks noGrp="1"/>
          </p:cNvSpPr>
          <p:nvPr>
            <p:ph idx="20"/>
          </p:nvPr>
        </p:nvSpPr>
        <p:spPr>
          <a:xfrm>
            <a:off x="6288022" y="1316764"/>
            <a:ext cx="5664796" cy="4703632"/>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7" name="Text Placeholder 10"/>
          <p:cNvSpPr>
            <a:spLocks noGrp="1"/>
          </p:cNvSpPr>
          <p:nvPr>
            <p:ph type="body" sz="quarter" idx="21"/>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27034803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as">
    <p:bg>
      <p:bgPr>
        <a:solidFill>
          <a:schemeClr val="bg1">
            <a:lumMod val="95000"/>
          </a:schemeClr>
        </a:solidFill>
        <a:effectLst/>
      </p:bgPr>
    </p:bg>
    <p:spTree>
      <p:nvGrpSpPr>
        <p:cNvPr id="1" name=""/>
        <p:cNvGrpSpPr/>
        <p:nvPr/>
      </p:nvGrpSpPr>
      <p:grpSpPr>
        <a:xfrm>
          <a:off x="0" y="0"/>
          <a:ext cx="0" cy="0"/>
          <a:chOff x="0" y="0"/>
          <a:chExt cx="0" cy="0"/>
        </a:xfrm>
      </p:grpSpPr>
      <p:sp>
        <p:nvSpPr>
          <p:cNvPr id="16" name="Content Placeholder 2"/>
          <p:cNvSpPr>
            <a:spLocks noGrp="1"/>
          </p:cNvSpPr>
          <p:nvPr>
            <p:ph idx="20"/>
          </p:nvPr>
        </p:nvSpPr>
        <p:spPr>
          <a:xfrm>
            <a:off x="6288022" y="836713"/>
            <a:ext cx="5664796" cy="5183684"/>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3" name="Content Placeholder 2"/>
          <p:cNvSpPr>
            <a:spLocks noGrp="1"/>
          </p:cNvSpPr>
          <p:nvPr>
            <p:ph idx="17"/>
          </p:nvPr>
        </p:nvSpPr>
        <p:spPr>
          <a:xfrm>
            <a:off x="239185" y="836713"/>
            <a:ext cx="5664795" cy="5183684"/>
          </a:xfrm>
        </p:spPr>
        <p:txBody>
          <a:bodyPr>
            <a:normAutofit/>
          </a:bodyPr>
          <a:lstStyle>
            <a:lvl1pPr marL="239994">
              <a:defRPr sz="1733">
                <a:solidFill>
                  <a:schemeClr val="tx1">
                    <a:lumMod val="75000"/>
                  </a:schemeClr>
                </a:solidFill>
                <a:latin typeface="Segoe UI Light" panose="020B0502040204020203" pitchFamily="34" charset="0"/>
              </a:defRPr>
            </a:lvl1pPr>
            <a:lvl2pPr marL="239994">
              <a:defRPr sz="1733">
                <a:solidFill>
                  <a:schemeClr val="tx1">
                    <a:lumMod val="75000"/>
                  </a:schemeClr>
                </a:solidFill>
                <a:latin typeface="Segoe UI Light" panose="020B0502040204020203" pitchFamily="34" charset="0"/>
              </a:defRPr>
            </a:lvl2pPr>
            <a:lvl3pPr marL="239994">
              <a:defRPr sz="1733">
                <a:solidFill>
                  <a:schemeClr val="tx1">
                    <a:lumMod val="75000"/>
                  </a:schemeClr>
                </a:solidFill>
                <a:latin typeface="Segoe UI Light" panose="020B0502040204020203" pitchFamily="34" charset="0"/>
              </a:defRPr>
            </a:lvl3pPr>
            <a:lvl4pPr marL="239994">
              <a:defRPr sz="1733">
                <a:solidFill>
                  <a:schemeClr val="tx1">
                    <a:lumMod val="75000"/>
                  </a:schemeClr>
                </a:solidFill>
                <a:latin typeface="Segoe UI Light" panose="020B0502040204020203" pitchFamily="34" charset="0"/>
              </a:defRPr>
            </a:lvl4pPr>
            <a:lvl5pPr marL="239994">
              <a:defRPr sz="1733">
                <a:solidFill>
                  <a:schemeClr val="tx1">
                    <a:lumMod val="75000"/>
                  </a:schemeClr>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0" name="Text Placeholder 10"/>
          <p:cNvSpPr>
            <a:spLocks noGrp="1"/>
          </p:cNvSpPr>
          <p:nvPr>
            <p:ph type="body" sz="quarter" idx="21"/>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40601151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ítulo, Subtítulo, gráfico y columna">
    <p:bg>
      <p:bgPr>
        <a:solidFill>
          <a:srgbClr val="585454"/>
        </a:solidFill>
        <a:effectLst/>
      </p:bgPr>
    </p:bg>
    <p:spTree>
      <p:nvGrpSpPr>
        <p:cNvPr id="1" name=""/>
        <p:cNvGrpSpPr/>
        <p:nvPr/>
      </p:nvGrpSpPr>
      <p:grpSpPr>
        <a:xfrm>
          <a:off x="0" y="0"/>
          <a:ext cx="0" cy="0"/>
          <a:chOff x="0" y="0"/>
          <a:chExt cx="0" cy="0"/>
        </a:xfrm>
      </p:grpSpPr>
      <p:sp>
        <p:nvSpPr>
          <p:cNvPr id="16" name="Content Placeholder 2"/>
          <p:cNvSpPr>
            <a:spLocks noGrp="1"/>
          </p:cNvSpPr>
          <p:nvPr>
            <p:ph idx="18"/>
          </p:nvPr>
        </p:nvSpPr>
        <p:spPr>
          <a:xfrm>
            <a:off x="8016215" y="836449"/>
            <a:ext cx="3936437" cy="5375969"/>
          </a:xfrm>
        </p:spPr>
        <p:txBody>
          <a:bodyPr>
            <a:normAutofit/>
          </a:bodyPr>
          <a:lstStyle>
            <a:lvl1pPr marL="239994" indent="-241294">
              <a:spcAft>
                <a:spcPts val="800"/>
              </a:spcAft>
              <a:defRPr sz="1467">
                <a:solidFill>
                  <a:schemeClr val="bg1"/>
                </a:solidFill>
                <a:latin typeface="Segoe UI Light" panose="020B0502040204020203" pitchFamily="34" charset="0"/>
                <a:cs typeface="Arial" panose="020B0604020202020204" pitchFamily="34" charset="0"/>
              </a:defRPr>
            </a:lvl1pPr>
            <a:lvl2pPr marL="239994" indent="-241294">
              <a:spcAft>
                <a:spcPts val="800"/>
              </a:spcAft>
              <a:defRPr sz="1467">
                <a:solidFill>
                  <a:schemeClr val="bg1"/>
                </a:solidFill>
                <a:latin typeface="Segoe UI Light" panose="020B0502040204020203" pitchFamily="34" charset="0"/>
                <a:cs typeface="Arial" panose="020B0604020202020204" pitchFamily="34" charset="0"/>
              </a:defRPr>
            </a:lvl2pPr>
            <a:lvl3pPr marL="239994" indent="-241294">
              <a:spcAft>
                <a:spcPts val="800"/>
              </a:spcAft>
              <a:defRPr sz="1467">
                <a:solidFill>
                  <a:schemeClr val="bg1"/>
                </a:solidFill>
                <a:latin typeface="Segoe UI Light" panose="020B0502040204020203" pitchFamily="34" charset="0"/>
                <a:cs typeface="Arial" panose="020B0604020202020204" pitchFamily="34" charset="0"/>
              </a:defRPr>
            </a:lvl3pPr>
            <a:lvl4pPr marL="239994" indent="-241294">
              <a:spcAft>
                <a:spcPts val="800"/>
              </a:spcAft>
              <a:defRPr sz="1467">
                <a:solidFill>
                  <a:schemeClr val="bg1"/>
                </a:solidFill>
                <a:latin typeface="Segoe UI Light" panose="020B0502040204020203" pitchFamily="34" charset="0"/>
                <a:cs typeface="Arial" panose="020B0604020202020204" pitchFamily="34" charset="0"/>
              </a:defRPr>
            </a:lvl4pPr>
            <a:lvl5pPr marL="239994" indent="-241294">
              <a:spcAft>
                <a:spcPts val="800"/>
              </a:spcAft>
              <a:defRPr sz="1467">
                <a:solidFill>
                  <a:schemeClr val="bg1"/>
                </a:solidFill>
                <a:latin typeface="Segoe UI Light" panose="020B0502040204020203"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4" name="Content Placeholder 2"/>
          <p:cNvSpPr>
            <a:spLocks noGrp="1"/>
          </p:cNvSpPr>
          <p:nvPr>
            <p:ph idx="16"/>
          </p:nvPr>
        </p:nvSpPr>
        <p:spPr>
          <a:xfrm>
            <a:off x="239185" y="1205501"/>
            <a:ext cx="7489436" cy="5006916"/>
          </a:xfrm>
        </p:spPr>
        <p:txBody>
          <a:bodyPr>
            <a:normAutofit/>
          </a:bodyPr>
          <a:lstStyle>
            <a:lvl1pPr marL="239994">
              <a:defRPr sz="1733">
                <a:solidFill>
                  <a:schemeClr val="bg1"/>
                </a:solidFill>
                <a:latin typeface="Segoe UI Light" panose="020B0502040204020203" pitchFamily="34" charset="0"/>
              </a:defRPr>
            </a:lvl1pPr>
            <a:lvl2pPr marL="239994">
              <a:defRPr sz="1733">
                <a:solidFill>
                  <a:schemeClr val="bg1"/>
                </a:solidFill>
                <a:latin typeface="Segoe UI Light" panose="020B0502040204020203" pitchFamily="34" charset="0"/>
              </a:defRPr>
            </a:lvl2pPr>
            <a:lvl3pPr marL="239994">
              <a:defRPr sz="1733">
                <a:solidFill>
                  <a:schemeClr val="bg1"/>
                </a:solidFill>
                <a:latin typeface="Segoe UI Light" panose="020B0502040204020203" pitchFamily="34" charset="0"/>
              </a:defRPr>
            </a:lvl3pPr>
            <a:lvl4pPr marL="239994">
              <a:defRPr sz="1733">
                <a:solidFill>
                  <a:schemeClr val="bg1"/>
                </a:solidFill>
                <a:latin typeface="Segoe UI Light" panose="020B0502040204020203" pitchFamily="34" charset="0"/>
              </a:defRPr>
            </a:lvl4pPr>
            <a:lvl5pPr marL="239994">
              <a:defRPr sz="1733">
                <a:solidFill>
                  <a:schemeClr val="bg1"/>
                </a:solidFill>
                <a:latin typeface="Segoe UI Light" panose="020B0502040204020203"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
        <p:nvSpPr>
          <p:cNvPr id="15" name="Text Placeholder 9"/>
          <p:cNvSpPr>
            <a:spLocks noGrp="1"/>
          </p:cNvSpPr>
          <p:nvPr>
            <p:ph type="body" sz="quarter" idx="17"/>
          </p:nvPr>
        </p:nvSpPr>
        <p:spPr>
          <a:xfrm>
            <a:off x="-44" y="6368353"/>
            <a:ext cx="12192000" cy="487531"/>
          </a:xfrm>
          <a:solidFill>
            <a:schemeClr val="bg1"/>
          </a:solidFill>
        </p:spPr>
        <p:txBody>
          <a:bodyPr>
            <a:normAutofit/>
          </a:bodyPr>
          <a:lstStyle>
            <a:lvl1pPr marL="0" indent="0">
              <a:buNone/>
              <a:defRPr sz="1867" b="0">
                <a:solidFill>
                  <a:schemeClr val="tx1">
                    <a:lumMod val="75000"/>
                  </a:schemeClr>
                </a:solidFill>
                <a:latin typeface="Segoe UI Semibold" panose="020B0702040204020203" pitchFamily="34" charset="0"/>
              </a:defRPr>
            </a:lvl1pPr>
          </a:lstStyle>
          <a:p>
            <a:pPr lvl="0"/>
            <a:r>
              <a:rPr lang="en-US" smtClean="0"/>
              <a:t>Click to edit Master text styles</a:t>
            </a:r>
          </a:p>
        </p:txBody>
      </p:sp>
      <p:sp>
        <p:nvSpPr>
          <p:cNvPr id="9" name="Text Placeholder 2"/>
          <p:cNvSpPr>
            <a:spLocks noGrp="1"/>
          </p:cNvSpPr>
          <p:nvPr>
            <p:ph type="body" sz="quarter" idx="19"/>
          </p:nvPr>
        </p:nvSpPr>
        <p:spPr>
          <a:xfrm>
            <a:off x="239184" y="822385"/>
            <a:ext cx="7489760" cy="383117"/>
          </a:xfrm>
        </p:spPr>
        <p:txBody>
          <a:bodyPr>
            <a:noAutofit/>
          </a:bodyPr>
          <a:lstStyle>
            <a:lvl1pPr marL="0" indent="0">
              <a:buNone/>
              <a:defRPr sz="1733">
                <a:solidFill>
                  <a:schemeClr val="bg1"/>
                </a:solidFill>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156819428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ayout para graficos claro">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70681027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Graficos oscuro Titulo">
    <p:bg>
      <p:bgPr>
        <a:solidFill>
          <a:srgbClr val="585454"/>
        </a:solidFill>
        <a:effectLst/>
      </p:bgPr>
    </p:bg>
    <p:spTree>
      <p:nvGrpSpPr>
        <p:cNvPr id="1" name=""/>
        <p:cNvGrpSpPr/>
        <p:nvPr/>
      </p:nvGrpSpPr>
      <p:grpSpPr>
        <a:xfrm>
          <a:off x="0" y="0"/>
          <a:ext cx="0" cy="0"/>
          <a:chOff x="0" y="0"/>
          <a:chExt cx="0" cy="0"/>
        </a:xfrm>
      </p:grpSpPr>
      <p:sp>
        <p:nvSpPr>
          <p:cNvPr id="9"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399375493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Graficos oscuro Titulo y Subtitulo">
    <p:bg>
      <p:bgPr>
        <a:solidFill>
          <a:srgbClr val="585454"/>
        </a:solidFill>
        <a:effectLst/>
      </p:bgPr>
    </p:bg>
    <p:spTree>
      <p:nvGrpSpPr>
        <p:cNvPr id="1" name=""/>
        <p:cNvGrpSpPr/>
        <p:nvPr/>
      </p:nvGrpSpPr>
      <p:grpSpPr>
        <a:xfrm>
          <a:off x="0" y="0"/>
          <a:ext cx="0" cy="0"/>
          <a:chOff x="0" y="0"/>
          <a:chExt cx="0" cy="0"/>
        </a:xfrm>
      </p:grpSpPr>
      <p:sp>
        <p:nvSpPr>
          <p:cNvPr id="9" name="Text Placeholder 10"/>
          <p:cNvSpPr>
            <a:spLocks noGrp="1"/>
          </p:cNvSpPr>
          <p:nvPr>
            <p:ph type="body" sz="quarter" idx="18"/>
          </p:nvPr>
        </p:nvSpPr>
        <p:spPr>
          <a:xfrm>
            <a:off x="0" y="6377518"/>
            <a:ext cx="12192000" cy="478367"/>
          </a:xfrm>
          <a:solidFill>
            <a:schemeClr val="bg1"/>
          </a:solidFill>
        </p:spPr>
        <p:txBody>
          <a:bodyPr/>
          <a:lstStyle>
            <a:lvl1pPr marL="0" indent="0">
              <a:buNone/>
              <a:defRPr>
                <a:latin typeface="Segoe UI Semibold" panose="020B07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
        <p:nvSpPr>
          <p:cNvPr id="3" name="Text Placeholder 2"/>
          <p:cNvSpPr>
            <a:spLocks noGrp="1"/>
          </p:cNvSpPr>
          <p:nvPr>
            <p:ph type="body" sz="quarter" idx="19"/>
          </p:nvPr>
        </p:nvSpPr>
        <p:spPr>
          <a:xfrm>
            <a:off x="239184" y="261574"/>
            <a:ext cx="11713633" cy="383117"/>
          </a:xfrm>
        </p:spPr>
        <p:txBody>
          <a:bodyPr>
            <a:noAutofit/>
          </a:bodyPr>
          <a:lstStyle>
            <a:lvl1pPr marL="0" indent="0">
              <a:buNone/>
              <a:defRPr sz="1733">
                <a:solidFill>
                  <a:schemeClr val="bg1"/>
                </a:solidFill>
                <a:latin typeface="Segoe UI" panose="020B0502040204020203" pitchFamily="34" charset="0"/>
                <a:ea typeface="Segoe UI" panose="020B0502040204020203" pitchFamily="34" charset="0"/>
                <a:cs typeface="Segoe UI" panose="020B0502040204020203" pitchFamily="34" charset="0"/>
              </a:defRPr>
            </a:lvl1pPr>
          </a:lstStyle>
          <a:p>
            <a:pPr lvl="0"/>
            <a:r>
              <a:rPr lang="en-US" smtClean="0"/>
              <a:t>Click to edit Master text styles</a:t>
            </a:r>
          </a:p>
        </p:txBody>
      </p:sp>
    </p:spTree>
    <p:extLst>
      <p:ext uri="{BB962C8B-B14F-4D97-AF65-F5344CB8AC3E}">
        <p14:creationId xmlns:p14="http://schemas.microsoft.com/office/powerpoint/2010/main" val="4160997954"/>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final">
    <p:spTree>
      <p:nvGrpSpPr>
        <p:cNvPr id="1" name=""/>
        <p:cNvGrpSpPr/>
        <p:nvPr/>
      </p:nvGrpSpPr>
      <p:grpSpPr>
        <a:xfrm>
          <a:off x="0" y="0"/>
          <a:ext cx="0" cy="0"/>
          <a:chOff x="0" y="0"/>
          <a:chExt cx="0" cy="0"/>
        </a:xfrm>
      </p:grpSpPr>
      <p:sp>
        <p:nvSpPr>
          <p:cNvPr id="16" name="Rectangle 15"/>
          <p:cNvSpPr/>
          <p:nvPr/>
        </p:nvSpPr>
        <p:spPr>
          <a:xfrm>
            <a:off x="6096001" y="-1"/>
            <a:ext cx="6096000" cy="6858001"/>
          </a:xfrm>
          <a:prstGeom prst="rect">
            <a:avLst/>
          </a:prstGeom>
          <a:solidFill>
            <a:srgbClr val="1EA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400"/>
          </a:p>
        </p:txBody>
      </p:sp>
      <p:pic>
        <p:nvPicPr>
          <p:cNvPr id="14" name="Picture 2" descr="C:\Users\lcittanti\Documents\recursos hexacta\hexacta_logo-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88634" y="6259515"/>
            <a:ext cx="1627580" cy="40838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45265"/>
          <a:stretch/>
        </p:blipFill>
        <p:spPr>
          <a:xfrm>
            <a:off x="0" y="-1"/>
            <a:ext cx="6096000" cy="6264697"/>
          </a:xfrm>
          <a:prstGeom prst="rect">
            <a:avLst/>
          </a:prstGeom>
        </p:spPr>
      </p:pic>
      <p:pic>
        <p:nvPicPr>
          <p:cNvPr id="19" name="Picture 3" descr="C:\Users\lcittanti\Documents\recursos hexacta\hexacta logo oscuro-01.png"/>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315588" y="6466762"/>
            <a:ext cx="911064" cy="22186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243950" y="638102"/>
            <a:ext cx="6144683" cy="5159169"/>
          </a:xfrm>
          <a:prstGeom prst="rect">
            <a:avLst/>
          </a:prstGeom>
          <a:noFill/>
        </p:spPr>
        <p:txBody>
          <a:bodyPr wrap="square" rtlCol="0">
            <a:spAutoFit/>
          </a:bodyPr>
          <a:lstStyle/>
          <a:p>
            <a:r>
              <a:rPr lang="es-AR" sz="1733" b="1" dirty="0" smtClean="0">
                <a:latin typeface="+mj-lt"/>
              </a:rPr>
              <a:t>ARGENTINA</a:t>
            </a:r>
          </a:p>
          <a:p>
            <a:r>
              <a:rPr lang="es-AR" sz="1733" dirty="0" err="1" smtClean="0">
                <a:latin typeface="+mj-lt"/>
              </a:rPr>
              <a:t>Clay</a:t>
            </a:r>
            <a:r>
              <a:rPr lang="es-AR" sz="1733" dirty="0" smtClean="0">
                <a:latin typeface="+mj-lt"/>
              </a:rPr>
              <a:t> 2954</a:t>
            </a:r>
          </a:p>
          <a:p>
            <a:r>
              <a:rPr lang="es-AR" sz="1733" dirty="0" smtClean="0">
                <a:latin typeface="+mj-lt"/>
              </a:rPr>
              <a:t>Buenos Aires (C1426DLD) </a:t>
            </a:r>
          </a:p>
          <a:p>
            <a:r>
              <a:rPr lang="es-AR" sz="1733" dirty="0" err="1" smtClean="0">
                <a:latin typeface="+mj-lt"/>
              </a:rPr>
              <a:t>tel</a:t>
            </a:r>
            <a:r>
              <a:rPr lang="es-AR" sz="1733" dirty="0" smtClean="0">
                <a:latin typeface="+mj-lt"/>
              </a:rPr>
              <a:t>: 54+11+5299 5400</a:t>
            </a:r>
          </a:p>
          <a:p>
            <a:endParaRPr lang="es-AR" sz="1733" dirty="0" smtClean="0">
              <a:latin typeface="+mj-lt"/>
            </a:endParaRPr>
          </a:p>
          <a:p>
            <a:r>
              <a:rPr lang="es-AR" sz="1733" b="1" dirty="0" smtClean="0">
                <a:latin typeface="+mj-lt"/>
              </a:rPr>
              <a:t>BRASIL</a:t>
            </a:r>
          </a:p>
          <a:p>
            <a:r>
              <a:rPr lang="es-AR" sz="1733" dirty="0" smtClean="0">
                <a:latin typeface="+mj-lt"/>
              </a:rPr>
              <a:t>Cardoso de Melo 1470 – 8, Vila Olimpia </a:t>
            </a:r>
          </a:p>
          <a:p>
            <a:r>
              <a:rPr lang="es-AR" sz="1733" dirty="0" smtClean="0">
                <a:latin typeface="+mj-lt"/>
              </a:rPr>
              <a:t>San Pablo (04548004)</a:t>
            </a:r>
          </a:p>
          <a:p>
            <a:r>
              <a:rPr lang="es-AR" sz="1733" dirty="0" err="1" smtClean="0">
                <a:latin typeface="+mj-lt"/>
              </a:rPr>
              <a:t>tel</a:t>
            </a:r>
            <a:r>
              <a:rPr lang="es-AR" sz="1733" dirty="0" smtClean="0">
                <a:latin typeface="+mj-lt"/>
              </a:rPr>
              <a:t>: 55+11+3045 2193</a:t>
            </a:r>
          </a:p>
          <a:p>
            <a:endParaRPr lang="es-AR" sz="1733" dirty="0" smtClean="0">
              <a:latin typeface="+mj-lt"/>
            </a:endParaRPr>
          </a:p>
          <a:p>
            <a:r>
              <a:rPr lang="es-AR" sz="1733" b="1" dirty="0" smtClean="0">
                <a:latin typeface="+mj-lt"/>
              </a:rPr>
              <a:t>URUGUAY</a:t>
            </a:r>
          </a:p>
          <a:p>
            <a:r>
              <a:rPr lang="es-AR" sz="1733" dirty="0" smtClean="0">
                <a:latin typeface="+mj-lt"/>
              </a:rPr>
              <a:t>Roque Graseras 857</a:t>
            </a:r>
          </a:p>
          <a:p>
            <a:r>
              <a:rPr lang="es-AR" sz="1733" dirty="0" smtClean="0">
                <a:latin typeface="+mj-lt"/>
              </a:rPr>
              <a:t>Montevideo (11300)</a:t>
            </a:r>
          </a:p>
          <a:p>
            <a:r>
              <a:rPr lang="es-AR" sz="1733" dirty="0" err="1" smtClean="0">
                <a:latin typeface="+mj-lt"/>
              </a:rPr>
              <a:t>tel</a:t>
            </a:r>
            <a:r>
              <a:rPr lang="es-AR" sz="1733" dirty="0" smtClean="0">
                <a:latin typeface="+mj-lt"/>
              </a:rPr>
              <a:t>: 598+2+7117879</a:t>
            </a:r>
          </a:p>
          <a:p>
            <a:endParaRPr lang="es-AR" sz="1733" dirty="0" smtClean="0">
              <a:latin typeface="+mj-lt"/>
            </a:endParaRPr>
          </a:p>
          <a:p>
            <a:r>
              <a:rPr lang="es-AR" sz="1733" b="1" dirty="0" smtClean="0">
                <a:latin typeface="+mj-lt"/>
              </a:rPr>
              <a:t>USA</a:t>
            </a:r>
          </a:p>
          <a:p>
            <a:r>
              <a:rPr lang="es-AR" sz="1733" dirty="0" smtClean="0">
                <a:latin typeface="+mj-lt"/>
              </a:rPr>
              <a:t>12105 </a:t>
            </a:r>
            <a:r>
              <a:rPr lang="es-AR" sz="1733" dirty="0" err="1" smtClean="0">
                <a:latin typeface="+mj-lt"/>
              </a:rPr>
              <a:t>Sundance</a:t>
            </a:r>
            <a:r>
              <a:rPr lang="es-AR" sz="1733" dirty="0" smtClean="0">
                <a:latin typeface="+mj-lt"/>
              </a:rPr>
              <a:t> </a:t>
            </a:r>
            <a:r>
              <a:rPr lang="es-AR" sz="1733" dirty="0" err="1" smtClean="0">
                <a:latin typeface="+mj-lt"/>
              </a:rPr>
              <a:t>Ct</a:t>
            </a:r>
            <a:r>
              <a:rPr lang="es-AR" sz="1733" dirty="0" smtClean="0">
                <a:latin typeface="+mj-lt"/>
              </a:rPr>
              <a:t>.</a:t>
            </a:r>
          </a:p>
          <a:p>
            <a:r>
              <a:rPr lang="es-AR" sz="1733" dirty="0" err="1" smtClean="0">
                <a:latin typeface="+mj-lt"/>
              </a:rPr>
              <a:t>Reston</a:t>
            </a:r>
            <a:r>
              <a:rPr lang="es-AR" sz="1733" dirty="0" smtClean="0">
                <a:latin typeface="+mj-lt"/>
              </a:rPr>
              <a:t> (20194)</a:t>
            </a:r>
          </a:p>
          <a:p>
            <a:r>
              <a:rPr lang="es-AR" sz="1733" dirty="0" err="1" smtClean="0">
                <a:latin typeface="+mj-lt"/>
              </a:rPr>
              <a:t>tel</a:t>
            </a:r>
            <a:r>
              <a:rPr lang="es-AR" sz="1733" dirty="0" smtClean="0">
                <a:latin typeface="+mj-lt"/>
              </a:rPr>
              <a:t>:+703 842 9455</a:t>
            </a:r>
          </a:p>
        </p:txBody>
      </p:sp>
      <p:pic>
        <p:nvPicPr>
          <p:cNvPr id="18" name="Picture 4" descr="C:\Users\lcittanti\Documents\documentos institucionales\ppt\facebook-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8633" y="4220698"/>
            <a:ext cx="301589" cy="30158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5" descr="C:\Users\lcittanti\Documents\documentos institucionales\ppt\twitter-01-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88634" y="4660995"/>
            <a:ext cx="297085" cy="29708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9936427" y="6303512"/>
            <a:ext cx="2112235" cy="359009"/>
          </a:xfrm>
          <a:prstGeom prst="rect">
            <a:avLst/>
          </a:prstGeom>
          <a:noFill/>
        </p:spPr>
        <p:txBody>
          <a:bodyPr wrap="square" rtlCol="0">
            <a:spAutoFit/>
          </a:bodyPr>
          <a:lstStyle/>
          <a:p>
            <a:pPr algn="l"/>
            <a:r>
              <a:rPr lang="es-AR" sz="1733" u="none" dirty="0" smtClean="0">
                <a:solidFill>
                  <a:schemeClr val="bg1"/>
                </a:solidFill>
                <a:latin typeface="+mn-lt"/>
              </a:rPr>
              <a:t>www.hexacta.com</a:t>
            </a:r>
            <a:endParaRPr lang="es-AR" sz="1733" u="none" dirty="0">
              <a:solidFill>
                <a:schemeClr val="bg1"/>
              </a:solidFill>
              <a:latin typeface="+mn-lt"/>
            </a:endParaRPr>
          </a:p>
        </p:txBody>
      </p:sp>
      <p:sp>
        <p:nvSpPr>
          <p:cNvPr id="23" name="TextBox 22"/>
          <p:cNvSpPr txBox="1"/>
          <p:nvPr/>
        </p:nvSpPr>
        <p:spPr>
          <a:xfrm>
            <a:off x="6685719" y="4197086"/>
            <a:ext cx="1511829" cy="318100"/>
          </a:xfrm>
          <a:prstGeom prst="rect">
            <a:avLst/>
          </a:prstGeom>
          <a:noFill/>
        </p:spPr>
        <p:txBody>
          <a:bodyPr wrap="square" rtlCol="0">
            <a:spAutoFit/>
          </a:bodyPr>
          <a:lstStyle/>
          <a:p>
            <a:r>
              <a:rPr lang="es-AR" sz="1467" u="none" dirty="0" smtClean="0">
                <a:solidFill>
                  <a:schemeClr val="bg1"/>
                </a:solidFill>
              </a:rPr>
              <a:t>HexactaArg</a:t>
            </a:r>
            <a:endParaRPr lang="es-AR" sz="1467" u="none" dirty="0">
              <a:solidFill>
                <a:schemeClr val="bg1"/>
              </a:solidFill>
            </a:endParaRPr>
          </a:p>
        </p:txBody>
      </p:sp>
      <p:sp>
        <p:nvSpPr>
          <p:cNvPr id="24" name="TextBox 23"/>
          <p:cNvSpPr txBox="1"/>
          <p:nvPr/>
        </p:nvSpPr>
        <p:spPr>
          <a:xfrm>
            <a:off x="6652322" y="4635131"/>
            <a:ext cx="1939956" cy="318100"/>
          </a:xfrm>
          <a:prstGeom prst="rect">
            <a:avLst/>
          </a:prstGeom>
          <a:noFill/>
        </p:spPr>
        <p:txBody>
          <a:bodyPr wrap="square" rtlCol="0">
            <a:spAutoFit/>
          </a:bodyPr>
          <a:lstStyle/>
          <a:p>
            <a:pPr marL="0" marR="0" indent="0" algn="l" defTabSz="1219170" rtl="0" eaLnBrk="1" fontAlgn="auto" latinLnBrk="0" hangingPunct="1">
              <a:lnSpc>
                <a:spcPct val="100000"/>
              </a:lnSpc>
              <a:spcBef>
                <a:spcPts val="0"/>
              </a:spcBef>
              <a:spcAft>
                <a:spcPts val="0"/>
              </a:spcAft>
              <a:buClrTx/>
              <a:buSzTx/>
              <a:buFontTx/>
              <a:buNone/>
              <a:tabLst/>
              <a:defRPr/>
            </a:pPr>
            <a:r>
              <a:rPr lang="es-AR" sz="1467" b="0" i="0" u="none" strike="noStrike" kern="1200" dirty="0" smtClean="0">
                <a:solidFill>
                  <a:schemeClr val="bg1"/>
                </a:solidFill>
                <a:effectLst/>
                <a:latin typeface="+mn-lt"/>
                <a:ea typeface="+mn-ea"/>
                <a:cs typeface="+mn-cs"/>
              </a:rPr>
              <a:t>@</a:t>
            </a:r>
            <a:r>
              <a:rPr lang="es-AR" sz="1467" b="0" i="0" kern="1200" dirty="0" smtClean="0">
                <a:solidFill>
                  <a:schemeClr val="bg1"/>
                </a:solidFill>
                <a:effectLst/>
                <a:latin typeface="+mn-lt"/>
                <a:ea typeface="+mn-ea"/>
                <a:cs typeface="+mn-cs"/>
              </a:rPr>
              <a:t>Hexacta</a:t>
            </a:r>
          </a:p>
        </p:txBody>
      </p:sp>
      <p:pic>
        <p:nvPicPr>
          <p:cNvPr id="2" name="Picture 1"/>
          <p:cNvPicPr>
            <a:picLocks noChangeAspect="1"/>
          </p:cNvPicPr>
          <p:nvPr/>
        </p:nvPicPr>
        <p:blipFill rotWithShape="1">
          <a:blip r:embed="rId7" cstate="print">
            <a:extLst>
              <a:ext uri="{28A0092B-C50C-407E-A947-70E740481C1C}">
                <a14:useLocalDpi xmlns:a14="http://schemas.microsoft.com/office/drawing/2010/main" val="0"/>
              </a:ext>
            </a:extLst>
          </a:blip>
          <a:srcRect l="2370" r="774" b="8806"/>
          <a:stretch/>
        </p:blipFill>
        <p:spPr>
          <a:xfrm>
            <a:off x="6096001" y="-1"/>
            <a:ext cx="6096001" cy="3812119"/>
          </a:xfrm>
          <a:prstGeom prst="rect">
            <a:avLst/>
          </a:prstGeom>
        </p:spPr>
      </p:pic>
    </p:spTree>
    <p:extLst>
      <p:ext uri="{BB962C8B-B14F-4D97-AF65-F5344CB8AC3E}">
        <p14:creationId xmlns:p14="http://schemas.microsoft.com/office/powerpoint/2010/main" val="27637015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ítulo, subtítulo y contenido">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2"/>
            <a:ext cx="11265408" cy="296842"/>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10058400" y="6364224"/>
            <a:ext cx="1865376" cy="210312"/>
          </a:xfrm>
          <a:prstGeom prst="rect">
            <a:avLst/>
          </a:prstGeom>
        </p:spPr>
        <p:txBody>
          <a:bodyPr/>
          <a:lstStyle/>
          <a:p>
            <a:fld id="{5A4F54B1-5C76-4AD1-9017-DEB9004F4194}" type="slidenum">
              <a:rPr lang="es-AR" smtClean="0"/>
              <a:pPr/>
              <a:t>‹#›</a:t>
            </a:fld>
            <a:endParaRPr lang="es-AR" dirty="0"/>
          </a:p>
        </p:txBody>
      </p:sp>
      <p:sp>
        <p:nvSpPr>
          <p:cNvPr id="8" name="Text Placeholder 7"/>
          <p:cNvSpPr>
            <a:spLocks noGrp="1"/>
          </p:cNvSpPr>
          <p:nvPr>
            <p:ph type="body" sz="quarter" idx="13" hasCustomPrompt="1"/>
          </p:nvPr>
        </p:nvSpPr>
        <p:spPr>
          <a:xfrm>
            <a:off x="633984" y="640080"/>
            <a:ext cx="11265408" cy="228600"/>
          </a:xfrm>
        </p:spPr>
        <p:txBody>
          <a:bodyPr lIns="0" tIns="0" rIns="0" bIns="0">
            <a:noAutofit/>
          </a:bodyPr>
          <a:lstStyle>
            <a:lvl1pPr>
              <a:buNone/>
              <a:defRPr sz="1600">
                <a:solidFill>
                  <a:schemeClr val="tx1">
                    <a:lumMod val="50000"/>
                    <a:lumOff val="50000"/>
                  </a:schemeClr>
                </a:solidFill>
              </a:defRPr>
            </a:lvl1pPr>
            <a:lvl5pPr>
              <a:defRPr/>
            </a:lvl5pPr>
          </a:lstStyle>
          <a:p>
            <a:pPr lvl="0"/>
            <a:r>
              <a:rPr lang="en-US" dirty="0" err="1" smtClean="0"/>
              <a:t>Subdsfadsfads</a:t>
            </a:r>
            <a:endParaRPr lang="en-US" dirty="0"/>
          </a:p>
        </p:txBody>
      </p:sp>
    </p:spTree>
    <p:extLst>
      <p:ext uri="{BB962C8B-B14F-4D97-AF65-F5344CB8AC3E}">
        <p14:creationId xmlns:p14="http://schemas.microsoft.com/office/powerpoint/2010/main" val="32028620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34433" y="1700809"/>
            <a:ext cx="11534600" cy="442535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s-AR" dirty="0"/>
          </a:p>
        </p:txBody>
      </p:sp>
    </p:spTree>
    <p:extLst>
      <p:ext uri="{BB962C8B-B14F-4D97-AF65-F5344CB8AC3E}">
        <p14:creationId xmlns:p14="http://schemas.microsoft.com/office/powerpoint/2010/main" val="2376902741"/>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6" r:id="rId14"/>
  </p:sldLayoutIdLst>
  <p:timing>
    <p:tnLst>
      <p:par>
        <p:cTn id="1" dur="indefinite" restart="never" nodeType="tmRoot"/>
      </p:par>
    </p:tnLst>
  </p:timing>
  <p:txStyles>
    <p:titleStyle>
      <a:lvl1pPr algn="l" defTabSz="1219170" rtl="0" eaLnBrk="1" latinLnBrk="0" hangingPunct="1">
        <a:spcBef>
          <a:spcPct val="0"/>
        </a:spcBef>
        <a:buNone/>
        <a:defRPr sz="2400" kern="600" spc="0" baseline="0">
          <a:solidFill>
            <a:schemeClr val="bg1">
              <a:lumMod val="50000"/>
            </a:schemeClr>
          </a:solidFill>
          <a:latin typeface="+mj-lt"/>
          <a:ea typeface="+mj-ea"/>
          <a:cs typeface="+mj-cs"/>
        </a:defRPr>
      </a:lvl1pPr>
    </p:titleStyle>
    <p:bodyStyle>
      <a:lvl1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1pPr>
      <a:lvl2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2pPr>
      <a:lvl3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3pPr>
      <a:lvl4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4pPr>
      <a:lvl5pPr marL="0" indent="-241294" algn="l" defTabSz="1219170" rtl="0" eaLnBrk="1" latinLnBrk="0" hangingPunct="1">
        <a:spcBef>
          <a:spcPts val="133"/>
        </a:spcBef>
        <a:spcAft>
          <a:spcPts val="800"/>
        </a:spcAft>
        <a:buClr>
          <a:schemeClr val="accent1"/>
        </a:buClr>
        <a:buSzPct val="85000"/>
        <a:buFont typeface="Segoe UI" panose="020B0502040204020203" pitchFamily="34" charset="0"/>
        <a:buChar char="&gt;"/>
        <a:defRPr sz="1867" kern="1200">
          <a:solidFill>
            <a:schemeClr val="tx1">
              <a:lumMod val="75000"/>
            </a:schemeClr>
          </a:solidFill>
          <a:latin typeface="Segoe UI Light" panose="020B0502040204020203" pitchFamily="34" charset="0"/>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s-A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8.gif"/></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7.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14.xml"/><Relationship Id="rId5" Type="http://schemas.openxmlformats.org/officeDocument/2006/relationships/image" Target="../media/image23.jpg"/><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8.gif"/><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err="1" smtClean="0"/>
              <a:t>Capacitación</a:t>
            </a:r>
            <a:r>
              <a:rPr lang="en-US" dirty="0" smtClean="0"/>
              <a:t> MVC</a:t>
            </a:r>
            <a:endParaRPr lang="en-US" dirty="0"/>
          </a:p>
        </p:txBody>
      </p:sp>
      <p:sp>
        <p:nvSpPr>
          <p:cNvPr id="4" name="Text Placeholder 3"/>
          <p:cNvSpPr>
            <a:spLocks noGrp="1"/>
          </p:cNvSpPr>
          <p:nvPr>
            <p:ph type="body" sz="quarter" idx="12"/>
          </p:nvPr>
        </p:nvSpPr>
        <p:spPr/>
        <p:txBody>
          <a:bodyPr/>
          <a:lstStyle/>
          <a:p>
            <a:endParaRPr lang="en-US" dirty="0"/>
          </a:p>
        </p:txBody>
      </p:sp>
      <p:pic>
        <p:nvPicPr>
          <p:cNvPr id="5" name="Picture 4"/>
          <p:cNvPicPr>
            <a:picLocks noChangeAspect="1"/>
          </p:cNvPicPr>
          <p:nvPr/>
        </p:nvPicPr>
        <p:blipFill>
          <a:blip r:embed="rId2"/>
          <a:stretch>
            <a:fillRect/>
          </a:stretch>
        </p:blipFill>
        <p:spPr>
          <a:xfrm>
            <a:off x="10643321" y="4659603"/>
            <a:ext cx="1171575" cy="809625"/>
          </a:xfrm>
          <a:prstGeom prst="rect">
            <a:avLst/>
          </a:prstGeom>
        </p:spPr>
      </p:pic>
    </p:spTree>
    <p:extLst>
      <p:ext uri="{BB962C8B-B14F-4D97-AF65-F5344CB8AC3E}">
        <p14:creationId xmlns:p14="http://schemas.microsoft.com/office/powerpoint/2010/main" val="4252191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999488" y="347472"/>
            <a:ext cx="8449056" cy="296842"/>
          </a:xfrm>
        </p:spPr>
        <p:txBody>
          <a:bodyPr/>
          <a:lstStyle/>
          <a:p>
            <a:r>
              <a:rPr lang="es-ES" dirty="0" smtClean="0"/>
              <a:t>Agenda</a:t>
            </a:r>
            <a:endParaRPr lang="es-ES" dirty="0"/>
          </a:p>
        </p:txBody>
      </p:sp>
      <p:sp>
        <p:nvSpPr>
          <p:cNvPr id="3" name="Content Placeholder 2"/>
          <p:cNvSpPr>
            <a:spLocks noGrp="1"/>
          </p:cNvSpPr>
          <p:nvPr>
            <p:ph idx="1"/>
          </p:nvPr>
        </p:nvSpPr>
        <p:spPr>
          <a:xfrm>
            <a:off x="1928668" y="1061930"/>
            <a:ext cx="8233292" cy="4683781"/>
          </a:xfrm>
        </p:spPr>
        <p:txBody>
          <a:bodyPr>
            <a:normAutofit/>
          </a:bodyPr>
          <a:lstStyle/>
          <a:p>
            <a:pPr lvl="1"/>
            <a:r>
              <a:rPr lang="es-AR" sz="2400" dirty="0"/>
              <a:t>Asp.net MVC – </a:t>
            </a:r>
            <a:r>
              <a:rPr lang="es-AR" sz="2400" dirty="0" smtClean="0"/>
              <a:t>Estructura</a:t>
            </a:r>
          </a:p>
          <a:p>
            <a:pPr lvl="1"/>
            <a:r>
              <a:rPr lang="es-AR" sz="2400" dirty="0" smtClean="0"/>
              <a:t>Patrón MVC</a:t>
            </a:r>
            <a:endParaRPr lang="es-AR" sz="2400" dirty="0"/>
          </a:p>
          <a:p>
            <a:r>
              <a:rPr lang="es-AR" sz="2400" dirty="0" smtClean="0"/>
              <a:t>Proyecto MVC en Visual Studio 2013</a:t>
            </a:r>
            <a:endParaRPr lang="es-AR" sz="2400" dirty="0"/>
          </a:p>
          <a:p>
            <a:r>
              <a:rPr lang="es-AR" sz="2400" dirty="0" err="1"/>
              <a:t>Action</a:t>
            </a:r>
            <a:r>
              <a:rPr lang="es-AR" sz="2400" dirty="0"/>
              <a:t> </a:t>
            </a:r>
            <a:r>
              <a:rPr lang="es-AR" sz="2400" dirty="0" err="1"/>
              <a:t>Results</a:t>
            </a:r>
            <a:r>
              <a:rPr lang="es-AR" sz="2400" dirty="0"/>
              <a:t> </a:t>
            </a:r>
            <a:endParaRPr lang="es-AR" sz="2400" dirty="0" smtClean="0"/>
          </a:p>
          <a:p>
            <a:r>
              <a:rPr lang="es-AR" sz="2400" dirty="0" err="1" smtClean="0"/>
              <a:t>Razor</a:t>
            </a:r>
            <a:endParaRPr lang="es-AR" sz="2400" dirty="0"/>
          </a:p>
          <a:p>
            <a:r>
              <a:rPr lang="es-AR" sz="2400" dirty="0" err="1"/>
              <a:t>Html</a:t>
            </a:r>
            <a:r>
              <a:rPr lang="es-AR" sz="2400" dirty="0"/>
              <a:t> </a:t>
            </a:r>
            <a:r>
              <a:rPr lang="es-AR" sz="2400" dirty="0" err="1" smtClean="0"/>
              <a:t>Helpers</a:t>
            </a:r>
            <a:endParaRPr lang="es-AR" sz="2400" dirty="0"/>
          </a:p>
          <a:p>
            <a:r>
              <a:rPr lang="es-AR" sz="2400" dirty="0" smtClean="0"/>
              <a:t>Vistas </a:t>
            </a:r>
            <a:r>
              <a:rPr lang="es-AR" sz="2400" dirty="0" err="1" smtClean="0"/>
              <a:t>tipadas</a:t>
            </a:r>
            <a:r>
              <a:rPr lang="es-AR" sz="2400" dirty="0" smtClean="0"/>
              <a:t> </a:t>
            </a:r>
            <a:endParaRPr lang="es-AR" sz="2400" dirty="0"/>
          </a:p>
          <a:p>
            <a:pPr marL="228600" lvl="1" indent="0">
              <a:buNone/>
            </a:pPr>
            <a:endParaRPr lang="en-US" sz="4000" dirty="0"/>
          </a:p>
        </p:txBody>
      </p:sp>
    </p:spTree>
    <p:extLst>
      <p:ext uri="{BB962C8B-B14F-4D97-AF65-F5344CB8AC3E}">
        <p14:creationId xmlns:p14="http://schemas.microsoft.com/office/powerpoint/2010/main" val="7352057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ASP.NET MVC - Estructura</a:t>
            </a:r>
            <a:endParaRPr lang="es-E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656" y="1077192"/>
            <a:ext cx="8749144" cy="5510824"/>
          </a:xfrm>
          <a:prstGeom prst="rect">
            <a:avLst/>
          </a:prstGeom>
        </p:spPr>
      </p:pic>
    </p:spTree>
    <p:extLst>
      <p:ext uri="{BB962C8B-B14F-4D97-AF65-F5344CB8AC3E}">
        <p14:creationId xmlns:p14="http://schemas.microsoft.com/office/powerpoint/2010/main" val="7546113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771190" y="333824"/>
            <a:ext cx="8449056" cy="296842"/>
          </a:xfrm>
        </p:spPr>
        <p:txBody>
          <a:bodyPr/>
          <a:lstStyle/>
          <a:p>
            <a:r>
              <a:rPr lang="es-ES" dirty="0" smtClean="0"/>
              <a:t>Patrón MVC</a:t>
            </a:r>
            <a:endParaRPr lang="es-ES" dirty="0"/>
          </a:p>
        </p:txBody>
      </p:sp>
      <p:pic>
        <p:nvPicPr>
          <p:cNvPr id="2050" name="Picture 2" descr="MV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7632" y="1006475"/>
            <a:ext cx="5330825" cy="5118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7382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815265" y="302501"/>
            <a:ext cx="8449056" cy="296842"/>
          </a:xfrm>
        </p:spPr>
        <p:txBody>
          <a:bodyPr/>
          <a:lstStyle/>
          <a:p>
            <a:r>
              <a:rPr lang="es-ES" dirty="0" smtClean="0"/>
              <a:t>Patrón MVC aplicado al </a:t>
            </a:r>
            <a:r>
              <a:rPr lang="es-ES" dirty="0" err="1" smtClean="0"/>
              <a:t>framework</a:t>
            </a:r>
            <a:r>
              <a:rPr lang="es-ES" dirty="0" smtClean="0"/>
              <a:t> web</a:t>
            </a:r>
            <a:endParaRPr lang="es-ES" dirty="0"/>
          </a:p>
        </p:txBody>
      </p:sp>
      <p:pic>
        <p:nvPicPr>
          <p:cNvPr id="1026" name="Picture 2" descr="http://www.codeproject.com/KB/aspnet/528117/16.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0516" y="1708259"/>
            <a:ext cx="8730022" cy="410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6122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Patrón</a:t>
            </a:r>
            <a:r>
              <a:rPr lang="en-US" dirty="0" smtClean="0"/>
              <a:t> MVC - </a:t>
            </a:r>
            <a:r>
              <a:rPr lang="en-US" dirty="0" err="1" smtClean="0"/>
              <a:t>Ventajas</a:t>
            </a:r>
            <a:endParaRPr lang="en-US" dirty="0"/>
          </a:p>
        </p:txBody>
      </p:sp>
      <p:sp>
        <p:nvSpPr>
          <p:cNvPr id="3" name="Content Placeholder 2"/>
          <p:cNvSpPr>
            <a:spLocks noGrp="1"/>
          </p:cNvSpPr>
          <p:nvPr>
            <p:ph idx="1"/>
          </p:nvPr>
        </p:nvSpPr>
        <p:spPr>
          <a:xfrm>
            <a:off x="334433" y="1700808"/>
            <a:ext cx="11534600" cy="2986939"/>
          </a:xfrm>
        </p:spPr>
        <p:txBody>
          <a:bodyPr>
            <a:noAutofit/>
          </a:bodyPr>
          <a:lstStyle/>
          <a:p>
            <a:pPr lvl="1"/>
            <a:r>
              <a:rPr lang="es-AR" sz="2000" dirty="0" err="1" smtClean="0"/>
              <a:t>Multiples</a:t>
            </a:r>
            <a:r>
              <a:rPr lang="es-AR" sz="2000" dirty="0" smtClean="0"/>
              <a:t> Formularios en una página(&lt;</a:t>
            </a:r>
            <a:r>
              <a:rPr lang="es-AR" sz="2000" dirty="0" err="1" smtClean="0"/>
              <a:t>form</a:t>
            </a:r>
            <a:r>
              <a:rPr lang="es-AR" sz="2000" dirty="0" smtClean="0"/>
              <a:t>&gt;)</a:t>
            </a:r>
          </a:p>
          <a:p>
            <a:pPr lvl="1"/>
            <a:r>
              <a:rPr lang="es-AR" sz="2000" dirty="0" smtClean="0"/>
              <a:t>Total </a:t>
            </a:r>
            <a:r>
              <a:rPr lang="es-AR" sz="2000" dirty="0"/>
              <a:t>control sobre HTTP y el output HTML</a:t>
            </a:r>
          </a:p>
          <a:p>
            <a:pPr lvl="1"/>
            <a:r>
              <a:rPr lang="es-ES" sz="2000" dirty="0" smtClean="0"/>
              <a:t>Separación de intereses (</a:t>
            </a:r>
            <a:r>
              <a:rPr lang="es-ES" sz="2000" dirty="0" err="1" smtClean="0"/>
              <a:t>Separation</a:t>
            </a:r>
            <a:r>
              <a:rPr lang="es-ES" sz="2000" dirty="0" smtClean="0"/>
              <a:t> of </a:t>
            </a:r>
            <a:r>
              <a:rPr lang="es-ES" sz="2000" dirty="0" err="1" smtClean="0"/>
              <a:t>Concern</a:t>
            </a:r>
            <a:r>
              <a:rPr lang="es-ES" sz="2000" dirty="0" smtClean="0"/>
              <a:t>)</a:t>
            </a:r>
            <a:endParaRPr lang="es-AR" sz="2000" dirty="0"/>
          </a:p>
          <a:p>
            <a:pPr lvl="1"/>
            <a:r>
              <a:rPr lang="es-ES" sz="2000" dirty="0"/>
              <a:t>Facilidad de testeo (</a:t>
            </a:r>
            <a:r>
              <a:rPr lang="es-ES" sz="2000" dirty="0" err="1"/>
              <a:t>Unit</a:t>
            </a:r>
            <a:r>
              <a:rPr lang="es-ES" sz="2000" dirty="0"/>
              <a:t> </a:t>
            </a:r>
            <a:r>
              <a:rPr lang="es-ES" sz="2000" dirty="0" err="1"/>
              <a:t>testing</a:t>
            </a:r>
            <a:r>
              <a:rPr lang="es-ES" sz="2000" dirty="0" smtClean="0"/>
              <a:t>)</a:t>
            </a:r>
            <a:endParaRPr lang="es-AR" sz="2000" dirty="0" smtClean="0"/>
          </a:p>
          <a:p>
            <a:pPr lvl="1"/>
            <a:r>
              <a:rPr lang="es-AR" sz="2000" dirty="0" err="1" smtClean="0"/>
              <a:t>Routing</a:t>
            </a:r>
            <a:endParaRPr lang="es-AR" sz="2000" dirty="0"/>
          </a:p>
        </p:txBody>
      </p:sp>
    </p:spTree>
    <p:extLst>
      <p:ext uri="{BB962C8B-B14F-4D97-AF65-F5344CB8AC3E}">
        <p14:creationId xmlns:p14="http://schemas.microsoft.com/office/powerpoint/2010/main" val="18859498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AR" dirty="0"/>
              <a:t>P</a:t>
            </a:r>
            <a:r>
              <a:rPr lang="es-AR" dirty="0" smtClean="0"/>
              <a:t>royecto MVC - Estructura</a:t>
            </a:r>
            <a:endParaRPr lang="en-US" dirty="0"/>
          </a:p>
        </p:txBody>
      </p:sp>
      <p:pic>
        <p:nvPicPr>
          <p:cNvPr id="1026" name="Picture 2" descr="Solutio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980813" y="1617035"/>
            <a:ext cx="1619250" cy="2873106"/>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9019998" y="2584006"/>
            <a:ext cx="2338466" cy="512519"/>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Controladores</a:t>
            </a:r>
            <a:endParaRPr lang="es-AR" dirty="0"/>
          </a:p>
        </p:txBody>
      </p:sp>
      <p:sp>
        <p:nvSpPr>
          <p:cNvPr id="7" name="Oval 6"/>
          <p:cNvSpPr/>
          <p:nvPr/>
        </p:nvSpPr>
        <p:spPr>
          <a:xfrm>
            <a:off x="9039066" y="3524421"/>
            <a:ext cx="2323478" cy="509601"/>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Modelos</a:t>
            </a:r>
            <a:endParaRPr lang="es-AR" dirty="0">
              <a:solidFill>
                <a:schemeClr val="tx1"/>
              </a:solidFill>
            </a:endParaRPr>
          </a:p>
        </p:txBody>
      </p:sp>
      <p:sp>
        <p:nvSpPr>
          <p:cNvPr id="8" name="Oval 7"/>
          <p:cNvSpPr/>
          <p:nvPr/>
        </p:nvSpPr>
        <p:spPr>
          <a:xfrm>
            <a:off x="9039066" y="5351119"/>
            <a:ext cx="2323478" cy="473373"/>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Vistas</a:t>
            </a:r>
            <a:endParaRPr lang="es-AR" dirty="0">
              <a:solidFill>
                <a:schemeClr val="tx1"/>
              </a:solidFill>
            </a:endParaRPr>
          </a:p>
        </p:txBody>
      </p:sp>
      <p:sp>
        <p:nvSpPr>
          <p:cNvPr id="9" name="Oval 8"/>
          <p:cNvSpPr/>
          <p:nvPr/>
        </p:nvSpPr>
        <p:spPr>
          <a:xfrm>
            <a:off x="9039066" y="4388055"/>
            <a:ext cx="2323478" cy="549532"/>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solidFill>
                  <a:schemeClr val="tx1"/>
                </a:solidFill>
              </a:rPr>
              <a:t>Scrips</a:t>
            </a:r>
            <a:r>
              <a:rPr lang="es-ES" dirty="0" smtClean="0">
                <a:solidFill>
                  <a:schemeClr val="tx1"/>
                </a:solidFill>
              </a:rPr>
              <a:t>(.</a:t>
            </a:r>
            <a:r>
              <a:rPr lang="es-ES" dirty="0" err="1" smtClean="0">
                <a:solidFill>
                  <a:schemeClr val="tx1"/>
                </a:solidFill>
              </a:rPr>
              <a:t>js</a:t>
            </a:r>
            <a:r>
              <a:rPr lang="es-ES" dirty="0" smtClean="0">
                <a:solidFill>
                  <a:schemeClr val="tx1"/>
                </a:solidFill>
              </a:rPr>
              <a:t>)</a:t>
            </a:r>
            <a:endParaRPr lang="es-AR" dirty="0">
              <a:solidFill>
                <a:schemeClr val="tx1"/>
              </a:solidFill>
            </a:endParaRPr>
          </a:p>
        </p:txBody>
      </p:sp>
      <p:cxnSp>
        <p:nvCxnSpPr>
          <p:cNvPr id="11" name="Straight Arrow Connector 10"/>
          <p:cNvCxnSpPr>
            <a:stCxn id="3" idx="2"/>
          </p:cNvCxnSpPr>
          <p:nvPr/>
        </p:nvCxnSpPr>
        <p:spPr>
          <a:xfrm flipH="1">
            <a:off x="6130978" y="2840266"/>
            <a:ext cx="2889020" cy="2133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2"/>
          </p:cNvCxnSpPr>
          <p:nvPr/>
        </p:nvCxnSpPr>
        <p:spPr>
          <a:xfrm flipH="1" flipV="1">
            <a:off x="6130978" y="3249655"/>
            <a:ext cx="2908088" cy="5295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2"/>
          </p:cNvCxnSpPr>
          <p:nvPr/>
        </p:nvCxnSpPr>
        <p:spPr>
          <a:xfrm flipH="1" flipV="1">
            <a:off x="5966088" y="3593128"/>
            <a:ext cx="3072978" cy="19946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2"/>
          </p:cNvCxnSpPr>
          <p:nvPr/>
        </p:nvCxnSpPr>
        <p:spPr>
          <a:xfrm flipH="1" flipV="1">
            <a:off x="6130978" y="3424652"/>
            <a:ext cx="2908088" cy="1238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088562" y="3745398"/>
            <a:ext cx="1240586" cy="5569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0" name="Rectangle 29"/>
          <p:cNvSpPr/>
          <p:nvPr/>
        </p:nvSpPr>
        <p:spPr>
          <a:xfrm>
            <a:off x="5088562" y="2695350"/>
            <a:ext cx="1240586" cy="10127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Rectangle 31"/>
          <p:cNvSpPr/>
          <p:nvPr/>
        </p:nvSpPr>
        <p:spPr>
          <a:xfrm>
            <a:off x="5071072" y="2303110"/>
            <a:ext cx="1240586" cy="3548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1" name="Rectangle 30"/>
          <p:cNvSpPr/>
          <p:nvPr/>
        </p:nvSpPr>
        <p:spPr>
          <a:xfrm>
            <a:off x="1454046" y="1521244"/>
            <a:ext cx="1828800" cy="8071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5" name="Rectangle 34"/>
          <p:cNvSpPr/>
          <p:nvPr/>
        </p:nvSpPr>
        <p:spPr>
          <a:xfrm>
            <a:off x="1471536" y="2692974"/>
            <a:ext cx="1828800" cy="8071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6" name="Rectangle 35"/>
          <p:cNvSpPr/>
          <p:nvPr/>
        </p:nvSpPr>
        <p:spPr>
          <a:xfrm>
            <a:off x="1474036" y="3864702"/>
            <a:ext cx="1825207" cy="8071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4" name="TextBox 33"/>
          <p:cNvSpPr txBox="1"/>
          <p:nvPr/>
        </p:nvSpPr>
        <p:spPr>
          <a:xfrm>
            <a:off x="1438284" y="1740129"/>
            <a:ext cx="1860959" cy="369332"/>
          </a:xfrm>
          <a:prstGeom prst="rect">
            <a:avLst/>
          </a:prstGeom>
          <a:noFill/>
        </p:spPr>
        <p:txBody>
          <a:bodyPr wrap="none" rtlCol="0">
            <a:spAutoFit/>
          </a:bodyPr>
          <a:lstStyle/>
          <a:p>
            <a:r>
              <a:rPr lang="es-ES" dirty="0" smtClean="0"/>
              <a:t>App </a:t>
            </a:r>
            <a:r>
              <a:rPr lang="es-ES" dirty="0" err="1" smtClean="0"/>
              <a:t>Information</a:t>
            </a:r>
            <a:endParaRPr lang="es-AR" dirty="0"/>
          </a:p>
        </p:txBody>
      </p:sp>
      <p:sp>
        <p:nvSpPr>
          <p:cNvPr id="38" name="TextBox 37"/>
          <p:cNvSpPr txBox="1"/>
          <p:nvPr/>
        </p:nvSpPr>
        <p:spPr>
          <a:xfrm>
            <a:off x="1438284" y="2868922"/>
            <a:ext cx="1407758" cy="369332"/>
          </a:xfrm>
          <a:prstGeom prst="rect">
            <a:avLst/>
          </a:prstGeom>
          <a:noFill/>
        </p:spPr>
        <p:txBody>
          <a:bodyPr wrap="none" rtlCol="0">
            <a:spAutoFit/>
          </a:bodyPr>
          <a:lstStyle/>
          <a:p>
            <a:r>
              <a:rPr lang="es-ES" dirty="0" smtClean="0"/>
              <a:t>App Folders</a:t>
            </a:r>
            <a:endParaRPr lang="es-AR" dirty="0"/>
          </a:p>
        </p:txBody>
      </p:sp>
      <p:sp>
        <p:nvSpPr>
          <p:cNvPr id="39" name="TextBox 38"/>
          <p:cNvSpPr txBox="1"/>
          <p:nvPr/>
        </p:nvSpPr>
        <p:spPr>
          <a:xfrm>
            <a:off x="1438284" y="4093583"/>
            <a:ext cx="1305165" cy="369332"/>
          </a:xfrm>
          <a:prstGeom prst="rect">
            <a:avLst/>
          </a:prstGeom>
          <a:noFill/>
        </p:spPr>
        <p:txBody>
          <a:bodyPr wrap="none" rtlCol="0">
            <a:spAutoFit/>
          </a:bodyPr>
          <a:lstStyle/>
          <a:p>
            <a:r>
              <a:rPr lang="es-ES" dirty="0" smtClean="0"/>
              <a:t>App </a:t>
            </a:r>
            <a:r>
              <a:rPr lang="es-ES" dirty="0" err="1" smtClean="0"/>
              <a:t>config</a:t>
            </a:r>
            <a:endParaRPr lang="es-AR" dirty="0"/>
          </a:p>
        </p:txBody>
      </p:sp>
      <p:cxnSp>
        <p:nvCxnSpPr>
          <p:cNvPr id="40" name="Straight Arrow Connector 39"/>
          <p:cNvCxnSpPr>
            <a:stCxn id="34" idx="3"/>
          </p:cNvCxnSpPr>
          <p:nvPr/>
        </p:nvCxnSpPr>
        <p:spPr>
          <a:xfrm>
            <a:off x="3299243" y="1924795"/>
            <a:ext cx="1681570" cy="5186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5" idx="3"/>
            <a:endCxn id="1026" idx="1"/>
          </p:cNvCxnSpPr>
          <p:nvPr/>
        </p:nvCxnSpPr>
        <p:spPr>
          <a:xfrm flipV="1">
            <a:off x="3300336" y="3053588"/>
            <a:ext cx="1680477" cy="429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6" idx="3"/>
          </p:cNvCxnSpPr>
          <p:nvPr/>
        </p:nvCxnSpPr>
        <p:spPr>
          <a:xfrm flipV="1">
            <a:off x="3299243" y="4022258"/>
            <a:ext cx="1680477" cy="2459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9019998" y="1635752"/>
            <a:ext cx="2338466" cy="511611"/>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chemeClr val="tx1"/>
                </a:solidFill>
              </a:rPr>
              <a:t>.</a:t>
            </a:r>
            <a:r>
              <a:rPr lang="es-ES" dirty="0" err="1" smtClean="0">
                <a:solidFill>
                  <a:schemeClr val="tx1"/>
                </a:solidFill>
              </a:rPr>
              <a:t>css</a:t>
            </a:r>
            <a:r>
              <a:rPr lang="es-ES" dirty="0" smtClean="0">
                <a:solidFill>
                  <a:schemeClr val="tx1"/>
                </a:solidFill>
              </a:rPr>
              <a:t>, </a:t>
            </a:r>
            <a:r>
              <a:rPr lang="es-ES" dirty="0" err="1" smtClean="0">
                <a:solidFill>
                  <a:schemeClr val="tx1"/>
                </a:solidFill>
              </a:rPr>
              <a:t>icons</a:t>
            </a:r>
            <a:r>
              <a:rPr lang="es-ES" dirty="0" smtClean="0">
                <a:solidFill>
                  <a:schemeClr val="tx1"/>
                </a:solidFill>
              </a:rPr>
              <a:t>, </a:t>
            </a:r>
            <a:r>
              <a:rPr lang="es-ES" dirty="0" err="1" smtClean="0">
                <a:solidFill>
                  <a:schemeClr val="tx1"/>
                </a:solidFill>
              </a:rPr>
              <a:t>imgs</a:t>
            </a:r>
            <a:endParaRPr lang="es-AR" dirty="0"/>
          </a:p>
        </p:txBody>
      </p:sp>
      <p:cxnSp>
        <p:nvCxnSpPr>
          <p:cNvPr id="65" name="Straight Arrow Connector 64"/>
          <p:cNvCxnSpPr>
            <a:stCxn id="50" idx="2"/>
          </p:cNvCxnSpPr>
          <p:nvPr/>
        </p:nvCxnSpPr>
        <p:spPr>
          <a:xfrm flipH="1">
            <a:off x="6100890" y="1891558"/>
            <a:ext cx="2919108" cy="10137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92280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Proyecto MVC - Convención de localización de vistas</a:t>
            </a:r>
            <a:endParaRPr lang="en-US" dirty="0"/>
          </a:p>
        </p:txBody>
      </p:sp>
      <p:sp>
        <p:nvSpPr>
          <p:cNvPr id="3" name="Content Placeholder 2"/>
          <p:cNvSpPr>
            <a:spLocks noGrp="1"/>
          </p:cNvSpPr>
          <p:nvPr>
            <p:ph idx="1"/>
          </p:nvPr>
        </p:nvSpPr>
        <p:spPr/>
        <p:txBody>
          <a:bodyPr>
            <a:normAutofit/>
          </a:bodyPr>
          <a:lstStyle/>
          <a:p>
            <a:r>
              <a:rPr lang="es-AR" sz="2000" dirty="0"/>
              <a:t>MVC localiza las Vistas usando una convención de nombres y directorios:</a:t>
            </a:r>
          </a:p>
          <a:p>
            <a:pPr marL="0" indent="0">
              <a:buNone/>
            </a:pPr>
            <a:endParaRPr lang="es-AR" sz="2000" dirty="0"/>
          </a:p>
          <a:p>
            <a:pPr marL="571500" lvl="1" indent="-342900">
              <a:buFont typeface="+mj-lt"/>
              <a:buAutoNum type="arabicPeriod"/>
            </a:pPr>
            <a:r>
              <a:rPr lang="es-AR" sz="2000" dirty="0" err="1"/>
              <a:t>Views</a:t>
            </a:r>
            <a:r>
              <a:rPr lang="es-AR" sz="2000" dirty="0"/>
              <a:t> \ </a:t>
            </a:r>
            <a:r>
              <a:rPr lang="es-AR" sz="2000" i="1" dirty="0"/>
              <a:t>[Nombre </a:t>
            </a:r>
            <a:r>
              <a:rPr lang="es-AR" sz="2000" i="1" dirty="0" err="1"/>
              <a:t>Controller</a:t>
            </a:r>
            <a:r>
              <a:rPr lang="es-AR" sz="2000" i="1" dirty="0"/>
              <a:t>]</a:t>
            </a:r>
            <a:r>
              <a:rPr lang="es-AR" sz="2000" dirty="0"/>
              <a:t> \ </a:t>
            </a:r>
            <a:r>
              <a:rPr lang="es-AR" sz="2000" i="1" dirty="0"/>
              <a:t>[Nombre Vista]</a:t>
            </a:r>
            <a:br>
              <a:rPr lang="es-AR" sz="2000" i="1" dirty="0"/>
            </a:br>
            <a:endParaRPr lang="es-AR" sz="2000" i="1" dirty="0"/>
          </a:p>
          <a:p>
            <a:pPr marL="571500" lvl="1" indent="-342900">
              <a:buFont typeface="+mj-lt"/>
              <a:buAutoNum type="arabicPeriod"/>
            </a:pPr>
            <a:r>
              <a:rPr lang="es-AR" sz="2000" dirty="0" err="1"/>
              <a:t>Views</a:t>
            </a:r>
            <a:r>
              <a:rPr lang="es-AR" sz="2000" dirty="0"/>
              <a:t> \ </a:t>
            </a:r>
            <a:r>
              <a:rPr lang="es-AR" sz="2000" dirty="0" err="1"/>
              <a:t>Shared</a:t>
            </a:r>
            <a:r>
              <a:rPr lang="es-AR" sz="2000" dirty="0"/>
              <a:t> \ </a:t>
            </a:r>
            <a:r>
              <a:rPr lang="es-AR" sz="2000" i="1" dirty="0"/>
              <a:t>[Nombre Vista]</a:t>
            </a:r>
          </a:p>
          <a:p>
            <a:pPr marL="571500" lvl="1" indent="-342900">
              <a:buFont typeface="+mj-lt"/>
              <a:buAutoNum type="arabicPeriod"/>
            </a:pPr>
            <a:endParaRPr lang="es-AR" sz="2000" dirty="0" smtClean="0"/>
          </a:p>
          <a:p>
            <a:pPr marL="571500" lvl="1" indent="-342900">
              <a:buFont typeface="+mj-lt"/>
              <a:buAutoNum type="arabicPeriod"/>
            </a:pPr>
            <a:endParaRPr lang="es-AR" sz="2000" dirty="0" smtClean="0"/>
          </a:p>
          <a:p>
            <a:endParaRPr lang="es-AR" sz="2000" dirty="0" smtClean="0"/>
          </a:p>
          <a:p>
            <a:pPr marL="228600" lvl="1" indent="0">
              <a:buNone/>
            </a:pPr>
            <a:endParaRPr lang="es-AR" sz="2000" dirty="0" smtClean="0"/>
          </a:p>
        </p:txBody>
      </p:sp>
    </p:spTree>
    <p:extLst>
      <p:ext uri="{BB962C8B-B14F-4D97-AF65-F5344CB8AC3E}">
        <p14:creationId xmlns:p14="http://schemas.microsoft.com/office/powerpoint/2010/main" val="24388279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8"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1384" y="2183755"/>
            <a:ext cx="1843430" cy="1819656"/>
          </a:xfrm>
          <a:prstGeom prst="rect">
            <a:avLst/>
          </a:prstGeom>
          <a:noFill/>
          <a:extLst>
            <a:ext uri="{909E8E84-426E-40DD-AFC4-6F175D3DCCD1}">
              <a14:hiddenFill xmlns:a14="http://schemas.microsoft.com/office/drawing/2010/main">
                <a:solidFill>
                  <a:srgbClr val="FFFFFF"/>
                </a:solidFill>
              </a14:hiddenFill>
            </a:ext>
          </a:extLst>
        </p:spPr>
      </p:pic>
      <p:sp>
        <p:nvSpPr>
          <p:cNvPr id="6" name="6 Marcador de contenido"/>
          <p:cNvSpPr txBox="1">
            <a:spLocks/>
          </p:cNvSpPr>
          <p:nvPr/>
        </p:nvSpPr>
        <p:spPr>
          <a:xfrm>
            <a:off x="5167087" y="836612"/>
            <a:ext cx="5326743" cy="3938588"/>
          </a:xfrm>
          <a:prstGeom prst="rect">
            <a:avLst/>
          </a:prstGeom>
        </p:spPr>
        <p:txBody>
          <a:bodyPr>
            <a:normAutofit/>
          </a:bodyPr>
          <a:lstStyle>
            <a:lvl1pPr marL="173038" indent="-173038" algn="l" defTabSz="914400" rtl="0" eaLnBrk="1" latinLnBrk="0" hangingPunct="1">
              <a:spcBef>
                <a:spcPct val="20000"/>
              </a:spcBef>
              <a:buFontTx/>
              <a:buBlip>
                <a:blip r:embed="rId4"/>
              </a:buBlip>
              <a:defRPr sz="1500" kern="1200">
                <a:solidFill>
                  <a:schemeClr val="tx1"/>
                </a:solidFill>
                <a:latin typeface="+mn-lt"/>
                <a:ea typeface="+mn-ea"/>
                <a:cs typeface="+mn-cs"/>
              </a:defRPr>
            </a:lvl1pPr>
            <a:lvl2pPr marL="4016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2pPr>
            <a:lvl3pPr marL="6302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3pPr>
            <a:lvl4pPr marL="8588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0874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4800" dirty="0"/>
          </a:p>
          <a:p>
            <a:pPr marL="0" indent="0" algn="ctr">
              <a:buNone/>
            </a:pPr>
            <a:r>
              <a:rPr lang="es-AR" sz="8000" dirty="0"/>
              <a:t>Demo</a:t>
            </a:r>
          </a:p>
          <a:p>
            <a:pPr marL="0" indent="0" algn="ctr">
              <a:buNone/>
            </a:pPr>
            <a:r>
              <a:rPr lang="es-AR" sz="3900" dirty="0"/>
              <a:t>“Nuevo proyecto y Estructura”</a:t>
            </a:r>
          </a:p>
        </p:txBody>
      </p:sp>
    </p:spTree>
    <p:extLst>
      <p:ext uri="{BB962C8B-B14F-4D97-AF65-F5344CB8AC3E}">
        <p14:creationId xmlns:p14="http://schemas.microsoft.com/office/powerpoint/2010/main" val="29272459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3" y="347472"/>
            <a:ext cx="4674995" cy="357378"/>
          </a:xfrm>
        </p:spPr>
        <p:txBody>
          <a:bodyPr/>
          <a:lstStyle/>
          <a:p>
            <a:r>
              <a:rPr lang="es-ES" dirty="0" smtClean="0"/>
              <a:t>MVC – Ciclo de vida</a:t>
            </a:r>
            <a:endParaRPr lang="en-US" dirty="0"/>
          </a:p>
        </p:txBody>
      </p:sp>
      <p:grpSp>
        <p:nvGrpSpPr>
          <p:cNvPr id="41" name="Group 40"/>
          <p:cNvGrpSpPr/>
          <p:nvPr/>
        </p:nvGrpSpPr>
        <p:grpSpPr>
          <a:xfrm>
            <a:off x="892031" y="1101514"/>
            <a:ext cx="3883642" cy="4771246"/>
            <a:chOff x="646371" y="962166"/>
            <a:chExt cx="3883642" cy="4771246"/>
          </a:xfrm>
        </p:grpSpPr>
        <p:pic>
          <p:nvPicPr>
            <p:cNvPr id="20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1819" y="962166"/>
              <a:ext cx="647700" cy="647700"/>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Straight Arrow Connector 29"/>
            <p:cNvCxnSpPr/>
            <p:nvPr/>
          </p:nvCxnSpPr>
          <p:spPr>
            <a:xfrm>
              <a:off x="1371600" y="171450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4"/>
            <p:cNvSpPr>
              <a:spLocks noChangeArrowheads="1"/>
            </p:cNvSpPr>
            <p:nvPr/>
          </p:nvSpPr>
          <p:spPr bwMode="auto">
            <a:xfrm>
              <a:off x="915606" y="1924689"/>
              <a:ext cx="981076" cy="2857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9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Global.asax</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32" name="Straight Arrow Connector 31"/>
            <p:cNvCxnSpPr/>
            <p:nvPr/>
          </p:nvCxnSpPr>
          <p:spPr>
            <a:xfrm>
              <a:off x="1371600" y="222885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6"/>
            <p:cNvSpPr>
              <a:spLocks noChangeArrowheads="1"/>
            </p:cNvSpPr>
            <p:nvPr/>
          </p:nvSpPr>
          <p:spPr bwMode="auto">
            <a:xfrm>
              <a:off x="907669" y="2439040"/>
              <a:ext cx="952500" cy="657225"/>
            </a:xfrm>
            <a:prstGeom prst="ellipse">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URL </a:t>
              </a: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routing</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Module</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34" name="Straight Arrow Connector 33"/>
            <p:cNvCxnSpPr/>
            <p:nvPr/>
          </p:nvCxnSpPr>
          <p:spPr>
            <a:xfrm>
              <a:off x="1375410" y="311912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8"/>
            <p:cNvSpPr>
              <a:spLocks noChangeArrowheads="1"/>
            </p:cNvSpPr>
            <p:nvPr/>
          </p:nvSpPr>
          <p:spPr bwMode="auto">
            <a:xfrm>
              <a:off x="907669" y="3327565"/>
              <a:ext cx="981075" cy="2857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Controller</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Class</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sp>
          <p:nvSpPr>
            <p:cNvPr id="29" name="Oval 9"/>
            <p:cNvSpPr>
              <a:spLocks noChangeArrowheads="1"/>
            </p:cNvSpPr>
            <p:nvPr/>
          </p:nvSpPr>
          <p:spPr bwMode="auto">
            <a:xfrm>
              <a:off x="646371" y="3828267"/>
              <a:ext cx="1476375" cy="552450"/>
            </a:xfrm>
            <a:prstGeom prst="ellipse">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Controller InvokeAction()</a:t>
              </a:r>
              <a:endParaRPr kumimoji="0" lang="es-AR" altLang="es-AR" sz="1800" b="0" i="0" u="none" strike="noStrike" cap="none" normalizeH="0" baseline="0" smtClean="0">
                <a:ln>
                  <a:noFill/>
                </a:ln>
                <a:solidFill>
                  <a:schemeClr val="tx1"/>
                </a:solidFill>
                <a:effectLst/>
                <a:latin typeface="Arial" panose="020B0604020202020204" pitchFamily="34" charset="0"/>
              </a:endParaRPr>
            </a:p>
          </p:txBody>
        </p:sp>
        <p:cxnSp>
          <p:nvCxnSpPr>
            <p:cNvPr id="37" name="Straight Arrow Connector 36"/>
            <p:cNvCxnSpPr/>
            <p:nvPr/>
          </p:nvCxnSpPr>
          <p:spPr>
            <a:xfrm>
              <a:off x="1371600" y="3648075"/>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1369695" y="4409440"/>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12"/>
            <p:cNvSpPr>
              <a:spLocks noChangeArrowheads="1"/>
            </p:cNvSpPr>
            <p:nvPr/>
          </p:nvSpPr>
          <p:spPr bwMode="auto">
            <a:xfrm>
              <a:off x="727973" y="4614864"/>
              <a:ext cx="1314450" cy="57150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Return</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ActionResult</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s-AR" altLang="es-AR" sz="9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800" b="0" i="0" u="none" strike="noStrike" cap="none" normalizeH="0" baseline="0" dirty="0" err="1"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Return</a:t>
              </a:r>
              <a:r>
                <a:rPr kumimoji="0" lang="es-AR"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View()</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40" name="Elbow Connector 39"/>
            <p:cNvCxnSpPr/>
            <p:nvPr/>
          </p:nvCxnSpPr>
          <p:spPr>
            <a:xfrm>
              <a:off x="2066925" y="4867275"/>
              <a:ext cx="1819275" cy="381000"/>
            </a:xfrm>
            <a:prstGeom prst="bentConnector3">
              <a:avLst>
                <a:gd name="adj1" fmla="val 9998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21"/>
            <p:cNvSpPr>
              <a:spLocks noChangeArrowheads="1"/>
            </p:cNvSpPr>
            <p:nvPr/>
          </p:nvSpPr>
          <p:spPr bwMode="auto">
            <a:xfrm>
              <a:off x="3444163" y="5295258"/>
              <a:ext cx="1085850" cy="4381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Call to ASPX page</a:t>
              </a:r>
              <a:endParaRPr kumimoji="0" lang="es-AR" altLang="es-AR" sz="9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(View)</a:t>
              </a:r>
              <a:endParaRPr kumimoji="0" lang="en-US" altLang="es-AR" sz="1800" b="0" i="0" u="none" strike="noStrike" cap="none" normalizeH="0" baseline="0" dirty="0" smtClean="0">
                <a:ln>
                  <a:noFill/>
                </a:ln>
                <a:solidFill>
                  <a:schemeClr val="tx1"/>
                </a:solidFill>
                <a:effectLst/>
                <a:latin typeface="Arial" panose="020B0604020202020204" pitchFamily="34" charset="0"/>
              </a:endParaRPr>
            </a:p>
          </p:txBody>
        </p:sp>
        <p:sp>
          <p:nvSpPr>
            <p:cNvPr id="35" name="Rectangle 22"/>
            <p:cNvSpPr>
              <a:spLocks noChangeArrowheads="1"/>
            </p:cNvSpPr>
            <p:nvPr/>
          </p:nvSpPr>
          <p:spPr bwMode="auto">
            <a:xfrm>
              <a:off x="2003044" y="5295262"/>
              <a:ext cx="1085850" cy="438150"/>
            </a:xfrm>
            <a:prstGeom prst="rect">
              <a:avLst/>
            </a:prstGeom>
            <a:noFill/>
            <a:ln w="12700">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AR" sz="800" b="0" i="0" u="none" strike="noStrike" cap="none" normalizeH="0" baseline="0" dirty="0" smtClean="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Returns rendered HTML</a:t>
              </a:r>
              <a:endParaRPr kumimoji="0" lang="en-US" altLang="es-AR" sz="1800" b="0" i="0" u="none" strike="noStrike" cap="none" normalizeH="0" baseline="0" dirty="0" smtClean="0">
                <a:ln>
                  <a:noFill/>
                </a:ln>
                <a:solidFill>
                  <a:schemeClr val="tx1"/>
                </a:solidFill>
                <a:effectLst/>
                <a:latin typeface="Arial" panose="020B0604020202020204" pitchFamily="34" charset="0"/>
              </a:endParaRPr>
            </a:p>
          </p:txBody>
        </p:sp>
        <p:cxnSp>
          <p:nvCxnSpPr>
            <p:cNvPr id="43" name="Elbow Connector 42"/>
            <p:cNvCxnSpPr/>
            <p:nvPr/>
          </p:nvCxnSpPr>
          <p:spPr>
            <a:xfrm flipH="1" flipV="1">
              <a:off x="1351915" y="5209540"/>
              <a:ext cx="628650" cy="266700"/>
            </a:xfrm>
            <a:prstGeom prst="bentConnector3">
              <a:avLst>
                <a:gd name="adj1" fmla="val 10066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3086100" y="5495925"/>
              <a:ext cx="3048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695325" y="1025507"/>
              <a:ext cx="209550" cy="3914775"/>
            </a:xfrm>
            <a:prstGeom prst="bentConnector3">
              <a:avLst>
                <a:gd name="adj1" fmla="val -2033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Rectangle 39"/>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9" name="Rectangle 42"/>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42" name="Rectangle 41"/>
          <p:cNvSpPr/>
          <p:nvPr/>
        </p:nvSpPr>
        <p:spPr>
          <a:xfrm>
            <a:off x="5964072" y="589722"/>
            <a:ext cx="3248167" cy="638576"/>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46" name="TextBox 45"/>
          <p:cNvSpPr txBox="1"/>
          <p:nvPr/>
        </p:nvSpPr>
        <p:spPr>
          <a:xfrm>
            <a:off x="6368959" y="683997"/>
            <a:ext cx="2406554" cy="435117"/>
          </a:xfrm>
          <a:prstGeom prst="rect">
            <a:avLst/>
          </a:prstGeom>
          <a:noFill/>
        </p:spPr>
        <p:txBody>
          <a:bodyPr wrap="square" rtlCol="0">
            <a:spAutoFit/>
          </a:bodyPr>
          <a:lstStyle/>
          <a:p>
            <a:r>
              <a:rPr lang="es-ES" sz="1100" dirty="0" smtClean="0"/>
              <a:t>Browser </a:t>
            </a:r>
            <a:r>
              <a:rPr lang="es-ES" sz="1100" dirty="0" err="1" smtClean="0"/>
              <a:t>envia</a:t>
            </a:r>
            <a:r>
              <a:rPr lang="es-ES" sz="1100" dirty="0" smtClean="0"/>
              <a:t> </a:t>
            </a:r>
            <a:r>
              <a:rPr lang="es-ES" sz="1100" dirty="0" err="1" smtClean="0"/>
              <a:t>request</a:t>
            </a:r>
            <a:r>
              <a:rPr lang="es-ES" sz="1100" dirty="0" smtClean="0"/>
              <a:t> a aplicación </a:t>
            </a:r>
            <a:r>
              <a:rPr lang="es-ES" sz="1100" dirty="0" err="1"/>
              <a:t>E</a:t>
            </a:r>
            <a:r>
              <a:rPr lang="es-ES" sz="1100" dirty="0" err="1" smtClean="0"/>
              <a:t>j</a:t>
            </a:r>
            <a:r>
              <a:rPr lang="es-ES" sz="1100" dirty="0" smtClean="0"/>
              <a:t>: </a:t>
            </a:r>
            <a:r>
              <a:rPr lang="es-ES" sz="1100" dirty="0" err="1" smtClean="0"/>
              <a:t>url</a:t>
            </a:r>
            <a:r>
              <a:rPr lang="es-ES" sz="1100" dirty="0" smtClean="0"/>
              <a:t> = /home/</a:t>
            </a:r>
            <a:r>
              <a:rPr lang="es-ES" sz="1100" dirty="0" err="1" smtClean="0"/>
              <a:t>index</a:t>
            </a:r>
            <a:r>
              <a:rPr lang="es-ES" sz="1100" dirty="0" smtClean="0"/>
              <a:t>/2</a:t>
            </a:r>
            <a:endParaRPr lang="es-AR" sz="1100" dirty="0"/>
          </a:p>
        </p:txBody>
      </p:sp>
      <p:sp>
        <p:nvSpPr>
          <p:cNvPr id="51" name="Rectangle 50"/>
          <p:cNvSpPr/>
          <p:nvPr/>
        </p:nvSpPr>
        <p:spPr>
          <a:xfrm>
            <a:off x="5964211" y="1381321"/>
            <a:ext cx="3248167" cy="483927"/>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2" name="TextBox 51"/>
          <p:cNvSpPr txBox="1"/>
          <p:nvPr/>
        </p:nvSpPr>
        <p:spPr>
          <a:xfrm>
            <a:off x="6384879" y="1464196"/>
            <a:ext cx="2406554" cy="261610"/>
          </a:xfrm>
          <a:prstGeom prst="rect">
            <a:avLst/>
          </a:prstGeom>
          <a:noFill/>
        </p:spPr>
        <p:txBody>
          <a:bodyPr wrap="square" rtlCol="0">
            <a:spAutoFit/>
          </a:bodyPr>
          <a:lstStyle/>
          <a:p>
            <a:r>
              <a:rPr lang="es-ES" sz="1100" dirty="0" err="1" smtClean="0"/>
              <a:t>Parse</a:t>
            </a:r>
            <a:r>
              <a:rPr lang="es-ES" sz="1100" dirty="0" smtClean="0"/>
              <a:t> URL </a:t>
            </a:r>
            <a:r>
              <a:rPr lang="es-ES" sz="1100" dirty="0" err="1" smtClean="0"/>
              <a:t>via</a:t>
            </a:r>
            <a:r>
              <a:rPr lang="es-ES" sz="1100" dirty="0" smtClean="0"/>
              <a:t> </a:t>
            </a:r>
            <a:r>
              <a:rPr lang="es-ES" sz="1100" dirty="0" err="1" smtClean="0"/>
              <a:t>Routing</a:t>
            </a:r>
            <a:r>
              <a:rPr lang="es-ES" sz="1100" dirty="0" smtClean="0"/>
              <a:t> Module</a:t>
            </a:r>
            <a:endParaRPr lang="es-AR" sz="1100" dirty="0"/>
          </a:p>
        </p:txBody>
      </p:sp>
      <p:sp>
        <p:nvSpPr>
          <p:cNvPr id="53" name="Rectangle 52"/>
          <p:cNvSpPr/>
          <p:nvPr/>
        </p:nvSpPr>
        <p:spPr>
          <a:xfrm>
            <a:off x="5979993" y="1997714"/>
            <a:ext cx="3248167" cy="768853"/>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4" name="TextBox 53"/>
          <p:cNvSpPr txBox="1"/>
          <p:nvPr/>
        </p:nvSpPr>
        <p:spPr>
          <a:xfrm>
            <a:off x="6384880" y="2091990"/>
            <a:ext cx="2406554" cy="600164"/>
          </a:xfrm>
          <a:prstGeom prst="rect">
            <a:avLst/>
          </a:prstGeom>
          <a:noFill/>
        </p:spPr>
        <p:txBody>
          <a:bodyPr wrap="square" rtlCol="0">
            <a:spAutoFit/>
          </a:bodyPr>
          <a:lstStyle/>
          <a:p>
            <a:r>
              <a:rPr lang="es-ES" sz="1100" dirty="0" err="1" smtClean="0"/>
              <a:t>Controller</a:t>
            </a:r>
            <a:r>
              <a:rPr lang="es-ES" sz="1100" dirty="0" smtClean="0"/>
              <a:t> = home</a:t>
            </a:r>
          </a:p>
          <a:p>
            <a:r>
              <a:rPr lang="es-ES" sz="1100" dirty="0" err="1" smtClean="0"/>
              <a:t>Action</a:t>
            </a:r>
            <a:r>
              <a:rPr lang="es-ES" sz="1100" dirty="0" smtClean="0"/>
              <a:t> = </a:t>
            </a:r>
            <a:r>
              <a:rPr lang="es-ES" sz="1100" dirty="0" err="1" smtClean="0"/>
              <a:t>Index</a:t>
            </a:r>
            <a:r>
              <a:rPr lang="es-ES" sz="1100" dirty="0" smtClean="0"/>
              <a:t>()</a:t>
            </a:r>
          </a:p>
          <a:p>
            <a:r>
              <a:rPr lang="es-ES" sz="1100" dirty="0" smtClean="0"/>
              <a:t>Id= 2 (</a:t>
            </a:r>
            <a:r>
              <a:rPr lang="es-ES" sz="1100" dirty="0" err="1" smtClean="0"/>
              <a:t>optional</a:t>
            </a:r>
            <a:r>
              <a:rPr lang="es-ES" sz="1100" dirty="0" smtClean="0"/>
              <a:t> </a:t>
            </a:r>
            <a:r>
              <a:rPr lang="es-ES" sz="1100" dirty="0" err="1" smtClean="0"/>
              <a:t>param</a:t>
            </a:r>
            <a:r>
              <a:rPr lang="es-ES" sz="1100" dirty="0" smtClean="0"/>
              <a:t>)</a:t>
            </a:r>
            <a:endParaRPr lang="es-AR" sz="1100" dirty="0"/>
          </a:p>
        </p:txBody>
      </p:sp>
      <p:sp>
        <p:nvSpPr>
          <p:cNvPr id="55" name="Rectangle 54"/>
          <p:cNvSpPr/>
          <p:nvPr/>
        </p:nvSpPr>
        <p:spPr>
          <a:xfrm>
            <a:off x="5995914" y="2859798"/>
            <a:ext cx="3248167" cy="768853"/>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6" name="TextBox 55"/>
          <p:cNvSpPr txBox="1"/>
          <p:nvPr/>
        </p:nvSpPr>
        <p:spPr>
          <a:xfrm>
            <a:off x="6024489" y="2966237"/>
            <a:ext cx="3187750" cy="430887"/>
          </a:xfrm>
          <a:prstGeom prst="rect">
            <a:avLst/>
          </a:prstGeom>
          <a:noFill/>
        </p:spPr>
        <p:txBody>
          <a:bodyPr wrap="square" rtlCol="0">
            <a:spAutoFit/>
          </a:bodyPr>
          <a:lstStyle/>
          <a:p>
            <a:r>
              <a:rPr lang="es-ES" sz="1100" dirty="0" smtClean="0"/>
              <a:t>MVC llama al controlador obtenido de la URL. </a:t>
            </a:r>
          </a:p>
          <a:p>
            <a:r>
              <a:rPr lang="es-ES" sz="1100" dirty="0" err="1" smtClean="0"/>
              <a:t>Ej</a:t>
            </a:r>
            <a:r>
              <a:rPr lang="es-ES" sz="1100" dirty="0" smtClean="0"/>
              <a:t>: </a:t>
            </a:r>
            <a:r>
              <a:rPr lang="es-ES" sz="1100" dirty="0" err="1" smtClean="0"/>
              <a:t>homeController.cs</a:t>
            </a:r>
            <a:endParaRPr lang="es-AR" sz="1100" dirty="0"/>
          </a:p>
        </p:txBody>
      </p:sp>
      <p:sp>
        <p:nvSpPr>
          <p:cNvPr id="57" name="Rectangle 56"/>
          <p:cNvSpPr/>
          <p:nvPr/>
        </p:nvSpPr>
        <p:spPr>
          <a:xfrm>
            <a:off x="5998186" y="3694589"/>
            <a:ext cx="3248167" cy="612491"/>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58" name="TextBox 57"/>
          <p:cNvSpPr txBox="1"/>
          <p:nvPr/>
        </p:nvSpPr>
        <p:spPr>
          <a:xfrm>
            <a:off x="6024489" y="3801028"/>
            <a:ext cx="3187750" cy="430887"/>
          </a:xfrm>
          <a:prstGeom prst="rect">
            <a:avLst/>
          </a:prstGeom>
          <a:noFill/>
        </p:spPr>
        <p:txBody>
          <a:bodyPr wrap="square" rtlCol="0">
            <a:spAutoFit/>
          </a:bodyPr>
          <a:lstStyle/>
          <a:p>
            <a:r>
              <a:rPr lang="es-ES" sz="1100" dirty="0" smtClean="0"/>
              <a:t>MVC invoca al método dentro del controlador.. </a:t>
            </a:r>
          </a:p>
          <a:p>
            <a:r>
              <a:rPr lang="es-ES" sz="1100" dirty="0" err="1" smtClean="0"/>
              <a:t>homecontroller.Index</a:t>
            </a:r>
            <a:r>
              <a:rPr lang="es-ES" sz="1100" dirty="0" smtClean="0"/>
              <a:t>() </a:t>
            </a:r>
            <a:endParaRPr lang="es-AR" sz="1100" dirty="0"/>
          </a:p>
        </p:txBody>
      </p:sp>
      <p:sp>
        <p:nvSpPr>
          <p:cNvPr id="59" name="Rectangle 58"/>
          <p:cNvSpPr/>
          <p:nvPr/>
        </p:nvSpPr>
        <p:spPr>
          <a:xfrm>
            <a:off x="5986810" y="4465686"/>
            <a:ext cx="3248167" cy="813824"/>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60" name="TextBox 59"/>
          <p:cNvSpPr txBox="1"/>
          <p:nvPr/>
        </p:nvSpPr>
        <p:spPr>
          <a:xfrm>
            <a:off x="5986810" y="4502880"/>
            <a:ext cx="3187750" cy="600164"/>
          </a:xfrm>
          <a:prstGeom prst="rect">
            <a:avLst/>
          </a:prstGeom>
          <a:noFill/>
        </p:spPr>
        <p:txBody>
          <a:bodyPr wrap="square" rtlCol="0">
            <a:spAutoFit/>
          </a:bodyPr>
          <a:lstStyle/>
          <a:p>
            <a:r>
              <a:rPr lang="es-ES" sz="1100" dirty="0" smtClean="0"/>
              <a:t>El método retorna un </a:t>
            </a:r>
            <a:r>
              <a:rPr lang="es-ES" sz="1100" dirty="0" err="1" smtClean="0"/>
              <a:t>action</a:t>
            </a:r>
            <a:r>
              <a:rPr lang="es-ES" sz="1100" dirty="0" smtClean="0"/>
              <a:t> </a:t>
            </a:r>
            <a:r>
              <a:rPr lang="es-ES" sz="1100" dirty="0" err="1" smtClean="0"/>
              <a:t>result</a:t>
            </a:r>
            <a:r>
              <a:rPr lang="es-ES" sz="1100" dirty="0" smtClean="0"/>
              <a:t> y envía respuesta al browser. </a:t>
            </a:r>
            <a:r>
              <a:rPr lang="es-ES" sz="1100" dirty="0" err="1" smtClean="0"/>
              <a:t>Ej</a:t>
            </a:r>
            <a:r>
              <a:rPr lang="es-ES" sz="1100" dirty="0" smtClean="0"/>
              <a:t>: </a:t>
            </a:r>
            <a:r>
              <a:rPr lang="es-ES" sz="1100" dirty="0" err="1" smtClean="0"/>
              <a:t>Plain</a:t>
            </a:r>
            <a:r>
              <a:rPr lang="es-ES" sz="1100" dirty="0" smtClean="0"/>
              <a:t> </a:t>
            </a:r>
            <a:r>
              <a:rPr lang="es-ES" sz="1100" dirty="0" err="1" smtClean="0"/>
              <a:t>text</a:t>
            </a:r>
            <a:r>
              <a:rPr lang="es-ES" sz="1100" dirty="0" smtClean="0"/>
              <a:t>, </a:t>
            </a:r>
            <a:r>
              <a:rPr lang="es-ES" sz="1100" dirty="0" err="1" smtClean="0"/>
              <a:t>rendered</a:t>
            </a:r>
            <a:r>
              <a:rPr lang="es-ES" sz="1100" dirty="0" smtClean="0"/>
              <a:t> HTML, </a:t>
            </a:r>
            <a:r>
              <a:rPr lang="es-ES" sz="1100" dirty="0" err="1" smtClean="0"/>
              <a:t>Redirect</a:t>
            </a:r>
            <a:r>
              <a:rPr lang="es-ES" sz="1100" dirty="0" smtClean="0"/>
              <a:t> to </a:t>
            </a:r>
            <a:r>
              <a:rPr lang="es-ES" sz="1100" dirty="0" err="1" smtClean="0"/>
              <a:t>other</a:t>
            </a:r>
            <a:r>
              <a:rPr lang="es-ES" sz="1100" dirty="0" smtClean="0"/>
              <a:t> </a:t>
            </a:r>
            <a:r>
              <a:rPr lang="es-ES" sz="1100" dirty="0" err="1" smtClean="0"/>
              <a:t>action</a:t>
            </a:r>
            <a:r>
              <a:rPr lang="es-ES" sz="1100" dirty="0" smtClean="0"/>
              <a:t>, </a:t>
            </a:r>
            <a:r>
              <a:rPr lang="es-ES" sz="1100" dirty="0" err="1" smtClean="0"/>
              <a:t>etc</a:t>
            </a:r>
            <a:endParaRPr lang="es-AR" sz="1100" dirty="0"/>
          </a:p>
        </p:txBody>
      </p:sp>
      <p:sp>
        <p:nvSpPr>
          <p:cNvPr id="62" name="Rectangle 61"/>
          <p:cNvSpPr/>
          <p:nvPr/>
        </p:nvSpPr>
        <p:spPr>
          <a:xfrm>
            <a:off x="5975436" y="5377819"/>
            <a:ext cx="3268645" cy="653430"/>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accent3"/>
              </a:solidFill>
            </a:endParaRPr>
          </a:p>
        </p:txBody>
      </p:sp>
      <p:sp>
        <p:nvSpPr>
          <p:cNvPr id="63" name="TextBox 62"/>
          <p:cNvSpPr txBox="1"/>
          <p:nvPr/>
        </p:nvSpPr>
        <p:spPr>
          <a:xfrm>
            <a:off x="6010841" y="5416017"/>
            <a:ext cx="3064920" cy="600164"/>
          </a:xfrm>
          <a:prstGeom prst="rect">
            <a:avLst/>
          </a:prstGeom>
          <a:noFill/>
        </p:spPr>
        <p:txBody>
          <a:bodyPr wrap="square" rtlCol="0">
            <a:spAutoFit/>
          </a:bodyPr>
          <a:lstStyle/>
          <a:p>
            <a:r>
              <a:rPr lang="es-ES" sz="1100" dirty="0" smtClean="0"/>
              <a:t>Llama a página con el mismo nombre que el </a:t>
            </a:r>
            <a:r>
              <a:rPr lang="es-ES" sz="1100" dirty="0" err="1" smtClean="0"/>
              <a:t>action</a:t>
            </a:r>
            <a:r>
              <a:rPr lang="es-ES" sz="1100" dirty="0" smtClean="0"/>
              <a:t> dentro del directorio q tiene el nombre del </a:t>
            </a:r>
            <a:r>
              <a:rPr lang="es-ES" sz="1100" dirty="0" err="1" smtClean="0"/>
              <a:t>controller</a:t>
            </a:r>
            <a:r>
              <a:rPr lang="es-ES" sz="1100" dirty="0" smtClean="0"/>
              <a:t>.</a:t>
            </a:r>
            <a:endParaRPr lang="es-AR" sz="1100" dirty="0"/>
          </a:p>
        </p:txBody>
      </p:sp>
      <p:cxnSp>
        <p:nvCxnSpPr>
          <p:cNvPr id="48" name="Straight Connector 47"/>
          <p:cNvCxnSpPr>
            <a:endCxn id="42" idx="1"/>
          </p:cNvCxnSpPr>
          <p:nvPr/>
        </p:nvCxnSpPr>
        <p:spPr>
          <a:xfrm flipV="1">
            <a:off x="2497540" y="909010"/>
            <a:ext cx="3466532" cy="366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2309644" y="1678078"/>
            <a:ext cx="3654428" cy="511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2248704" y="2398519"/>
            <a:ext cx="3688211" cy="4612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309644" y="3258469"/>
            <a:ext cx="3686270" cy="3057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2497540" y="3962931"/>
            <a:ext cx="3498374" cy="2458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2497540" y="4757047"/>
            <a:ext cx="3466532" cy="429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4911461" y="5689622"/>
            <a:ext cx="1025454" cy="100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968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7" name="6 Marcador de contenido"/>
          <p:cNvSpPr txBox="1">
            <a:spLocks/>
          </p:cNvSpPr>
          <p:nvPr/>
        </p:nvSpPr>
        <p:spPr>
          <a:xfrm>
            <a:off x="5167087" y="836612"/>
            <a:ext cx="5326743" cy="3938588"/>
          </a:xfrm>
          <a:prstGeom prst="rect">
            <a:avLst/>
          </a:prstGeom>
        </p:spPr>
        <p:txBody>
          <a:bodyPr>
            <a:normAutofit/>
          </a:bodyPr>
          <a:lstStyle>
            <a:lvl1pPr marL="173038" indent="-173038" algn="l" defTabSz="914400" rtl="0" eaLnBrk="1" latinLnBrk="0" hangingPunct="1">
              <a:spcBef>
                <a:spcPct val="20000"/>
              </a:spcBef>
              <a:buFontTx/>
              <a:buBlip>
                <a:blip r:embed="rId3"/>
              </a:buBlip>
              <a:defRPr sz="1500" kern="1200">
                <a:solidFill>
                  <a:schemeClr val="tx1"/>
                </a:solidFill>
                <a:latin typeface="+mn-lt"/>
                <a:ea typeface="+mn-ea"/>
                <a:cs typeface="+mn-cs"/>
              </a:defRPr>
            </a:lvl1pPr>
            <a:lvl2pPr marL="4016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2pPr>
            <a:lvl3pPr marL="630238" indent="-173038" algn="l" defTabSz="914400" rtl="0" eaLnBrk="1" latinLnBrk="0" hangingPunct="1">
              <a:spcBef>
                <a:spcPct val="20000"/>
              </a:spcBef>
              <a:buClr>
                <a:schemeClr val="tx1"/>
              </a:buClr>
              <a:buFont typeface="Arial" pitchFamily="34" charset="0"/>
              <a:buChar char="­"/>
              <a:defRPr sz="1500" kern="1200">
                <a:solidFill>
                  <a:schemeClr val="tx1"/>
                </a:solidFill>
                <a:latin typeface="+mn-lt"/>
                <a:ea typeface="+mn-ea"/>
                <a:cs typeface="+mn-cs"/>
              </a:defRPr>
            </a:lvl3pPr>
            <a:lvl4pPr marL="8588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087438" indent="-173038" algn="l" defTabSz="9144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4800" dirty="0"/>
          </a:p>
          <a:p>
            <a:pPr marL="0" indent="0" algn="ctr">
              <a:buNone/>
            </a:pPr>
            <a:r>
              <a:rPr lang="es-AR" sz="8000" dirty="0"/>
              <a:t>Práctica</a:t>
            </a:r>
          </a:p>
          <a:p>
            <a:pPr marL="0" indent="0" algn="ctr">
              <a:buNone/>
            </a:pPr>
            <a:r>
              <a:rPr lang="es-AR" sz="3900" dirty="0"/>
              <a:t>“Hola Mundo”</a:t>
            </a:r>
          </a:p>
        </p:txBody>
      </p:sp>
      <p:pic>
        <p:nvPicPr>
          <p:cNvPr id="8" name="Picture 2" descr="C:\Program Files\Microsoft Office\MEDIA\CAGCAT10\j0292982.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1384" y="2183755"/>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12527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smtClean="0"/>
              <a:t>ActionResults</a:t>
            </a:r>
            <a:r>
              <a:rPr lang="es-AR" dirty="0" smtClean="0"/>
              <a:t> – Acciones en Controladores</a:t>
            </a:r>
            <a:r>
              <a:rPr lang="es-AR" dirty="0"/>
              <a:t/>
            </a:r>
            <a:br>
              <a:rPr lang="es-AR" dirty="0"/>
            </a:br>
            <a:endParaRPr lang="en-US" dirty="0"/>
          </a:p>
        </p:txBody>
      </p:sp>
      <p:sp>
        <p:nvSpPr>
          <p:cNvPr id="3" name="Content Placeholder 2"/>
          <p:cNvSpPr>
            <a:spLocks noGrp="1"/>
          </p:cNvSpPr>
          <p:nvPr>
            <p:ph idx="1"/>
          </p:nvPr>
        </p:nvSpPr>
        <p:spPr>
          <a:xfrm>
            <a:off x="633985" y="1072489"/>
            <a:ext cx="10983052" cy="1397757"/>
          </a:xfrm>
        </p:spPr>
        <p:txBody>
          <a:bodyPr>
            <a:noAutofit/>
          </a:bodyPr>
          <a:lstStyle/>
          <a:p>
            <a:r>
              <a:rPr lang="es-ES" sz="2000" dirty="0" smtClean="0"/>
              <a:t>Clase padre de los tipos que retornan las acciones de un controlador.</a:t>
            </a:r>
            <a:endParaRPr lang="es-AR" sz="2000" dirty="0" smtClean="0"/>
          </a:p>
          <a:p>
            <a:pPr lvl="1"/>
            <a:r>
              <a:rPr lang="es-AR" sz="2000" dirty="0" smtClean="0"/>
              <a:t>Un </a:t>
            </a:r>
            <a:r>
              <a:rPr lang="es-AR" sz="2000" dirty="0" err="1" smtClean="0"/>
              <a:t>action</a:t>
            </a:r>
            <a:r>
              <a:rPr lang="es-AR" sz="2000" dirty="0" smtClean="0"/>
              <a:t> </a:t>
            </a:r>
            <a:r>
              <a:rPr lang="es-AR" sz="2000" dirty="0" err="1" smtClean="0"/>
              <a:t>result</a:t>
            </a:r>
            <a:r>
              <a:rPr lang="es-AR" sz="2000" dirty="0" smtClean="0"/>
              <a:t> es una forma de encapsulamiento que tiene el </a:t>
            </a:r>
            <a:r>
              <a:rPr lang="es-AR" sz="2000" dirty="0" err="1" smtClean="0"/>
              <a:t>framework</a:t>
            </a:r>
            <a:r>
              <a:rPr lang="es-AR" sz="2000" dirty="0" smtClean="0"/>
              <a:t> para manejar el </a:t>
            </a:r>
            <a:r>
              <a:rPr lang="es-AR" sz="2000" dirty="0" err="1" smtClean="0"/>
              <a:t>Reponse</a:t>
            </a:r>
            <a:r>
              <a:rPr lang="es-AR" sz="2000" dirty="0" smtClean="0"/>
              <a:t> de una llamada desde un browser.</a:t>
            </a:r>
          </a:p>
          <a:p>
            <a:pPr marL="0" indent="0">
              <a:buNone/>
            </a:pPr>
            <a:endParaRPr lang="es-AR" sz="2000" dirty="0"/>
          </a:p>
        </p:txBody>
      </p:sp>
      <p:graphicFrame>
        <p:nvGraphicFramePr>
          <p:cNvPr id="4" name="Table 3"/>
          <p:cNvGraphicFramePr>
            <a:graphicFrameLocks noGrp="1"/>
          </p:cNvGraphicFramePr>
          <p:nvPr>
            <p:extLst>
              <p:ext uri="{D42A27DB-BD31-4B8C-83A1-F6EECF244321}">
                <p14:modId xmlns:p14="http://schemas.microsoft.com/office/powerpoint/2010/main" val="339118568"/>
              </p:ext>
            </p:extLst>
          </p:nvPr>
        </p:nvGraphicFramePr>
        <p:xfrm>
          <a:off x="736977" y="2470250"/>
          <a:ext cx="10880059" cy="3445713"/>
        </p:xfrm>
        <a:graphic>
          <a:graphicData uri="http://schemas.openxmlformats.org/drawingml/2006/table">
            <a:tbl>
              <a:tblPr>
                <a:tableStyleId>{5C22544A-7EE6-4342-B048-85BDC9FD1C3A}</a:tableStyleId>
              </a:tblPr>
              <a:tblGrid>
                <a:gridCol w="2320122"/>
                <a:gridCol w="1921596"/>
                <a:gridCol w="6638341"/>
              </a:tblGrid>
              <a:tr h="333456">
                <a:tc>
                  <a:txBody>
                    <a:bodyPr/>
                    <a:lstStyle/>
                    <a:p>
                      <a:pPr algn="ctr" fontAlgn="ctr"/>
                      <a:r>
                        <a:rPr lang="en-US" sz="1400" u="none" strike="noStrike" dirty="0" err="1">
                          <a:effectLst/>
                        </a:rPr>
                        <a:t>ActionResult</a:t>
                      </a:r>
                      <a:endParaRPr lang="en-US"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u="none" strike="noStrike">
                          <a:effectLst/>
                        </a:rPr>
                        <a:t>Helper Method</a:t>
                      </a:r>
                      <a:endParaRPr lang="en-US"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u="none" strike="noStrike">
                          <a:effectLst/>
                        </a:rPr>
                        <a:t>Descripción</a:t>
                      </a:r>
                      <a:endParaRPr lang="en-US" sz="1400" b="1"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dirty="0" err="1">
                          <a:effectLst/>
                        </a:rPr>
                        <a:t>ViewResult</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View</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Renderiza una vista como una pagina web completa.</a:t>
                      </a:r>
                      <a:endParaRPr lang="en-US" sz="1400" b="0" i="0" u="none" strike="noStrike">
                        <a:solidFill>
                          <a:srgbClr val="000000"/>
                        </a:solidFill>
                        <a:effectLst/>
                        <a:latin typeface="Calibri" panose="020F0502020204030204" pitchFamily="34" charset="0"/>
                      </a:endParaRPr>
                    </a:p>
                  </a:txBody>
                  <a:tcPr marL="9525" marR="9525" marT="9525" marB="0" anchor="ctr"/>
                </a:tc>
              </a:tr>
              <a:tr h="444609">
                <a:tc>
                  <a:txBody>
                    <a:bodyPr/>
                    <a:lstStyle/>
                    <a:p>
                      <a:pPr algn="l" fontAlgn="ctr"/>
                      <a:r>
                        <a:rPr lang="en-US" sz="1400" u="none" strike="noStrike">
                          <a:effectLst/>
                        </a:rPr>
                        <a:t>PartialViewResult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PartialView</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Renderizada una seccion de una pagina web que se ubicara dentro de otra vista.</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RedirectResult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Redirect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Redirecciona a otra accion.</a:t>
                      </a:r>
                      <a:endParaRPr lang="en-U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RedirectToRouteResult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err="1">
                          <a:effectLst/>
                        </a:rPr>
                        <a:t>RedirectToRoute</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Redirecciona a otra accion.</a:t>
                      </a:r>
                      <a:endParaRPr lang="en-U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ContentResult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a:effectLst/>
                        </a:rPr>
                        <a:t>Content</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Retorna un tipo de contenido definido por el usuario: texto, xml.</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JsonResult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err="1">
                          <a:effectLst/>
                        </a:rPr>
                        <a:t>Json</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dirty="0">
                          <a:effectLst/>
                        </a:rPr>
                        <a:t>Retorna un objeto </a:t>
                      </a:r>
                      <a:r>
                        <a:rPr lang="es-ES" sz="1400" u="none" strike="noStrike" dirty="0" err="1">
                          <a:effectLst/>
                        </a:rPr>
                        <a:t>Json</a:t>
                      </a:r>
                      <a:r>
                        <a:rPr lang="es-ES" sz="1400" u="none" strike="noStrike" dirty="0">
                          <a:effectLst/>
                        </a:rPr>
                        <a:t> serializado.</a:t>
                      </a:r>
                      <a:endParaRPr lang="es-ES" sz="1400" b="0" i="0" u="none" strike="noStrike" dirty="0">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JavaScriptResult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a:effectLst/>
                        </a:rPr>
                        <a:t>JavaScript</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Retorna codigo javascript que puede ser ejecutado en el cliente.</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FileResult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File</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s-ES" sz="1400" u="none" strike="noStrike">
                          <a:effectLst/>
                        </a:rPr>
                        <a:t>Retorna una salida binaria a escribir en el response.</a:t>
                      </a:r>
                      <a:endParaRPr lang="es-ES" sz="1400" b="0" i="0" u="none" strike="noStrike">
                        <a:solidFill>
                          <a:srgbClr val="000000"/>
                        </a:solidFill>
                        <a:effectLst/>
                        <a:latin typeface="Calibri" panose="020F0502020204030204" pitchFamily="34" charset="0"/>
                      </a:endParaRPr>
                    </a:p>
                  </a:txBody>
                  <a:tcPr marL="9525" marR="9525" marT="9525" marB="0" anchor="ctr"/>
                </a:tc>
              </a:tr>
              <a:tr h="333456">
                <a:tc>
                  <a:txBody>
                    <a:bodyPr/>
                    <a:lstStyle/>
                    <a:p>
                      <a:pPr algn="l" fontAlgn="ctr"/>
                      <a:r>
                        <a:rPr lang="en-US" sz="1400" u="none" strike="noStrike">
                          <a:effectLst/>
                        </a:rPr>
                        <a:t>EmptyResult</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a:effectLst/>
                        </a:rPr>
                        <a:t>(None)</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US" sz="1400" u="none" strike="noStrike" dirty="0" err="1">
                          <a:effectLst/>
                        </a:rPr>
                        <a:t>Retorna</a:t>
                      </a:r>
                      <a:r>
                        <a:rPr lang="en-US" sz="1400" u="none" strike="noStrike" dirty="0">
                          <a:effectLst/>
                        </a:rPr>
                        <a:t> un </a:t>
                      </a:r>
                      <a:r>
                        <a:rPr lang="en-US" sz="1400" u="none" strike="noStrike" dirty="0" err="1">
                          <a:effectLst/>
                        </a:rPr>
                        <a:t>resultado</a:t>
                      </a:r>
                      <a:r>
                        <a:rPr lang="en-US" sz="1400" u="none" strike="noStrike" dirty="0">
                          <a:effectLst/>
                        </a:rPr>
                        <a:t> </a:t>
                      </a:r>
                      <a:r>
                        <a:rPr lang="en-US" sz="1400" u="none" strike="noStrike" dirty="0" err="1">
                          <a:effectLst/>
                        </a:rPr>
                        <a:t>nulo</a:t>
                      </a:r>
                      <a:r>
                        <a:rPr lang="en-US" sz="1400" u="none" strike="noStrike" dirty="0">
                          <a:effectLst/>
                        </a:rPr>
                        <a:t>.</a:t>
                      </a:r>
                      <a:endParaRPr lang="en-US" sz="1400" b="0" i="0" u="none" strike="noStrike" dirty="0">
                        <a:solidFill>
                          <a:srgbClr val="000000"/>
                        </a:solidFill>
                        <a:effectLst/>
                        <a:latin typeface="Calibri" panose="020F0502020204030204" pitchFamily="34" charset="0"/>
                      </a:endParaRPr>
                    </a:p>
                  </a:txBody>
                  <a:tcPr marL="9525" marR="9525" marT="9525" marB="0" anchor="ctr"/>
                </a:tc>
              </a:tr>
            </a:tbl>
          </a:graphicData>
        </a:graphic>
      </p:graphicFrame>
    </p:spTree>
    <p:extLst>
      <p:ext uri="{BB962C8B-B14F-4D97-AF65-F5344CB8AC3E}">
        <p14:creationId xmlns:p14="http://schemas.microsoft.com/office/powerpoint/2010/main" val="4358484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5" y="318732"/>
            <a:ext cx="11265408" cy="296842"/>
          </a:xfrm>
        </p:spPr>
        <p:txBody>
          <a:bodyPr/>
          <a:lstStyle/>
          <a:p>
            <a:r>
              <a:rPr lang="es-AR" dirty="0"/>
              <a:t>Dando formato a nuestra </a:t>
            </a:r>
            <a:r>
              <a:rPr lang="es-AR" dirty="0" smtClean="0"/>
              <a:t>aplicación- LAYOUTS</a:t>
            </a:r>
            <a:endParaRPr lang="en-US" dirty="0"/>
          </a:p>
        </p:txBody>
      </p:sp>
      <p:sp>
        <p:nvSpPr>
          <p:cNvPr id="3" name="Content Placeholder 2"/>
          <p:cNvSpPr>
            <a:spLocks noGrp="1"/>
          </p:cNvSpPr>
          <p:nvPr>
            <p:ph idx="1"/>
          </p:nvPr>
        </p:nvSpPr>
        <p:spPr>
          <a:xfrm>
            <a:off x="633986" y="1266969"/>
            <a:ext cx="4920654" cy="4553806"/>
          </a:xfrm>
        </p:spPr>
        <p:txBody>
          <a:bodyPr>
            <a:normAutofit/>
          </a:bodyPr>
          <a:lstStyle/>
          <a:p>
            <a:r>
              <a:rPr lang="es-AR" sz="2000" dirty="0" smtClean="0"/>
              <a:t>Formato de páginas.</a:t>
            </a:r>
          </a:p>
          <a:p>
            <a:pPr lvl="1"/>
            <a:r>
              <a:rPr lang="en-US" sz="2000" dirty="0" smtClean="0"/>
              <a:t>_</a:t>
            </a:r>
            <a:r>
              <a:rPr lang="en-US" sz="2000" dirty="0" err="1" smtClean="0"/>
              <a:t>Layout.schtml</a:t>
            </a:r>
            <a:r>
              <a:rPr lang="en-US" sz="2000" dirty="0" smtClean="0"/>
              <a:t> </a:t>
            </a:r>
            <a:r>
              <a:rPr lang="en-US" sz="2000" dirty="0" err="1" smtClean="0"/>
              <a:t>por</a:t>
            </a:r>
            <a:r>
              <a:rPr lang="en-US" sz="2000" dirty="0" smtClean="0"/>
              <a:t> </a:t>
            </a:r>
            <a:r>
              <a:rPr lang="en-US" sz="2000" dirty="0" err="1" smtClean="0"/>
              <a:t>defecto</a:t>
            </a:r>
            <a:r>
              <a:rPr lang="en-US" sz="2000" dirty="0" smtClean="0"/>
              <a:t>.</a:t>
            </a:r>
          </a:p>
          <a:p>
            <a:pPr lvl="1"/>
            <a:r>
              <a:rPr lang="en-US" sz="2000" dirty="0" smtClean="0"/>
              <a:t>View/Shared.</a:t>
            </a:r>
          </a:p>
          <a:p>
            <a:pPr lvl="1"/>
            <a:r>
              <a:rPr lang="en-US" sz="2000" dirty="0"/>
              <a:t>Los layouts se </a:t>
            </a:r>
            <a:r>
              <a:rPr lang="en-US" sz="2000" dirty="0" err="1"/>
              <a:t>pueden</a:t>
            </a:r>
            <a:r>
              <a:rPr lang="en-US" sz="2000" dirty="0"/>
              <a:t> </a:t>
            </a:r>
            <a:r>
              <a:rPr lang="en-US" sz="2000" dirty="0" err="1"/>
              <a:t>heredar</a:t>
            </a:r>
            <a:r>
              <a:rPr lang="en-US" sz="2000" dirty="0"/>
              <a:t>.</a:t>
            </a:r>
          </a:p>
          <a:p>
            <a:pPr lvl="1"/>
            <a:endParaRPr lang="es-AR" sz="2400" dirty="0" smtClean="0"/>
          </a:p>
          <a:p>
            <a:pPr marL="228600" lvl="1" indent="0">
              <a:buNone/>
            </a:pPr>
            <a:endParaRPr lang="es-AR" dirty="0" smtClean="0"/>
          </a:p>
          <a:p>
            <a:pPr lvl="1"/>
            <a:endParaRPr lang="es-AR" dirty="0" smtClean="0"/>
          </a:p>
          <a:p>
            <a:pPr marL="0" indent="0">
              <a:buNone/>
            </a:pPr>
            <a:endParaRPr lang="en-US" dirty="0"/>
          </a:p>
        </p:txBody>
      </p:sp>
      <p:pic>
        <p:nvPicPr>
          <p:cNvPr id="4" name="Picture 3"/>
          <p:cNvPicPr>
            <a:picLocks noChangeAspect="1"/>
          </p:cNvPicPr>
          <p:nvPr/>
        </p:nvPicPr>
        <p:blipFill>
          <a:blip r:embed="rId3"/>
          <a:stretch>
            <a:fillRect/>
          </a:stretch>
        </p:blipFill>
        <p:spPr>
          <a:xfrm>
            <a:off x="5773003" y="1229725"/>
            <a:ext cx="6318913" cy="4591050"/>
          </a:xfrm>
          <a:prstGeom prst="rect">
            <a:avLst/>
          </a:prstGeom>
          <a:ln w="25400">
            <a:solidFill>
              <a:schemeClr val="accent1">
                <a:lumMod val="75000"/>
              </a:schemeClr>
            </a:solidFill>
          </a:ln>
          <a:effectLst>
            <a:softEdge rad="0"/>
          </a:effectLst>
        </p:spPr>
      </p:pic>
    </p:spTree>
    <p:extLst>
      <p:ext uri="{BB962C8B-B14F-4D97-AF65-F5344CB8AC3E}">
        <p14:creationId xmlns:p14="http://schemas.microsoft.com/office/powerpoint/2010/main" val="32421440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5" y="361120"/>
            <a:ext cx="11265408" cy="296842"/>
          </a:xfrm>
        </p:spPr>
        <p:txBody>
          <a:bodyPr/>
          <a:lstStyle/>
          <a:p>
            <a:r>
              <a:rPr lang="es-AR" dirty="0" smtClean="0"/>
              <a:t>Motor de vistas - </a:t>
            </a:r>
            <a:r>
              <a:rPr lang="es-AR" dirty="0" err="1" smtClean="0"/>
              <a:t>Razor</a:t>
            </a:r>
            <a:r>
              <a:rPr lang="es-AR" dirty="0" smtClean="0"/>
              <a:t>   </a:t>
            </a:r>
            <a:endParaRPr lang="en-US" dirty="0"/>
          </a:p>
        </p:txBody>
      </p:sp>
      <p:sp>
        <p:nvSpPr>
          <p:cNvPr id="3" name="Content Placeholder 2"/>
          <p:cNvSpPr>
            <a:spLocks noGrp="1"/>
          </p:cNvSpPr>
          <p:nvPr>
            <p:ph idx="1"/>
          </p:nvPr>
        </p:nvSpPr>
        <p:spPr>
          <a:xfrm>
            <a:off x="633985" y="1173707"/>
            <a:ext cx="9500680" cy="2620371"/>
          </a:xfrm>
        </p:spPr>
        <p:txBody>
          <a:bodyPr>
            <a:normAutofit/>
          </a:bodyPr>
          <a:lstStyle/>
          <a:p>
            <a:r>
              <a:rPr lang="es-ES" sz="2000" dirty="0"/>
              <a:t>Compacto, expresivo y fluido</a:t>
            </a:r>
          </a:p>
          <a:p>
            <a:r>
              <a:rPr lang="es-ES" sz="2000" dirty="0"/>
              <a:t>Fácil de aprender</a:t>
            </a:r>
          </a:p>
          <a:p>
            <a:r>
              <a:rPr lang="es-ES" sz="2000" dirty="0"/>
              <a:t>No es un nuevo lenguaje</a:t>
            </a:r>
          </a:p>
          <a:p>
            <a:r>
              <a:rPr lang="es-ES" sz="2000" dirty="0"/>
              <a:t>Compatibilidad con </a:t>
            </a:r>
            <a:r>
              <a:rPr lang="es-ES" sz="2000" dirty="0" err="1"/>
              <a:t>Intellisense</a:t>
            </a:r>
            <a:endParaRPr lang="es-ES" sz="2000" dirty="0"/>
          </a:p>
          <a:p>
            <a:r>
              <a:rPr lang="es-ES" sz="2000" dirty="0"/>
              <a:t>Compatible con Test Unitarios</a:t>
            </a:r>
          </a:p>
        </p:txBody>
      </p:sp>
    </p:spTree>
    <p:extLst>
      <p:ext uri="{BB962C8B-B14F-4D97-AF65-F5344CB8AC3E}">
        <p14:creationId xmlns:p14="http://schemas.microsoft.com/office/powerpoint/2010/main" val="42451160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smtClean="0"/>
              <a:t>Razor</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984" y="1339702"/>
            <a:ext cx="3681668" cy="363860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5652" y="644314"/>
            <a:ext cx="6482665" cy="2415334"/>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5652" y="3455682"/>
            <a:ext cx="6177144" cy="3262576"/>
          </a:xfrm>
          <a:prstGeom prst="rect">
            <a:avLst/>
          </a:prstGeom>
        </p:spPr>
      </p:pic>
    </p:spTree>
    <p:extLst>
      <p:ext uri="{BB962C8B-B14F-4D97-AF65-F5344CB8AC3E}">
        <p14:creationId xmlns:p14="http://schemas.microsoft.com/office/powerpoint/2010/main" val="20833437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endParaRPr lang="en-US" dirty="0"/>
          </a:p>
        </p:txBody>
      </p:sp>
      <p:sp>
        <p:nvSpPr>
          <p:cNvPr id="3" name="Content Placeholder 2"/>
          <p:cNvSpPr>
            <a:spLocks noGrp="1"/>
          </p:cNvSpPr>
          <p:nvPr>
            <p:ph idx="1"/>
          </p:nvPr>
        </p:nvSpPr>
        <p:spPr>
          <a:xfrm>
            <a:off x="633984" y="1054409"/>
            <a:ext cx="11558016" cy="5346391"/>
          </a:xfrm>
        </p:spPr>
        <p:txBody>
          <a:bodyPr>
            <a:noAutofit/>
          </a:bodyPr>
          <a:lstStyle/>
          <a:p>
            <a:pPr lvl="1"/>
            <a:r>
              <a:rPr lang="en-US" sz="1400" b="1" dirty="0" smtClean="0"/>
              <a:t>Link</a:t>
            </a:r>
          </a:p>
          <a:p>
            <a:pPr indent="0">
              <a:buNone/>
            </a:pPr>
            <a:r>
              <a:rPr lang="en-US" sz="1400" dirty="0"/>
              <a:t> </a:t>
            </a:r>
            <a:r>
              <a:rPr lang="en-US" sz="1400" dirty="0" smtClean="0"/>
              <a:t>    </a:t>
            </a:r>
            <a:r>
              <a:rPr lang="es-AR" sz="1400" dirty="0"/>
              <a:t>@</a:t>
            </a:r>
            <a:r>
              <a:rPr lang="es-AR" sz="1400" dirty="0" err="1"/>
              <a:t>Html.ActionLink</a:t>
            </a:r>
            <a:r>
              <a:rPr lang="es-AR" sz="1400" dirty="0" smtClean="0"/>
              <a:t>(“</a:t>
            </a:r>
            <a:r>
              <a:rPr lang="es-AR" sz="1400" dirty="0" err="1" smtClean="0"/>
              <a:t>About</a:t>
            </a:r>
            <a:r>
              <a:rPr lang="es-AR" sz="1400" dirty="0" smtClean="0"/>
              <a:t>", “</a:t>
            </a:r>
            <a:r>
              <a:rPr lang="es-AR" sz="1400" dirty="0" err="1" smtClean="0"/>
              <a:t>About</a:t>
            </a:r>
            <a:r>
              <a:rPr lang="es-AR" sz="1400" dirty="0" smtClean="0"/>
              <a:t>", </a:t>
            </a:r>
            <a:r>
              <a:rPr lang="es-AR" sz="1400" dirty="0"/>
              <a:t>"Home")</a:t>
            </a:r>
            <a:endParaRPr lang="en-US" sz="1400" dirty="0" smtClean="0"/>
          </a:p>
          <a:p>
            <a:pPr indent="0">
              <a:buNone/>
            </a:pPr>
            <a:r>
              <a:rPr lang="en-US" sz="1400" dirty="0"/>
              <a:t>     &lt;a </a:t>
            </a:r>
            <a:r>
              <a:rPr lang="en-US" sz="1400" dirty="0" err="1"/>
              <a:t>href</a:t>
            </a:r>
            <a:r>
              <a:rPr lang="en-US" sz="1400" dirty="0"/>
              <a:t>="/Home/About"&gt;About&lt;/</a:t>
            </a:r>
            <a:r>
              <a:rPr lang="en-US" sz="1400" dirty="0" smtClean="0"/>
              <a:t>a&gt; </a:t>
            </a:r>
          </a:p>
          <a:p>
            <a:pPr lvl="1"/>
            <a:r>
              <a:rPr lang="en-US" sz="1400" b="1" dirty="0" err="1" smtClean="0"/>
              <a:t>CheckBox</a:t>
            </a:r>
            <a:r>
              <a:rPr lang="en-US" sz="1400" dirty="0" smtClean="0"/>
              <a:t>	</a:t>
            </a:r>
          </a:p>
          <a:p>
            <a:pPr marL="0" indent="0">
              <a:buNone/>
            </a:pPr>
            <a:r>
              <a:rPr lang="en-US" sz="1400" dirty="0" smtClean="0"/>
              <a:t>     @</a:t>
            </a:r>
            <a:r>
              <a:rPr lang="en-US" sz="1400" dirty="0" err="1"/>
              <a:t>Html.CheckBox</a:t>
            </a:r>
            <a:r>
              <a:rPr lang="en-US" sz="1400" dirty="0"/>
              <a:t>("Checkbox1", </a:t>
            </a:r>
            <a:r>
              <a:rPr lang="en-US" sz="1400" dirty="0" smtClean="0"/>
              <a:t>true) </a:t>
            </a:r>
            <a:endParaRPr lang="en-US" sz="1400" dirty="0"/>
          </a:p>
          <a:p>
            <a:pPr marL="0" indent="0">
              <a:buNone/>
            </a:pPr>
            <a:r>
              <a:rPr lang="en-US" sz="1400" dirty="0" smtClean="0"/>
              <a:t>     &lt;input id="Checkbox1" name="Checkbox1" type="checkbox" value="true" /&gt; </a:t>
            </a:r>
          </a:p>
          <a:p>
            <a:pPr lvl="1"/>
            <a:r>
              <a:rPr lang="en-US" sz="1400" b="1" dirty="0" smtClean="0"/>
              <a:t>Drop-down list</a:t>
            </a:r>
            <a:r>
              <a:rPr lang="en-US" sz="1400" dirty="0" smtClean="0"/>
              <a:t>	</a:t>
            </a:r>
          </a:p>
          <a:p>
            <a:pPr marL="0" indent="0">
              <a:buNone/>
            </a:pPr>
            <a:r>
              <a:rPr lang="en-US" sz="1400" dirty="0" smtClean="0"/>
              <a:t>     @</a:t>
            </a:r>
            <a:r>
              <a:rPr lang="en-US" sz="1400" dirty="0" err="1"/>
              <a:t>Html.DropDownList</a:t>
            </a:r>
            <a:r>
              <a:rPr lang="en-US" sz="1400" dirty="0"/>
              <a:t> (“DropDownList1”, new </a:t>
            </a:r>
            <a:r>
              <a:rPr lang="en-US" sz="1400" dirty="0" err="1"/>
              <a:t>SelectList</a:t>
            </a:r>
            <a:r>
              <a:rPr lang="en-US" sz="1400" dirty="0"/>
              <a:t>(new [] {"Male", "Female"})) </a:t>
            </a:r>
          </a:p>
          <a:p>
            <a:pPr marL="0" indent="0">
              <a:buNone/>
            </a:pPr>
            <a:r>
              <a:rPr lang="en-US" sz="1400" dirty="0" smtClean="0"/>
              <a:t>     &lt;</a:t>
            </a:r>
            <a:r>
              <a:rPr lang="en-US" sz="1400" dirty="0"/>
              <a:t>select id="DropDownList1" name="DropDownList1"&gt; &lt;option&gt;M&lt;/option&gt; &lt;option&gt;F&lt;/option&gt; &lt;/select&gt;</a:t>
            </a:r>
          </a:p>
          <a:p>
            <a:pPr lvl="1"/>
            <a:r>
              <a:rPr lang="en-US" sz="1400" b="1" dirty="0" smtClean="0"/>
              <a:t>Hidden </a:t>
            </a:r>
            <a:r>
              <a:rPr lang="en-US" sz="1400" b="1" dirty="0"/>
              <a:t>Field</a:t>
            </a:r>
            <a:r>
              <a:rPr lang="en-US" sz="1400" dirty="0"/>
              <a:t>	</a:t>
            </a:r>
          </a:p>
          <a:p>
            <a:pPr marL="0" indent="0">
              <a:buNone/>
            </a:pPr>
            <a:r>
              <a:rPr lang="en-US" sz="1400" dirty="0" smtClean="0"/>
              <a:t>     @</a:t>
            </a:r>
            <a:r>
              <a:rPr lang="en-US" sz="1400" dirty="0" err="1"/>
              <a:t>Html.Hidden</a:t>
            </a:r>
            <a:r>
              <a:rPr lang="en-US" sz="1400" dirty="0"/>
              <a:t>("Hidden1", "</a:t>
            </a:r>
            <a:r>
              <a:rPr lang="en-US" sz="1400" dirty="0" err="1"/>
              <a:t>val</a:t>
            </a:r>
            <a:r>
              <a:rPr lang="en-US" sz="1400" dirty="0"/>
              <a:t>") </a:t>
            </a:r>
          </a:p>
          <a:p>
            <a:pPr marL="0" indent="0">
              <a:buNone/>
            </a:pPr>
            <a:r>
              <a:rPr lang="en-US" sz="1400" dirty="0" smtClean="0"/>
              <a:t>     &lt;</a:t>
            </a:r>
            <a:r>
              <a:rPr lang="en-US" sz="1400" dirty="0"/>
              <a:t>input id="Hidden1" name="Hidden1" type="hidden" value="</a:t>
            </a:r>
            <a:r>
              <a:rPr lang="en-US" sz="1400" dirty="0" err="1"/>
              <a:t>val</a:t>
            </a:r>
            <a:r>
              <a:rPr lang="en-US" sz="1400" dirty="0"/>
              <a:t>" /&gt;</a:t>
            </a:r>
          </a:p>
          <a:p>
            <a:pPr lvl="1"/>
            <a:r>
              <a:rPr lang="en-US" sz="1400" b="1" dirty="0" smtClean="0"/>
              <a:t>Multiple-select</a:t>
            </a:r>
            <a:r>
              <a:rPr lang="en-US" sz="1400" b="1" dirty="0"/>
              <a:t>	</a:t>
            </a:r>
          </a:p>
          <a:p>
            <a:pPr marL="0" indent="0">
              <a:buNone/>
            </a:pPr>
            <a:r>
              <a:rPr lang="en-US" sz="1400" dirty="0" smtClean="0"/>
              <a:t>     @</a:t>
            </a:r>
            <a:r>
              <a:rPr lang="en-US" sz="1400" dirty="0" err="1"/>
              <a:t>Html.ListBox</a:t>
            </a:r>
            <a:r>
              <a:rPr lang="en-US" sz="1400" dirty="0"/>
              <a:t>(“ListBox1”, new </a:t>
            </a:r>
            <a:r>
              <a:rPr lang="en-US" sz="1400" dirty="0" err="1"/>
              <a:t>MultiSelectList</a:t>
            </a:r>
            <a:r>
              <a:rPr lang="en-US" sz="1400" dirty="0"/>
              <a:t>(new [] {"Cricket", "Chess"})) </a:t>
            </a:r>
          </a:p>
          <a:p>
            <a:pPr marL="0" indent="0">
              <a:buNone/>
            </a:pPr>
            <a:r>
              <a:rPr lang="en-US" sz="1400" dirty="0" smtClean="0"/>
              <a:t>     &lt;</a:t>
            </a:r>
            <a:r>
              <a:rPr lang="en-US" sz="1400" dirty="0"/>
              <a:t>select id="ListBox1" multiple="multiple" name="ListBox1"&gt; &lt;option&gt;Cricket&lt;/option&gt; &lt;option&gt;Chess&lt;/option&gt; &lt;/select&gt;</a:t>
            </a:r>
          </a:p>
          <a:p>
            <a:pPr lvl="1"/>
            <a:endParaRPr lang="en-US" sz="1400" dirty="0"/>
          </a:p>
        </p:txBody>
      </p:sp>
    </p:spTree>
    <p:extLst>
      <p:ext uri="{BB962C8B-B14F-4D97-AF65-F5344CB8AC3E}">
        <p14:creationId xmlns:p14="http://schemas.microsoft.com/office/powerpoint/2010/main" val="3062381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endParaRPr lang="en-US" dirty="0"/>
          </a:p>
        </p:txBody>
      </p:sp>
      <p:sp>
        <p:nvSpPr>
          <p:cNvPr id="8" name="Content Placeholder 2"/>
          <p:cNvSpPr>
            <a:spLocks noGrp="1"/>
          </p:cNvSpPr>
          <p:nvPr>
            <p:ph idx="1"/>
          </p:nvPr>
        </p:nvSpPr>
        <p:spPr>
          <a:xfrm>
            <a:off x="633984" y="1050879"/>
            <a:ext cx="9742238" cy="5377218"/>
          </a:xfrm>
        </p:spPr>
        <p:txBody>
          <a:bodyPr>
            <a:noAutofit/>
          </a:bodyPr>
          <a:lstStyle/>
          <a:p>
            <a:pPr lvl="1"/>
            <a:r>
              <a:rPr lang="en-US" sz="1400" b="1" dirty="0" smtClean="0"/>
              <a:t>Form</a:t>
            </a:r>
          </a:p>
          <a:p>
            <a:pPr lvl="1" indent="0">
              <a:buNone/>
            </a:pPr>
            <a:r>
              <a:rPr lang="en-US" sz="1400" dirty="0" smtClean="0"/>
              <a:t>     @</a:t>
            </a:r>
            <a:r>
              <a:rPr lang="es-AR" sz="1400" dirty="0" err="1" smtClean="0"/>
              <a:t>Html.BeginForm</a:t>
            </a:r>
            <a:r>
              <a:rPr lang="es-AR" sz="1400" dirty="0" smtClean="0"/>
              <a:t>(“</a:t>
            </a:r>
            <a:r>
              <a:rPr lang="es-AR" sz="1400" dirty="0" err="1" smtClean="0"/>
              <a:t>GenresAction</a:t>
            </a:r>
            <a:r>
              <a:rPr lang="es-AR" sz="1400" dirty="0" smtClean="0"/>
              <a:t>", </a:t>
            </a:r>
            <a:r>
              <a:rPr lang="es-AR" sz="1400" dirty="0"/>
              <a:t>"</a:t>
            </a:r>
            <a:r>
              <a:rPr lang="es-AR" sz="1400" dirty="0" err="1"/>
              <a:t>Genres</a:t>
            </a:r>
            <a:r>
              <a:rPr lang="es-AR" sz="1400" dirty="0"/>
              <a:t>", </a:t>
            </a:r>
            <a:r>
              <a:rPr lang="es-AR" sz="1400" dirty="0" err="1"/>
              <a:t>FormMethod.Get</a:t>
            </a:r>
            <a:r>
              <a:rPr lang="es-AR" sz="1400" dirty="0"/>
              <a:t>, new { @</a:t>
            </a:r>
            <a:r>
              <a:rPr lang="es-AR" sz="1400" dirty="0" err="1"/>
              <a:t>class</a:t>
            </a:r>
            <a:r>
              <a:rPr lang="es-AR" sz="1400" dirty="0"/>
              <a:t> = "</a:t>
            </a:r>
            <a:r>
              <a:rPr lang="es-AR" sz="1400" dirty="0" err="1"/>
              <a:t>form-inline</a:t>
            </a:r>
            <a:r>
              <a:rPr lang="es-AR" sz="1400" dirty="0"/>
              <a:t>"}))</a:t>
            </a:r>
            <a:r>
              <a:rPr lang="en-US" sz="1400" dirty="0" smtClean="0"/>
              <a:t>     </a:t>
            </a:r>
          </a:p>
          <a:p>
            <a:pPr lvl="1" indent="0">
              <a:buNone/>
            </a:pPr>
            <a:r>
              <a:rPr lang="en-US" sz="1400" dirty="0" smtClean="0"/>
              <a:t>     &lt;</a:t>
            </a:r>
            <a:r>
              <a:rPr lang="en-US" sz="1400" dirty="0"/>
              <a:t>form action="/</a:t>
            </a:r>
            <a:r>
              <a:rPr lang="en-US" sz="1400" dirty="0" smtClean="0"/>
              <a:t>Genres/</a:t>
            </a:r>
            <a:r>
              <a:rPr lang="en-US" sz="1400" dirty="0" err="1" smtClean="0"/>
              <a:t>GenresAction</a:t>
            </a:r>
            <a:r>
              <a:rPr lang="en-US" sz="1400" dirty="0" smtClean="0"/>
              <a:t>" </a:t>
            </a:r>
            <a:r>
              <a:rPr lang="en-US" sz="1400" dirty="0"/>
              <a:t>class="form-inline" method="get</a:t>
            </a:r>
            <a:r>
              <a:rPr lang="en-US" sz="1400" dirty="0" smtClean="0"/>
              <a:t>"&gt;&lt;/form&gt;</a:t>
            </a:r>
          </a:p>
          <a:p>
            <a:pPr lvl="1"/>
            <a:r>
              <a:rPr lang="en-US" sz="1400" b="1" dirty="0" err="1" smtClean="0"/>
              <a:t>RadioButton</a:t>
            </a:r>
            <a:r>
              <a:rPr lang="en-US" sz="1400" dirty="0" smtClean="0"/>
              <a:t>	</a:t>
            </a:r>
          </a:p>
          <a:p>
            <a:pPr marL="0" indent="0">
              <a:buNone/>
            </a:pPr>
            <a:r>
              <a:rPr lang="en-US" sz="1400" dirty="0" smtClean="0"/>
              <a:t>     @</a:t>
            </a:r>
            <a:r>
              <a:rPr lang="en-US" sz="1400" dirty="0" err="1"/>
              <a:t>Html.RadioButton</a:t>
            </a:r>
            <a:r>
              <a:rPr lang="en-US" sz="1400" dirty="0"/>
              <a:t>("Radiobutton1", "</a:t>
            </a:r>
            <a:r>
              <a:rPr lang="en-US" sz="1400" dirty="0" err="1"/>
              <a:t>val</a:t>
            </a:r>
            <a:r>
              <a:rPr lang="en-US" sz="1400" dirty="0"/>
              <a:t>", true) </a:t>
            </a:r>
          </a:p>
          <a:p>
            <a:pPr marL="0" indent="0">
              <a:buNone/>
            </a:pPr>
            <a:r>
              <a:rPr lang="en-US" sz="1400" dirty="0" smtClean="0"/>
              <a:t>    &lt;</a:t>
            </a:r>
            <a:r>
              <a:rPr lang="en-US" sz="1400" dirty="0"/>
              <a:t>input checked="checked" id="Radiobutton1" name="Radiobutton1" type="radio" value="</a:t>
            </a:r>
            <a:r>
              <a:rPr lang="en-US" sz="1400" dirty="0" err="1"/>
              <a:t>val</a:t>
            </a:r>
            <a:r>
              <a:rPr lang="en-US" sz="1400" dirty="0"/>
              <a:t>" /&gt;</a:t>
            </a:r>
          </a:p>
          <a:p>
            <a:r>
              <a:rPr lang="es-ES" sz="1400" b="1" dirty="0" err="1" smtClean="0"/>
              <a:t>TextArea</a:t>
            </a:r>
            <a:r>
              <a:rPr lang="es-ES" sz="1400" dirty="0"/>
              <a:t>	</a:t>
            </a:r>
            <a:endParaRPr lang="en-US" sz="1400" dirty="0"/>
          </a:p>
          <a:p>
            <a:pPr marL="0" indent="0">
              <a:buNone/>
            </a:pPr>
            <a:r>
              <a:rPr lang="es-ES" sz="1400" dirty="0" smtClean="0"/>
              <a:t>     @</a:t>
            </a:r>
            <a:r>
              <a:rPr lang="es-ES" sz="1400" dirty="0" err="1"/>
              <a:t>Html.TextArea</a:t>
            </a:r>
            <a:r>
              <a:rPr lang="es-ES" sz="1400" dirty="0"/>
              <a:t>("Textarea1", "valor", 5, 15, </a:t>
            </a:r>
            <a:r>
              <a:rPr lang="es-ES" sz="1400" dirty="0" err="1"/>
              <a:t>null</a:t>
            </a:r>
            <a:r>
              <a:rPr lang="es-ES" sz="1400" dirty="0"/>
              <a:t>) </a:t>
            </a:r>
            <a:endParaRPr lang="en-US" sz="1400" dirty="0"/>
          </a:p>
          <a:p>
            <a:pPr marL="0" indent="0">
              <a:buNone/>
            </a:pPr>
            <a:r>
              <a:rPr lang="en-US" sz="1400" dirty="0" smtClean="0"/>
              <a:t>     &lt;</a:t>
            </a:r>
            <a:r>
              <a:rPr lang="en-US" sz="1400" dirty="0" err="1"/>
              <a:t>textarea</a:t>
            </a:r>
            <a:r>
              <a:rPr lang="en-US" sz="1400" dirty="0"/>
              <a:t> cols="15" id="Textarea1" name="Textarea1" rows="5"&gt;valor&lt;/</a:t>
            </a:r>
            <a:r>
              <a:rPr lang="en-US" sz="1400" dirty="0" err="1"/>
              <a:t>textarea</a:t>
            </a:r>
            <a:r>
              <a:rPr lang="en-US" sz="1400" dirty="0"/>
              <a:t>&gt;</a:t>
            </a:r>
          </a:p>
          <a:p>
            <a:pPr lvl="1"/>
            <a:r>
              <a:rPr lang="en-US" sz="1400" b="1" dirty="0" err="1" smtClean="0"/>
              <a:t>TextBox</a:t>
            </a:r>
            <a:r>
              <a:rPr lang="en-US" sz="1400" dirty="0"/>
              <a:t>	</a:t>
            </a:r>
          </a:p>
          <a:p>
            <a:pPr marL="0" indent="0">
              <a:buNone/>
            </a:pPr>
            <a:r>
              <a:rPr lang="en-US" sz="1400" dirty="0" smtClean="0"/>
              <a:t>    @</a:t>
            </a:r>
            <a:r>
              <a:rPr lang="en-US" sz="1400" dirty="0" err="1"/>
              <a:t>Html.TextBox</a:t>
            </a:r>
            <a:r>
              <a:rPr lang="en-US" sz="1400" dirty="0"/>
              <a:t>("Textbox1", "valor") </a:t>
            </a:r>
          </a:p>
          <a:p>
            <a:pPr marL="0" indent="0">
              <a:buNone/>
            </a:pPr>
            <a:r>
              <a:rPr lang="en-US" sz="1400" dirty="0" smtClean="0"/>
              <a:t>     &lt;</a:t>
            </a:r>
            <a:r>
              <a:rPr lang="en-US" sz="1400" dirty="0"/>
              <a:t>input id="Textbox1" name="Textbox1" type="text" value="valor" </a:t>
            </a:r>
            <a:r>
              <a:rPr lang="en-US" sz="1400" dirty="0" smtClean="0"/>
              <a:t>/&gt;</a:t>
            </a:r>
          </a:p>
          <a:p>
            <a:pPr lvl="1"/>
            <a:r>
              <a:rPr lang="en-US" sz="1400" b="1" dirty="0" smtClean="0"/>
              <a:t>Password</a:t>
            </a:r>
            <a:r>
              <a:rPr lang="en-US" sz="1400" dirty="0"/>
              <a:t>	</a:t>
            </a:r>
          </a:p>
          <a:p>
            <a:pPr lvl="1" indent="0">
              <a:buNone/>
            </a:pPr>
            <a:r>
              <a:rPr lang="en-US" sz="1400" dirty="0"/>
              <a:t>     @</a:t>
            </a:r>
            <a:r>
              <a:rPr lang="en-US" sz="1400" dirty="0" err="1"/>
              <a:t>Html.Password</a:t>
            </a:r>
            <a:r>
              <a:rPr lang="en-US" sz="1400" dirty="0"/>
              <a:t>("Password1", "</a:t>
            </a:r>
            <a:r>
              <a:rPr lang="en-US" sz="1400" dirty="0" err="1"/>
              <a:t>val</a:t>
            </a:r>
            <a:r>
              <a:rPr lang="en-US" sz="1400" dirty="0"/>
              <a:t>") </a:t>
            </a:r>
          </a:p>
          <a:p>
            <a:pPr indent="0">
              <a:buNone/>
            </a:pPr>
            <a:r>
              <a:rPr lang="en-US" sz="1400" dirty="0"/>
              <a:t>     &lt;input id="Password1" name="Password1" type="password" value="</a:t>
            </a:r>
            <a:r>
              <a:rPr lang="en-US" sz="1400" dirty="0" err="1"/>
              <a:t>val</a:t>
            </a:r>
            <a:r>
              <a:rPr lang="en-US" sz="1400" dirty="0"/>
              <a:t>" </a:t>
            </a:r>
            <a:r>
              <a:rPr lang="en-US" sz="1400" dirty="0" smtClean="0"/>
              <a:t>/&gt;</a:t>
            </a:r>
          </a:p>
          <a:p>
            <a:pPr indent="0">
              <a:buNone/>
            </a:pPr>
            <a:endParaRPr lang="en-US" sz="1400" dirty="0"/>
          </a:p>
          <a:p>
            <a:pPr lvl="1"/>
            <a:endParaRPr lang="es-AR" sz="1400" dirty="0"/>
          </a:p>
        </p:txBody>
      </p:sp>
    </p:spTree>
    <p:extLst>
      <p:ext uri="{BB962C8B-B14F-4D97-AF65-F5344CB8AC3E}">
        <p14:creationId xmlns:p14="http://schemas.microsoft.com/office/powerpoint/2010/main" val="41578861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937014"/>
            <a:ext cx="7336972" cy="2575026"/>
          </a:xfrm>
        </p:spPr>
        <p:txBody>
          <a:bodyPr>
            <a:normAutofit fontScale="92500" lnSpcReduction="20000"/>
          </a:bodyPr>
          <a:lstStyle/>
          <a:p>
            <a:r>
              <a:rPr lang="es-ES" sz="2400" dirty="0" smtClean="0"/>
              <a:t>Crear un proyecto </a:t>
            </a:r>
            <a:r>
              <a:rPr lang="es-ES" sz="2400" dirty="0" err="1" smtClean="0"/>
              <a:t>CapacitacionMVC.Entities</a:t>
            </a:r>
            <a:r>
              <a:rPr lang="es-ES" sz="2400" dirty="0" smtClean="0"/>
              <a:t> que contenga las entidades </a:t>
            </a:r>
            <a:r>
              <a:rPr lang="es-ES" sz="2400" dirty="0" err="1" smtClean="0"/>
              <a:t>Movie</a:t>
            </a:r>
            <a:r>
              <a:rPr lang="es-ES" sz="2400" dirty="0" smtClean="0"/>
              <a:t> y </a:t>
            </a:r>
            <a:r>
              <a:rPr lang="es-ES" sz="2400" dirty="0" err="1" smtClean="0"/>
              <a:t>Genre</a:t>
            </a:r>
            <a:r>
              <a:rPr lang="es-ES" sz="2400" dirty="0" smtClean="0"/>
              <a:t>.</a:t>
            </a:r>
          </a:p>
          <a:p>
            <a:r>
              <a:rPr lang="es-AR" sz="2400" dirty="0" smtClean="0"/>
              <a:t>Crear </a:t>
            </a:r>
            <a:r>
              <a:rPr lang="es-AR" sz="2400" dirty="0"/>
              <a:t>los </a:t>
            </a:r>
            <a:r>
              <a:rPr lang="es-AR" sz="2400" dirty="0" err="1"/>
              <a:t>controllers</a:t>
            </a:r>
            <a:r>
              <a:rPr lang="es-AR" sz="2400" dirty="0"/>
              <a:t> </a:t>
            </a:r>
            <a:r>
              <a:rPr lang="es-AR" sz="2400" dirty="0" smtClean="0"/>
              <a:t>apropiados (</a:t>
            </a:r>
            <a:r>
              <a:rPr lang="es-AR" sz="2400" dirty="0" err="1" smtClean="0"/>
              <a:t>MoviesController</a:t>
            </a:r>
            <a:r>
              <a:rPr lang="es-AR" sz="2400" dirty="0" smtClean="0"/>
              <a:t>, </a:t>
            </a:r>
            <a:r>
              <a:rPr lang="es-AR" sz="2400" dirty="0" err="1" smtClean="0"/>
              <a:t>GenresController</a:t>
            </a:r>
            <a:r>
              <a:rPr lang="es-AR" sz="2400" dirty="0" smtClean="0"/>
              <a:t>)</a:t>
            </a:r>
            <a:endParaRPr lang="es-AR" sz="2400" dirty="0"/>
          </a:p>
          <a:p>
            <a:r>
              <a:rPr lang="es-AR" sz="2400" dirty="0"/>
              <a:t>Crear las vistas apropiadas</a:t>
            </a:r>
            <a:r>
              <a:rPr lang="es-AR" sz="2400" dirty="0" smtClean="0"/>
              <a:t>.</a:t>
            </a:r>
          </a:p>
          <a:p>
            <a:r>
              <a:rPr lang="es-AR" sz="2400" dirty="0"/>
              <a:t>Agregar al menú 2 links uno para </a:t>
            </a:r>
            <a:r>
              <a:rPr lang="es-AR" sz="2400" dirty="0" smtClean="0"/>
              <a:t>Películas </a:t>
            </a:r>
            <a:r>
              <a:rPr lang="es-AR" sz="2400" dirty="0"/>
              <a:t>y otro para </a:t>
            </a:r>
            <a:r>
              <a:rPr lang="es-AR" sz="2400" dirty="0" smtClean="0"/>
              <a:t>Géneros</a:t>
            </a:r>
            <a:r>
              <a:rPr lang="es-AR" sz="2400" dirty="0"/>
              <a:t>.</a:t>
            </a:r>
          </a:p>
          <a:p>
            <a:endParaRPr lang="es-AR" sz="2400" dirty="0"/>
          </a:p>
          <a:p>
            <a:endParaRPr lang="en-US" sz="2400" dirty="0"/>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6847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Filtros</a:t>
            </a:r>
            <a:endParaRPr lang="en-US" dirty="0"/>
          </a:p>
        </p:txBody>
      </p:sp>
      <p:sp>
        <p:nvSpPr>
          <p:cNvPr id="3" name="Content Placeholder 2"/>
          <p:cNvSpPr>
            <a:spLocks noGrp="1"/>
          </p:cNvSpPr>
          <p:nvPr>
            <p:ph idx="1"/>
          </p:nvPr>
        </p:nvSpPr>
        <p:spPr>
          <a:xfrm>
            <a:off x="633984" y="974361"/>
            <a:ext cx="9903387" cy="5136154"/>
          </a:xfrm>
        </p:spPr>
        <p:txBody>
          <a:bodyPr>
            <a:normAutofit/>
          </a:bodyPr>
          <a:lstStyle/>
          <a:p>
            <a:pPr lvl="1"/>
            <a:r>
              <a:rPr lang="es-ES" sz="2000" dirty="0" smtClean="0"/>
              <a:t>Permiten definir lógica que debe ejecutarse antes (o luego) de llamar a una acción dentro de un controlador.</a:t>
            </a:r>
          </a:p>
          <a:p>
            <a:pPr lvl="1"/>
            <a:endParaRPr lang="es-ES" sz="1800" b="1" dirty="0" smtClean="0"/>
          </a:p>
          <a:p>
            <a:pPr lvl="1"/>
            <a:r>
              <a:rPr lang="es-ES" sz="2000" dirty="0" smtClean="0"/>
              <a:t>Tipos:</a:t>
            </a:r>
            <a:endParaRPr lang="es-AR" sz="2000" dirty="0" smtClean="0"/>
          </a:p>
          <a:p>
            <a:pPr lvl="1" indent="0">
              <a:buNone/>
            </a:pPr>
            <a:r>
              <a:rPr lang="es-AR" sz="2000" b="1" dirty="0" smtClean="0"/>
              <a:t>	-</a:t>
            </a:r>
            <a:r>
              <a:rPr lang="es-AR" sz="2000" b="1" dirty="0" err="1" smtClean="0"/>
              <a:t>Action</a:t>
            </a:r>
            <a:r>
              <a:rPr lang="es-AR" sz="2000" b="1" dirty="0" smtClean="0"/>
              <a:t> </a:t>
            </a:r>
            <a:r>
              <a:rPr lang="es-AR" sz="2000" b="1" dirty="0" err="1" smtClean="0"/>
              <a:t>Filters</a:t>
            </a:r>
            <a:r>
              <a:rPr lang="es-AR" sz="2000" b="1" dirty="0" smtClean="0"/>
              <a:t>: </a:t>
            </a:r>
            <a:r>
              <a:rPr lang="es-AR" sz="2000" dirty="0"/>
              <a:t>R</a:t>
            </a:r>
            <a:r>
              <a:rPr lang="es-AR" sz="2000" dirty="0" smtClean="0"/>
              <a:t>ealizan </a:t>
            </a:r>
            <a:r>
              <a:rPr lang="es-AR" sz="2000" dirty="0"/>
              <a:t>operaciones tanto antes como luego de una llamada a una  acción. </a:t>
            </a:r>
            <a:br>
              <a:rPr lang="es-AR" sz="2000" dirty="0"/>
            </a:br>
            <a:r>
              <a:rPr lang="es-AR" sz="2000" dirty="0" smtClean="0"/>
              <a:t>	-</a:t>
            </a:r>
            <a:r>
              <a:rPr lang="es-AR" sz="2000" b="1" dirty="0" err="1" smtClean="0"/>
              <a:t>Result</a:t>
            </a:r>
            <a:r>
              <a:rPr lang="es-AR" sz="2000" b="1" dirty="0" smtClean="0"/>
              <a:t> </a:t>
            </a:r>
            <a:r>
              <a:rPr lang="es-AR" sz="2000" b="1" dirty="0" err="1" smtClean="0"/>
              <a:t>Filters</a:t>
            </a:r>
            <a:r>
              <a:rPr lang="es-AR" sz="2000" b="1" dirty="0" smtClean="0"/>
              <a:t>: </a:t>
            </a:r>
            <a:r>
              <a:rPr lang="es-AR" sz="2000" dirty="0" smtClean="0"/>
              <a:t>Permiten </a:t>
            </a:r>
            <a:r>
              <a:rPr lang="es-AR" sz="2000" dirty="0"/>
              <a:t>realizar operaciones sobre el resultado de una ejecución.</a:t>
            </a:r>
          </a:p>
          <a:p>
            <a:pPr lvl="1" indent="0">
              <a:buNone/>
            </a:pPr>
            <a:r>
              <a:rPr lang="es-AR" sz="2000" dirty="0" smtClean="0"/>
              <a:t>	-</a:t>
            </a:r>
            <a:r>
              <a:rPr lang="es-AR" sz="2000" b="1" dirty="0" err="1" smtClean="0"/>
              <a:t>Exception</a:t>
            </a:r>
            <a:r>
              <a:rPr lang="es-AR" sz="2000" b="1" dirty="0" smtClean="0"/>
              <a:t> </a:t>
            </a:r>
            <a:r>
              <a:rPr lang="es-AR" sz="2000" b="1" dirty="0" err="1" smtClean="0"/>
              <a:t>Filters</a:t>
            </a:r>
            <a:r>
              <a:rPr lang="es-AR" sz="2000" b="1" dirty="0" smtClean="0"/>
              <a:t>: </a:t>
            </a:r>
            <a:r>
              <a:rPr lang="es-AR" sz="2000" dirty="0" smtClean="0"/>
              <a:t>Permiten </a:t>
            </a:r>
            <a:r>
              <a:rPr lang="es-AR" sz="2000" dirty="0"/>
              <a:t>agregar lógica de manejo y log de errores en caso de que la ejecución termine en una excepción. </a:t>
            </a:r>
          </a:p>
          <a:p>
            <a:pPr lvl="1" indent="0">
              <a:buNone/>
            </a:pPr>
            <a:r>
              <a:rPr lang="es-AR" sz="2000" dirty="0" smtClean="0"/>
              <a:t>	-</a:t>
            </a:r>
            <a:r>
              <a:rPr lang="es-AR" sz="2000" b="1" dirty="0" err="1" smtClean="0"/>
              <a:t>Authorization</a:t>
            </a:r>
            <a:r>
              <a:rPr lang="es-AR" sz="2000" b="1" dirty="0" smtClean="0"/>
              <a:t> </a:t>
            </a:r>
            <a:r>
              <a:rPr lang="es-AR" sz="2000" b="1" dirty="0" err="1" smtClean="0"/>
              <a:t>Filters</a:t>
            </a:r>
            <a:r>
              <a:rPr lang="es-AR" sz="2000" b="1" dirty="0" smtClean="0"/>
              <a:t>: </a:t>
            </a:r>
            <a:r>
              <a:rPr lang="es-AR" sz="2000" dirty="0" smtClean="0"/>
              <a:t>Son </a:t>
            </a:r>
            <a:r>
              <a:rPr lang="es-AR" sz="2000" dirty="0"/>
              <a:t>los primeros filtros a ser evaluados antes de cada llamada a una acción.</a:t>
            </a:r>
            <a:r>
              <a:rPr lang="es-AR" sz="2000" dirty="0" smtClean="0"/>
              <a:t/>
            </a:r>
            <a:br>
              <a:rPr lang="es-AR" sz="2000" dirty="0" smtClean="0"/>
            </a:br>
            <a:endParaRPr lang="en-US" sz="2000" dirty="0"/>
          </a:p>
        </p:txBody>
      </p:sp>
    </p:spTree>
    <p:extLst>
      <p:ext uri="{BB962C8B-B14F-4D97-AF65-F5344CB8AC3E}">
        <p14:creationId xmlns:p14="http://schemas.microsoft.com/office/powerpoint/2010/main" val="25876651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34433" y="347472"/>
            <a:ext cx="11564959" cy="252135"/>
          </a:xfrm>
        </p:spPr>
        <p:txBody>
          <a:bodyPr/>
          <a:lstStyle/>
          <a:p>
            <a:r>
              <a:rPr lang="es-AR" dirty="0" smtClean="0"/>
              <a:t>Filtros - Alcance</a:t>
            </a:r>
            <a:endParaRPr lang="es-AR" dirty="0"/>
          </a:p>
        </p:txBody>
      </p:sp>
      <p:sp>
        <p:nvSpPr>
          <p:cNvPr id="3" name="2 Marcador de contenido"/>
          <p:cNvSpPr>
            <a:spLocks noGrp="1"/>
          </p:cNvSpPr>
          <p:nvPr>
            <p:ph idx="1"/>
          </p:nvPr>
        </p:nvSpPr>
        <p:spPr>
          <a:xfrm>
            <a:off x="334433" y="1274164"/>
            <a:ext cx="11534600" cy="4852001"/>
          </a:xfrm>
        </p:spPr>
        <p:txBody>
          <a:bodyPr>
            <a:normAutofit lnSpcReduction="10000"/>
          </a:bodyPr>
          <a:lstStyle/>
          <a:p>
            <a:r>
              <a:rPr lang="es-AR" sz="2000" b="1" dirty="0"/>
              <a:t>Global </a:t>
            </a:r>
            <a:r>
              <a:rPr lang="es-AR" sz="2000" b="1" dirty="0" err="1"/>
              <a:t>Filters</a:t>
            </a:r>
            <a:endParaRPr lang="es-AR" sz="2000" b="1" dirty="0"/>
          </a:p>
          <a:p>
            <a:pPr lvl="1" indent="0">
              <a:buNone/>
            </a:pPr>
            <a:r>
              <a:rPr lang="es-AR" sz="2000" dirty="0" smtClean="0"/>
              <a:t>	Se inicializan en la aplicación a nivel global y serán aplicados a todas las acciones de los controladores dentro de esa aplicación.</a:t>
            </a:r>
          </a:p>
          <a:p>
            <a:pPr lvl="1" indent="0">
              <a:buNone/>
            </a:pPr>
            <a:r>
              <a:rPr lang="es-AR" sz="2000" dirty="0"/>
              <a:t>	</a:t>
            </a:r>
            <a:r>
              <a:rPr lang="es-AR" sz="2000" dirty="0" err="1" smtClean="0"/>
              <a:t>FilterConfig.RegisterGlobalFilters</a:t>
            </a:r>
            <a:r>
              <a:rPr lang="es-AR" sz="2000" dirty="0"/>
              <a:t>(…..); </a:t>
            </a:r>
          </a:p>
          <a:p>
            <a:endParaRPr lang="es-AR" sz="2000" dirty="0"/>
          </a:p>
          <a:p>
            <a:endParaRPr lang="es-AR" sz="2000" dirty="0"/>
          </a:p>
          <a:p>
            <a:r>
              <a:rPr lang="es-AR" sz="2000" b="1" dirty="0" err="1"/>
              <a:t>Controller</a:t>
            </a:r>
            <a:r>
              <a:rPr lang="es-AR" sz="2000" b="1" dirty="0"/>
              <a:t> </a:t>
            </a:r>
            <a:r>
              <a:rPr lang="es-AR" sz="2000" b="1" dirty="0" err="1"/>
              <a:t>Filters</a:t>
            </a:r>
            <a:endParaRPr lang="es-AR" sz="2000" b="1" dirty="0"/>
          </a:p>
          <a:p>
            <a:pPr lvl="1" indent="0">
              <a:buNone/>
            </a:pPr>
            <a:r>
              <a:rPr lang="es-AR" sz="2000" dirty="0" smtClean="0"/>
              <a:t>	Se inicializan a nivel de controlador y solo </a:t>
            </a:r>
            <a:r>
              <a:rPr lang="es-AR" sz="2000" dirty="0"/>
              <a:t>se </a:t>
            </a:r>
            <a:r>
              <a:rPr lang="es-AR" sz="2000" dirty="0" smtClean="0"/>
              <a:t>aplican en las acciones de ese controlador.</a:t>
            </a:r>
            <a:endParaRPr lang="es-AR" sz="2000" dirty="0"/>
          </a:p>
          <a:p>
            <a:endParaRPr lang="es-AR" sz="2000" dirty="0"/>
          </a:p>
          <a:p>
            <a:endParaRPr lang="es-AR" sz="2000" dirty="0"/>
          </a:p>
          <a:p>
            <a:r>
              <a:rPr lang="es-AR" sz="2000" b="1" dirty="0" err="1"/>
              <a:t>Action</a:t>
            </a:r>
            <a:r>
              <a:rPr lang="es-AR" sz="2000" b="1" dirty="0"/>
              <a:t> “</a:t>
            </a:r>
            <a:r>
              <a:rPr lang="es-AR" sz="2000" b="1" dirty="0" err="1"/>
              <a:t>Specific</a:t>
            </a:r>
            <a:r>
              <a:rPr lang="es-AR" sz="2000" b="1" dirty="0"/>
              <a:t>” </a:t>
            </a:r>
            <a:r>
              <a:rPr lang="es-AR" sz="2000" b="1" dirty="0" err="1"/>
              <a:t>Filters</a:t>
            </a:r>
            <a:endParaRPr lang="es-AR" sz="2000" b="1" dirty="0"/>
          </a:p>
          <a:p>
            <a:pPr lvl="1" indent="0">
              <a:buNone/>
            </a:pPr>
            <a:r>
              <a:rPr lang="es-AR" sz="2000" dirty="0" smtClean="0"/>
              <a:t>	Se inicializan a nivel de acción de controlador y solo </a:t>
            </a:r>
            <a:r>
              <a:rPr lang="es-AR" sz="2000" dirty="0"/>
              <a:t>se </a:t>
            </a:r>
            <a:r>
              <a:rPr lang="es-AR" sz="2000" dirty="0" smtClean="0"/>
              <a:t>aplican para esa acción determinada.</a:t>
            </a:r>
            <a:endParaRPr lang="es-AR" sz="2000" dirty="0"/>
          </a:p>
        </p:txBody>
      </p:sp>
    </p:spTree>
    <p:extLst>
      <p:ext uri="{BB962C8B-B14F-4D97-AF65-F5344CB8AC3E}">
        <p14:creationId xmlns:p14="http://schemas.microsoft.com/office/powerpoint/2010/main" val="28815123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9345" y="347472"/>
            <a:ext cx="11564959" cy="252135"/>
          </a:xfrm>
        </p:spPr>
        <p:txBody>
          <a:bodyPr/>
          <a:lstStyle/>
          <a:p>
            <a:r>
              <a:rPr lang="es-AR" dirty="0" smtClean="0"/>
              <a:t>Filtros - Alcance</a:t>
            </a:r>
            <a:endParaRPr lang="es-AR" dirty="0"/>
          </a:p>
        </p:txBody>
      </p:sp>
      <p:pic>
        <p:nvPicPr>
          <p:cNvPr id="5" name="Picture 4"/>
          <p:cNvPicPr>
            <a:picLocks noChangeAspect="1"/>
          </p:cNvPicPr>
          <p:nvPr/>
        </p:nvPicPr>
        <p:blipFill>
          <a:blip r:embed="rId2"/>
          <a:stretch>
            <a:fillRect/>
          </a:stretch>
        </p:blipFill>
        <p:spPr>
          <a:xfrm>
            <a:off x="1904064" y="1407357"/>
            <a:ext cx="6704765" cy="4168984"/>
          </a:xfrm>
          <a:prstGeom prst="rect">
            <a:avLst/>
          </a:prstGeom>
        </p:spPr>
      </p:pic>
      <p:sp>
        <p:nvSpPr>
          <p:cNvPr id="6" name="Rectangle 5"/>
          <p:cNvSpPr/>
          <p:nvPr/>
        </p:nvSpPr>
        <p:spPr>
          <a:xfrm>
            <a:off x="1933731" y="1407357"/>
            <a:ext cx="1873771" cy="391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8" name="Straight Arrow Connector 7"/>
          <p:cNvCxnSpPr>
            <a:stCxn id="6" idx="3"/>
          </p:cNvCxnSpPr>
          <p:nvPr/>
        </p:nvCxnSpPr>
        <p:spPr>
          <a:xfrm flipV="1">
            <a:off x="3807502" y="1139253"/>
            <a:ext cx="3672590" cy="463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540053" y="959372"/>
            <a:ext cx="2980944" cy="369332"/>
          </a:xfrm>
          <a:prstGeom prst="rect">
            <a:avLst/>
          </a:prstGeom>
          <a:noFill/>
        </p:spPr>
        <p:txBody>
          <a:bodyPr wrap="none" rtlCol="0">
            <a:spAutoFit/>
          </a:bodyPr>
          <a:lstStyle/>
          <a:p>
            <a:r>
              <a:rPr lang="es-ES" dirty="0" smtClean="0"/>
              <a:t>Filtro a nivel de controlador</a:t>
            </a:r>
            <a:endParaRPr lang="es-AR" dirty="0"/>
          </a:p>
        </p:txBody>
      </p:sp>
    </p:spTree>
    <p:extLst>
      <p:ext uri="{BB962C8B-B14F-4D97-AF65-F5344CB8AC3E}">
        <p14:creationId xmlns:p14="http://schemas.microsoft.com/office/powerpoint/2010/main" val="3757616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Pasando datos de un Controlador a una vista</a:t>
            </a:r>
            <a:br>
              <a:rPr lang="es-AR" dirty="0"/>
            </a:br>
            <a:endParaRPr lang="en-US" dirty="0"/>
          </a:p>
        </p:txBody>
      </p:sp>
      <p:sp>
        <p:nvSpPr>
          <p:cNvPr id="3" name="Content Placeholder 2"/>
          <p:cNvSpPr>
            <a:spLocks noGrp="1"/>
          </p:cNvSpPr>
          <p:nvPr>
            <p:ph idx="1"/>
          </p:nvPr>
        </p:nvSpPr>
        <p:spPr>
          <a:xfrm>
            <a:off x="633984" y="1141967"/>
            <a:ext cx="11107742" cy="4822106"/>
          </a:xfrm>
        </p:spPr>
        <p:txBody>
          <a:bodyPr>
            <a:normAutofit/>
          </a:bodyPr>
          <a:lstStyle/>
          <a:p>
            <a:pPr lvl="4"/>
            <a:r>
              <a:rPr lang="es-AR" sz="2000" dirty="0" err="1" smtClean="0"/>
              <a:t>ViewBag</a:t>
            </a:r>
            <a:endParaRPr lang="es-AR" sz="2000" dirty="0"/>
          </a:p>
          <a:p>
            <a:pPr lvl="4"/>
            <a:r>
              <a:rPr lang="es-AR" sz="2000" dirty="0" smtClean="0"/>
              <a:t>Clase original</a:t>
            </a:r>
            <a:endParaRPr lang="es-AR" sz="2000" dirty="0"/>
          </a:p>
          <a:p>
            <a:pPr lvl="4"/>
            <a:r>
              <a:rPr lang="es-AR" sz="2000" dirty="0" err="1" smtClean="0"/>
              <a:t>Model</a:t>
            </a:r>
            <a:r>
              <a:rPr lang="es-AR" sz="2000" dirty="0" smtClean="0"/>
              <a:t> </a:t>
            </a:r>
            <a:r>
              <a:rPr lang="es-AR" sz="2000" dirty="0"/>
              <a:t>View </a:t>
            </a:r>
            <a:r>
              <a:rPr lang="es-AR" sz="2000" dirty="0" err="1" smtClean="0"/>
              <a:t>ViewModel</a:t>
            </a:r>
            <a:r>
              <a:rPr lang="es-AR" sz="2000" dirty="0"/>
              <a:t> (</a:t>
            </a:r>
            <a:r>
              <a:rPr lang="es-AR" sz="2000" dirty="0" smtClean="0"/>
              <a:t>MVVM)</a:t>
            </a:r>
            <a:endParaRPr lang="es-AR" sz="2000" dirty="0"/>
          </a:p>
          <a:p>
            <a:pPr lvl="4"/>
            <a:r>
              <a:rPr lang="es-AR" sz="2000" dirty="0" smtClean="0"/>
              <a:t>Objetos </a:t>
            </a:r>
            <a:r>
              <a:rPr lang="es-AR" sz="2000" dirty="0" err="1" smtClean="0"/>
              <a:t>Json</a:t>
            </a:r>
            <a:endParaRPr lang="es-AR" sz="2000" dirty="0"/>
          </a:p>
          <a:p>
            <a:endParaRPr lang="es-AR" sz="2000" dirty="0"/>
          </a:p>
          <a:p>
            <a:pPr indent="0">
              <a:buNone/>
            </a:pPr>
            <a:r>
              <a:rPr lang="es-AR" sz="2000" dirty="0" smtClean="0"/>
              <a:t>Con MVVM </a:t>
            </a:r>
            <a:r>
              <a:rPr lang="es-AR" sz="2000" dirty="0"/>
              <a:t>o Clases se pueden </a:t>
            </a:r>
            <a:r>
              <a:rPr lang="es-AR" sz="2000" dirty="0" err="1"/>
              <a:t>tipar</a:t>
            </a:r>
            <a:r>
              <a:rPr lang="es-AR" sz="2000" dirty="0"/>
              <a:t> las </a:t>
            </a:r>
            <a:r>
              <a:rPr lang="es-AR" sz="2000" dirty="0" smtClean="0"/>
              <a:t>vistas con </a:t>
            </a:r>
            <a:r>
              <a:rPr lang="es-AR" sz="2000" dirty="0"/>
              <a:t>lo cual para que esa </a:t>
            </a:r>
            <a:r>
              <a:rPr lang="es-AR" sz="2000" dirty="0" smtClean="0"/>
              <a:t>vista se </a:t>
            </a:r>
            <a:r>
              <a:rPr lang="es-AR" sz="2000" dirty="0" err="1"/>
              <a:t>renderice</a:t>
            </a:r>
            <a:r>
              <a:rPr lang="es-AR" sz="2000" dirty="0"/>
              <a:t> es necesario pasarle una instancia de esa </a:t>
            </a:r>
            <a:r>
              <a:rPr lang="es-AR" sz="2000" dirty="0" smtClean="0"/>
              <a:t>clase.</a:t>
            </a:r>
          </a:p>
          <a:p>
            <a:pPr lvl="1"/>
            <a:endParaRPr lang="es-ES" sz="2000" dirty="0" smtClean="0"/>
          </a:p>
          <a:p>
            <a:pPr lvl="1"/>
            <a:endParaRPr lang="es-AR" sz="2000" dirty="0"/>
          </a:p>
        </p:txBody>
      </p:sp>
    </p:spTree>
    <p:extLst>
      <p:ext uri="{BB962C8B-B14F-4D97-AF65-F5344CB8AC3E}">
        <p14:creationId xmlns:p14="http://schemas.microsoft.com/office/powerpoint/2010/main" val="19289827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4777" y="2055820"/>
            <a:ext cx="7325253" cy="2879044"/>
          </a:xfrm>
        </p:spPr>
        <p:txBody>
          <a:bodyPr>
            <a:normAutofit/>
          </a:bodyPr>
          <a:lstStyle/>
          <a:p>
            <a:r>
              <a:rPr lang="es-AR" sz="2400" dirty="0" smtClean="0"/>
              <a:t>Agregar </a:t>
            </a:r>
            <a:r>
              <a:rPr lang="es-AR" sz="2400" dirty="0"/>
              <a:t>a la vista de </a:t>
            </a:r>
            <a:r>
              <a:rPr lang="es-AR" sz="2400" dirty="0" smtClean="0"/>
              <a:t>géneros </a:t>
            </a:r>
            <a:r>
              <a:rPr lang="es-AR" sz="2400" dirty="0"/>
              <a:t>una </a:t>
            </a:r>
            <a:r>
              <a:rPr lang="es-AR" sz="2400" dirty="0" smtClean="0"/>
              <a:t> lista </a:t>
            </a:r>
            <a:r>
              <a:rPr lang="es-AR" sz="2400" dirty="0"/>
              <a:t>con todos los </a:t>
            </a:r>
            <a:r>
              <a:rPr lang="es-AR" sz="2400" dirty="0" err="1" smtClean="0"/>
              <a:t>generos</a:t>
            </a:r>
            <a:r>
              <a:rPr lang="es-AR" sz="2400" dirty="0" smtClean="0"/>
              <a:t>. Utilizar </a:t>
            </a:r>
            <a:r>
              <a:rPr lang="es-AR" sz="2400" dirty="0"/>
              <a:t>el </a:t>
            </a:r>
            <a:r>
              <a:rPr lang="es-AR" sz="2400" dirty="0" err="1"/>
              <a:t>patron</a:t>
            </a:r>
            <a:r>
              <a:rPr lang="es-AR" sz="2400" dirty="0"/>
              <a:t> de MVVM adaptado a MVC, para lo cual hay que agregar un </a:t>
            </a:r>
            <a:r>
              <a:rPr lang="es-AR" sz="2400" dirty="0" err="1"/>
              <a:t>ViewModel</a:t>
            </a:r>
            <a:r>
              <a:rPr lang="es-AR" sz="2400" dirty="0"/>
              <a:t> </a:t>
            </a:r>
            <a:r>
              <a:rPr lang="es-AR" sz="2400" dirty="0" smtClean="0"/>
              <a:t>para </a:t>
            </a:r>
            <a:r>
              <a:rPr lang="es-AR" sz="2400" dirty="0"/>
              <a:t>dicha vista</a:t>
            </a:r>
            <a:r>
              <a:rPr lang="es-AR" sz="2400" dirty="0" smtClean="0"/>
              <a:t>.</a:t>
            </a:r>
          </a:p>
          <a:p>
            <a:r>
              <a:rPr lang="es-ES" sz="2400" dirty="0" smtClean="0"/>
              <a:t>Ayuda: El </a:t>
            </a:r>
            <a:r>
              <a:rPr lang="es-ES" sz="2400" dirty="0" err="1" smtClean="0"/>
              <a:t>ViewModel</a:t>
            </a:r>
            <a:r>
              <a:rPr lang="es-ES" sz="2400" dirty="0" smtClean="0"/>
              <a:t> debe representar la lista de </a:t>
            </a:r>
            <a:r>
              <a:rPr lang="es-ES" sz="2400" dirty="0" err="1" smtClean="0"/>
              <a:t>generos</a:t>
            </a:r>
            <a:r>
              <a:rPr lang="es-ES" sz="2400" dirty="0" smtClean="0"/>
              <a:t>. </a:t>
            </a:r>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106" y="2489979"/>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0310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r>
              <a:rPr lang="es-AR" dirty="0" smtClean="0"/>
              <a:t> </a:t>
            </a:r>
            <a:r>
              <a:rPr lang="es-AR" dirty="0" err="1" smtClean="0"/>
              <a:t>tipados</a:t>
            </a:r>
            <a:endParaRPr lang="en-US" dirty="0"/>
          </a:p>
        </p:txBody>
      </p:sp>
      <p:sp>
        <p:nvSpPr>
          <p:cNvPr id="8" name="Content Placeholder 2"/>
          <p:cNvSpPr>
            <a:spLocks noGrp="1"/>
          </p:cNvSpPr>
          <p:nvPr>
            <p:ph idx="1"/>
          </p:nvPr>
        </p:nvSpPr>
        <p:spPr>
          <a:xfrm>
            <a:off x="633984" y="1027114"/>
            <a:ext cx="9817723" cy="5496516"/>
          </a:xfrm>
        </p:spPr>
        <p:txBody>
          <a:bodyPr>
            <a:noAutofit/>
          </a:bodyPr>
          <a:lstStyle/>
          <a:p>
            <a:pPr lvl="1"/>
            <a:r>
              <a:rPr lang="en-US" sz="1400" b="1" dirty="0" err="1" smtClean="0"/>
              <a:t>TextBox</a:t>
            </a:r>
            <a:r>
              <a:rPr lang="en-US" sz="1400" dirty="0"/>
              <a:t>	</a:t>
            </a:r>
          </a:p>
          <a:p>
            <a:pPr marL="0" indent="0">
              <a:buNone/>
            </a:pPr>
            <a:r>
              <a:rPr lang="en-US" sz="1400" dirty="0"/>
              <a:t> </a:t>
            </a:r>
            <a:r>
              <a:rPr lang="en-US" sz="1400" dirty="0" smtClean="0"/>
              <a:t>    @</a:t>
            </a:r>
            <a:r>
              <a:rPr lang="en-US" sz="1400" dirty="0" err="1"/>
              <a:t>Html.TextBoxFor</a:t>
            </a:r>
            <a:r>
              <a:rPr lang="en-US" sz="1400" dirty="0"/>
              <a:t>(m=&gt;</a:t>
            </a:r>
            <a:r>
              <a:rPr lang="en-US" sz="1400" dirty="0" err="1"/>
              <a:t>m.Name</a:t>
            </a:r>
            <a:r>
              <a:rPr lang="en-US" sz="1400" dirty="0"/>
              <a:t>) </a:t>
            </a:r>
          </a:p>
          <a:p>
            <a:pPr marL="0" indent="0">
              <a:buNone/>
            </a:pPr>
            <a:r>
              <a:rPr lang="en-US" sz="1400" dirty="0"/>
              <a:t> </a:t>
            </a:r>
            <a:r>
              <a:rPr lang="en-US" sz="1400" dirty="0" smtClean="0"/>
              <a:t>    &lt;</a:t>
            </a:r>
            <a:r>
              <a:rPr lang="en-US" sz="1400" dirty="0"/>
              <a:t>input id="Name" name="Name" type="text" value="Name-</a:t>
            </a:r>
            <a:r>
              <a:rPr lang="en-US" sz="1400" dirty="0" err="1"/>
              <a:t>val</a:t>
            </a:r>
            <a:r>
              <a:rPr lang="en-US" sz="1400" dirty="0"/>
              <a:t>" /&gt;</a:t>
            </a:r>
          </a:p>
          <a:p>
            <a:pPr marL="0" indent="0">
              <a:buNone/>
            </a:pPr>
            <a:endParaRPr lang="en-US" sz="1400" dirty="0"/>
          </a:p>
          <a:p>
            <a:pPr lvl="1"/>
            <a:r>
              <a:rPr lang="en-US" sz="1400" b="1" dirty="0" err="1"/>
              <a:t>TextArea</a:t>
            </a:r>
            <a:endParaRPr lang="en-US" sz="1400" b="1" dirty="0"/>
          </a:p>
          <a:p>
            <a:pPr marL="0" indent="0">
              <a:buNone/>
            </a:pPr>
            <a:r>
              <a:rPr lang="en-US" sz="1400" dirty="0"/>
              <a:t> </a:t>
            </a:r>
            <a:r>
              <a:rPr lang="en-US" sz="1400" dirty="0" smtClean="0"/>
              <a:t>    @</a:t>
            </a:r>
            <a:r>
              <a:rPr lang="en-US" sz="1400" dirty="0" err="1"/>
              <a:t>Html.TextArea</a:t>
            </a:r>
            <a:r>
              <a:rPr lang="en-US" sz="1400" dirty="0"/>
              <a:t>(m=&gt;</a:t>
            </a:r>
            <a:r>
              <a:rPr lang="en-US" sz="1400" dirty="0" err="1"/>
              <a:t>m.Address</a:t>
            </a:r>
            <a:r>
              <a:rPr lang="en-US" sz="1400" dirty="0"/>
              <a:t> , 5, 15, new{})) </a:t>
            </a:r>
          </a:p>
          <a:p>
            <a:pPr marL="0" indent="0">
              <a:buNone/>
            </a:pPr>
            <a:r>
              <a:rPr lang="en-US" sz="1400" dirty="0"/>
              <a:t> </a:t>
            </a:r>
            <a:r>
              <a:rPr lang="en-US" sz="1400" dirty="0" smtClean="0"/>
              <a:t>    &lt;</a:t>
            </a:r>
            <a:r>
              <a:rPr lang="en-US" sz="1400" dirty="0" err="1"/>
              <a:t>textarea</a:t>
            </a:r>
            <a:r>
              <a:rPr lang="en-US" sz="1400" dirty="0"/>
              <a:t> cols="15" id="Address" name=" Address " rows="5"&gt;</a:t>
            </a:r>
            <a:r>
              <a:rPr lang="en-US" sz="1400" dirty="0" err="1"/>
              <a:t>Addressvalue</a:t>
            </a:r>
            <a:r>
              <a:rPr lang="en-US" sz="1400" dirty="0"/>
              <a:t>&lt;/</a:t>
            </a:r>
            <a:r>
              <a:rPr lang="en-US" sz="1400" dirty="0" err="1"/>
              <a:t>textarea</a:t>
            </a:r>
            <a:r>
              <a:rPr lang="en-US" sz="1400" dirty="0"/>
              <a:t>&gt;</a:t>
            </a:r>
          </a:p>
          <a:p>
            <a:pPr marL="0" indent="0">
              <a:buNone/>
            </a:pPr>
            <a:endParaRPr lang="en-US" sz="1400" dirty="0"/>
          </a:p>
          <a:p>
            <a:pPr lvl="1"/>
            <a:r>
              <a:rPr lang="en-US" sz="1400" b="1" dirty="0"/>
              <a:t>Password</a:t>
            </a:r>
            <a:r>
              <a:rPr lang="en-US" sz="1400" dirty="0"/>
              <a:t>	</a:t>
            </a:r>
            <a:endParaRPr lang="en-US" sz="1400" dirty="0" smtClean="0"/>
          </a:p>
          <a:p>
            <a:pPr lvl="1" indent="0">
              <a:buNone/>
            </a:pPr>
            <a:r>
              <a:rPr lang="en-US" sz="1400" dirty="0" smtClean="0"/>
              <a:t>     @</a:t>
            </a:r>
            <a:r>
              <a:rPr lang="en-US" sz="1400" dirty="0" err="1"/>
              <a:t>Html.PasswordFor</a:t>
            </a:r>
            <a:r>
              <a:rPr lang="en-US" sz="1400" dirty="0"/>
              <a:t>(m=&gt;</a:t>
            </a:r>
            <a:r>
              <a:rPr lang="en-US" sz="1400" dirty="0" err="1"/>
              <a:t>m.Password</a:t>
            </a:r>
            <a:r>
              <a:rPr lang="en-US" sz="1400" dirty="0"/>
              <a:t>) </a:t>
            </a:r>
          </a:p>
          <a:p>
            <a:pPr marL="0" indent="0">
              <a:buNone/>
            </a:pPr>
            <a:r>
              <a:rPr lang="en-US" sz="1400" dirty="0"/>
              <a:t> </a:t>
            </a:r>
            <a:r>
              <a:rPr lang="en-US" sz="1400" dirty="0" smtClean="0"/>
              <a:t>    &lt;</a:t>
            </a:r>
            <a:r>
              <a:rPr lang="en-US" sz="1400" dirty="0"/>
              <a:t>input id="Password" name="Password" type="password"/&gt;</a:t>
            </a:r>
          </a:p>
          <a:p>
            <a:pPr marL="0" indent="0">
              <a:buNone/>
            </a:pPr>
            <a:endParaRPr lang="en-US" sz="1400" dirty="0"/>
          </a:p>
          <a:p>
            <a:pPr lvl="1"/>
            <a:r>
              <a:rPr lang="en-US" sz="1400" b="1" dirty="0"/>
              <a:t>Hidden Field</a:t>
            </a:r>
            <a:r>
              <a:rPr lang="en-US" sz="1400" dirty="0"/>
              <a:t>	</a:t>
            </a:r>
          </a:p>
          <a:p>
            <a:pPr marL="0" indent="0">
              <a:buNone/>
            </a:pPr>
            <a:r>
              <a:rPr lang="en-US" sz="1400" dirty="0"/>
              <a:t> </a:t>
            </a:r>
            <a:r>
              <a:rPr lang="en-US" sz="1400" dirty="0" smtClean="0"/>
              <a:t>    @</a:t>
            </a:r>
            <a:r>
              <a:rPr lang="en-US" sz="1400" dirty="0" err="1"/>
              <a:t>Html.HiddenFor</a:t>
            </a:r>
            <a:r>
              <a:rPr lang="en-US" sz="1400" dirty="0"/>
              <a:t>(m=&gt;</a:t>
            </a:r>
            <a:r>
              <a:rPr lang="en-US" sz="1400" dirty="0" err="1"/>
              <a:t>m.UserId</a:t>
            </a:r>
            <a:r>
              <a:rPr lang="en-US" sz="1400" dirty="0"/>
              <a:t>) </a:t>
            </a:r>
          </a:p>
          <a:p>
            <a:pPr marL="0" indent="0">
              <a:buNone/>
            </a:pPr>
            <a:r>
              <a:rPr lang="en-US" sz="1400" dirty="0"/>
              <a:t> </a:t>
            </a:r>
            <a:r>
              <a:rPr lang="en-US" sz="1400" dirty="0" smtClean="0"/>
              <a:t>    &lt;input </a:t>
            </a:r>
            <a:r>
              <a:rPr lang="en-US" sz="1400" dirty="0"/>
              <a:t>id=" </a:t>
            </a:r>
            <a:r>
              <a:rPr lang="en-US" sz="1400" dirty="0" err="1"/>
              <a:t>UserId</a:t>
            </a:r>
            <a:r>
              <a:rPr lang="en-US" sz="1400" dirty="0"/>
              <a:t>" name=" </a:t>
            </a:r>
            <a:r>
              <a:rPr lang="en-US" sz="1400" dirty="0" err="1"/>
              <a:t>UserId</a:t>
            </a:r>
            <a:r>
              <a:rPr lang="en-US" sz="1400" dirty="0"/>
              <a:t>" type="hidden" value="</a:t>
            </a:r>
            <a:r>
              <a:rPr lang="en-US" sz="1400" dirty="0" err="1"/>
              <a:t>UserId-val</a:t>
            </a:r>
            <a:r>
              <a:rPr lang="en-US" sz="1400" dirty="0"/>
              <a:t>" /&gt;</a:t>
            </a:r>
          </a:p>
          <a:p>
            <a:endParaRPr lang="en-US" sz="1400" dirty="0"/>
          </a:p>
        </p:txBody>
      </p:sp>
    </p:spTree>
    <p:extLst>
      <p:ext uri="{BB962C8B-B14F-4D97-AF65-F5344CB8AC3E}">
        <p14:creationId xmlns:p14="http://schemas.microsoft.com/office/powerpoint/2010/main" val="22513158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err="1"/>
              <a:t>Html</a:t>
            </a:r>
            <a:r>
              <a:rPr lang="es-AR" dirty="0"/>
              <a:t> </a:t>
            </a:r>
            <a:r>
              <a:rPr lang="es-AR" dirty="0" err="1" smtClean="0"/>
              <a:t>Helpers</a:t>
            </a:r>
            <a:r>
              <a:rPr lang="es-AR" dirty="0" smtClean="0"/>
              <a:t> </a:t>
            </a:r>
            <a:r>
              <a:rPr lang="es-AR" dirty="0" err="1" smtClean="0"/>
              <a:t>tipados</a:t>
            </a:r>
            <a:endParaRPr lang="en-US" dirty="0"/>
          </a:p>
        </p:txBody>
      </p:sp>
      <p:sp>
        <p:nvSpPr>
          <p:cNvPr id="8" name="Content Placeholder 2"/>
          <p:cNvSpPr>
            <a:spLocks noGrp="1"/>
          </p:cNvSpPr>
          <p:nvPr>
            <p:ph idx="1"/>
          </p:nvPr>
        </p:nvSpPr>
        <p:spPr>
          <a:xfrm>
            <a:off x="633984" y="1027114"/>
            <a:ext cx="11265407" cy="5623068"/>
          </a:xfrm>
        </p:spPr>
        <p:txBody>
          <a:bodyPr>
            <a:noAutofit/>
          </a:bodyPr>
          <a:lstStyle/>
          <a:p>
            <a:pPr lvl="1"/>
            <a:r>
              <a:rPr lang="en-US" sz="1400" b="1" dirty="0" err="1" smtClean="0"/>
              <a:t>CheckBox</a:t>
            </a:r>
            <a:endParaRPr lang="en-US" sz="1400" dirty="0"/>
          </a:p>
          <a:p>
            <a:pPr lvl="1" indent="0">
              <a:buNone/>
            </a:pPr>
            <a:r>
              <a:rPr lang="en-US" sz="1400" dirty="0"/>
              <a:t> </a:t>
            </a:r>
            <a:r>
              <a:rPr lang="en-US" sz="1400" dirty="0" smtClean="0"/>
              <a:t>    @</a:t>
            </a:r>
            <a:r>
              <a:rPr lang="en-US" sz="1400" dirty="0" err="1" smtClean="0"/>
              <a:t>Html.CheckBoxFor</a:t>
            </a:r>
            <a:r>
              <a:rPr lang="en-US" sz="1400" dirty="0" smtClean="0"/>
              <a:t>(m </a:t>
            </a:r>
            <a:r>
              <a:rPr lang="en-US" sz="1400" dirty="0"/>
              <a:t>=&gt; </a:t>
            </a:r>
            <a:r>
              <a:rPr lang="en-US" sz="1400" dirty="0" err="1"/>
              <a:t>m.IsApproved</a:t>
            </a:r>
            <a:r>
              <a:rPr lang="en-US" sz="1400" dirty="0"/>
              <a:t>) </a:t>
            </a:r>
          </a:p>
          <a:p>
            <a:pPr marL="0" indent="0">
              <a:buNone/>
            </a:pPr>
            <a:r>
              <a:rPr lang="en-US" sz="1400" dirty="0" smtClean="0"/>
              <a:t>     &lt;</a:t>
            </a:r>
            <a:r>
              <a:rPr lang="en-US" sz="1400" dirty="0"/>
              <a:t>input id="Checkbox1" name="Checkbox1" type="checkbox" value="true" /&gt; &lt;input name="</a:t>
            </a:r>
            <a:r>
              <a:rPr lang="en-US" sz="1400" dirty="0" err="1"/>
              <a:t>myCheckbox</a:t>
            </a:r>
            <a:r>
              <a:rPr lang="en-US" sz="1400" dirty="0"/>
              <a:t>" type="hidden" value="false" /&gt;</a:t>
            </a:r>
          </a:p>
          <a:p>
            <a:pPr marL="0" indent="0">
              <a:buNone/>
            </a:pPr>
            <a:endParaRPr lang="en-US" sz="1400" dirty="0"/>
          </a:p>
          <a:p>
            <a:pPr lvl="1"/>
            <a:r>
              <a:rPr lang="en-US" sz="1400" b="1" dirty="0" err="1"/>
              <a:t>RadioButton</a:t>
            </a:r>
            <a:r>
              <a:rPr lang="en-US" sz="1400" dirty="0"/>
              <a:t>	</a:t>
            </a:r>
            <a:endParaRPr lang="en-US" sz="1400" dirty="0" smtClean="0"/>
          </a:p>
          <a:p>
            <a:pPr lvl="1" indent="0">
              <a:buNone/>
            </a:pPr>
            <a:r>
              <a:rPr lang="en-US" sz="1400" dirty="0"/>
              <a:t> </a:t>
            </a:r>
            <a:r>
              <a:rPr lang="en-US" sz="1400" dirty="0" smtClean="0"/>
              <a:t>    @</a:t>
            </a:r>
            <a:r>
              <a:rPr lang="en-US" sz="1400" dirty="0" err="1"/>
              <a:t>Html.RadioButtonFor</a:t>
            </a:r>
            <a:r>
              <a:rPr lang="en-US" sz="1400" dirty="0"/>
              <a:t>(m =&gt; </a:t>
            </a:r>
            <a:r>
              <a:rPr lang="en-US" sz="1400" dirty="0" err="1"/>
              <a:t>m.IsApproved</a:t>
            </a:r>
            <a:r>
              <a:rPr lang="en-US" sz="1400" dirty="0"/>
              <a:t>, "</a:t>
            </a:r>
            <a:r>
              <a:rPr lang="en-US" sz="1400" dirty="0" err="1"/>
              <a:t>val</a:t>
            </a:r>
            <a:r>
              <a:rPr lang="en-US" sz="1400" dirty="0"/>
              <a:t>") </a:t>
            </a:r>
          </a:p>
          <a:p>
            <a:pPr marL="0" indent="0">
              <a:buNone/>
            </a:pPr>
            <a:r>
              <a:rPr lang="en-US" sz="1400" dirty="0"/>
              <a:t> </a:t>
            </a:r>
            <a:r>
              <a:rPr lang="en-US" sz="1400" dirty="0" smtClean="0"/>
              <a:t>    &lt;input </a:t>
            </a:r>
            <a:r>
              <a:rPr lang="en-US" sz="1400" dirty="0"/>
              <a:t>checked="checked" id="Radiobutton1" name="Radiobutton1" type="radio" value="</a:t>
            </a:r>
            <a:r>
              <a:rPr lang="en-US" sz="1400" dirty="0" err="1"/>
              <a:t>val</a:t>
            </a:r>
            <a:r>
              <a:rPr lang="en-US" sz="1400" dirty="0"/>
              <a:t>" /&gt;</a:t>
            </a:r>
          </a:p>
          <a:p>
            <a:pPr marL="0" indent="0">
              <a:buNone/>
            </a:pPr>
            <a:endParaRPr lang="en-US" sz="1400" dirty="0"/>
          </a:p>
          <a:p>
            <a:pPr lvl="1"/>
            <a:r>
              <a:rPr lang="en-US" sz="1400" b="1" dirty="0"/>
              <a:t>Drop-down list</a:t>
            </a:r>
            <a:r>
              <a:rPr lang="en-US" sz="1400" dirty="0"/>
              <a:t>	</a:t>
            </a:r>
          </a:p>
          <a:p>
            <a:pPr marL="228600" lvl="1" indent="0">
              <a:buNone/>
            </a:pPr>
            <a:r>
              <a:rPr lang="en-US" sz="1400" dirty="0"/>
              <a:t> </a:t>
            </a:r>
            <a:r>
              <a:rPr lang="en-US" sz="1400" dirty="0" smtClean="0"/>
              <a:t>@</a:t>
            </a:r>
            <a:r>
              <a:rPr lang="en-US" sz="1400" dirty="0" err="1"/>
              <a:t>Html.DropDownListFor</a:t>
            </a:r>
            <a:r>
              <a:rPr lang="en-US" sz="1400" dirty="0"/>
              <a:t>(m =&gt; </a:t>
            </a:r>
            <a:r>
              <a:rPr lang="en-US" sz="1400" dirty="0" err="1"/>
              <a:t>m.Gender</a:t>
            </a:r>
            <a:r>
              <a:rPr lang="en-US" sz="1400" dirty="0"/>
              <a:t>, new </a:t>
            </a:r>
            <a:r>
              <a:rPr lang="en-US" sz="1400" dirty="0" err="1"/>
              <a:t>SelectList</a:t>
            </a:r>
            <a:r>
              <a:rPr lang="en-US" sz="1400" dirty="0"/>
              <a:t>(new [] {"Male", "Female"})) </a:t>
            </a:r>
          </a:p>
          <a:p>
            <a:pPr marL="0" indent="0">
              <a:buNone/>
            </a:pPr>
            <a:r>
              <a:rPr lang="en-US" sz="1400" dirty="0"/>
              <a:t> </a:t>
            </a:r>
            <a:r>
              <a:rPr lang="en-US" sz="1400" dirty="0" smtClean="0"/>
              <a:t>     &lt;</a:t>
            </a:r>
            <a:r>
              <a:rPr lang="en-US" sz="1400" dirty="0"/>
              <a:t>select id="Gender" name="Gender"&gt; &lt;option&gt;Male&lt;/option&gt; &lt;option&gt;Female&lt;/option&gt; &lt;/select&gt;</a:t>
            </a:r>
          </a:p>
          <a:p>
            <a:pPr marL="0" indent="0">
              <a:buNone/>
            </a:pPr>
            <a:endParaRPr lang="en-US" sz="1400" dirty="0"/>
          </a:p>
          <a:p>
            <a:pPr lvl="1"/>
            <a:r>
              <a:rPr lang="en-US" sz="1400" b="1" dirty="0"/>
              <a:t>Multiple-select</a:t>
            </a:r>
            <a:r>
              <a:rPr lang="en-US" sz="1400" dirty="0"/>
              <a:t>	</a:t>
            </a:r>
          </a:p>
          <a:p>
            <a:pPr marL="228600" lvl="1" indent="0">
              <a:buNone/>
            </a:pPr>
            <a:r>
              <a:rPr lang="en-US" sz="1400" dirty="0"/>
              <a:t> </a:t>
            </a:r>
            <a:r>
              <a:rPr lang="en-US" sz="1400" dirty="0" smtClean="0"/>
              <a:t>@</a:t>
            </a:r>
            <a:r>
              <a:rPr lang="en-US" sz="1400" dirty="0" err="1"/>
              <a:t>Html.ListBoxFor</a:t>
            </a:r>
            <a:r>
              <a:rPr lang="en-US" sz="1400" dirty="0"/>
              <a:t>(m =&gt; </a:t>
            </a:r>
            <a:r>
              <a:rPr lang="en-US" sz="1400" dirty="0" err="1"/>
              <a:t>m.Hobbies</a:t>
            </a:r>
            <a:r>
              <a:rPr lang="en-US" sz="1400" dirty="0"/>
              <a:t>, new </a:t>
            </a:r>
            <a:r>
              <a:rPr lang="en-US" sz="1400" dirty="0" err="1"/>
              <a:t>MultiSelectList</a:t>
            </a:r>
            <a:r>
              <a:rPr lang="en-US" sz="1400" dirty="0"/>
              <a:t>(new [] {"Cricket", "Chess"})) </a:t>
            </a:r>
          </a:p>
          <a:p>
            <a:pPr marL="0" indent="0">
              <a:buNone/>
            </a:pPr>
            <a:r>
              <a:rPr lang="en-US" sz="1400" dirty="0" smtClean="0"/>
              <a:t>      &lt;</a:t>
            </a:r>
            <a:r>
              <a:rPr lang="en-US" sz="1400" dirty="0"/>
              <a:t>select id="Hobbies" multiple="multiple" name="Hobbies"&gt; &lt;option&gt;Cricket&lt;/option&gt; &lt;option&gt;Chess&lt;/option&gt; &lt;/select&gt;</a:t>
            </a:r>
          </a:p>
          <a:p>
            <a:endParaRPr lang="en-US" sz="1400" dirty="0"/>
          </a:p>
        </p:txBody>
      </p:sp>
    </p:spTree>
    <p:extLst>
      <p:ext uri="{BB962C8B-B14F-4D97-AF65-F5344CB8AC3E}">
        <p14:creationId xmlns:p14="http://schemas.microsoft.com/office/powerpoint/2010/main" val="20002910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974" y="347472"/>
            <a:ext cx="11265408" cy="296842"/>
          </a:xfrm>
        </p:spPr>
        <p:txBody>
          <a:bodyPr/>
          <a:lstStyle/>
          <a:p>
            <a:r>
              <a:rPr lang="es-AR" dirty="0" err="1" smtClean="0"/>
              <a:t>HttpGet</a:t>
            </a:r>
            <a:r>
              <a:rPr lang="es-AR" dirty="0" smtClean="0"/>
              <a:t> / </a:t>
            </a:r>
            <a:r>
              <a:rPr lang="es-AR" dirty="0" err="1" smtClean="0"/>
              <a:t>HttpPost</a:t>
            </a:r>
            <a:endParaRPr lang="en-US" dirty="0"/>
          </a:p>
        </p:txBody>
      </p:sp>
      <p:sp>
        <p:nvSpPr>
          <p:cNvPr id="3" name="Content Placeholder 2"/>
          <p:cNvSpPr>
            <a:spLocks noGrp="1"/>
          </p:cNvSpPr>
          <p:nvPr>
            <p:ph idx="1"/>
          </p:nvPr>
        </p:nvSpPr>
        <p:spPr>
          <a:xfrm>
            <a:off x="648973" y="1214652"/>
            <a:ext cx="11220059" cy="968990"/>
          </a:xfrm>
        </p:spPr>
        <p:txBody>
          <a:bodyPr>
            <a:noAutofit/>
          </a:bodyPr>
          <a:lstStyle/>
          <a:p>
            <a:r>
              <a:rPr lang="en-US" sz="2000" dirty="0" err="1" smtClean="0"/>
              <a:t>HttpGet</a:t>
            </a:r>
            <a:r>
              <a:rPr lang="en-US" sz="2000" dirty="0" smtClean="0"/>
              <a:t> : En </a:t>
            </a:r>
            <a:r>
              <a:rPr lang="en-US" sz="2000" dirty="0" err="1" smtClean="0"/>
              <a:t>gral</a:t>
            </a:r>
            <a:r>
              <a:rPr lang="en-US" sz="2000" dirty="0" smtClean="0"/>
              <a:t>, se </a:t>
            </a:r>
            <a:r>
              <a:rPr lang="en-US" sz="2000" dirty="0" err="1" smtClean="0"/>
              <a:t>ejecuta</a:t>
            </a:r>
            <a:r>
              <a:rPr lang="en-US" sz="2000" dirty="0" smtClean="0"/>
              <a:t> en el primer </a:t>
            </a:r>
            <a:r>
              <a:rPr lang="en-US" sz="2000" dirty="0" err="1" smtClean="0"/>
              <a:t>requerimiento</a:t>
            </a:r>
            <a:r>
              <a:rPr lang="en-US" sz="2000" dirty="0" smtClean="0"/>
              <a:t> a un </a:t>
            </a:r>
            <a:r>
              <a:rPr lang="en-US" sz="2000" dirty="0" err="1" smtClean="0"/>
              <a:t>método</a:t>
            </a:r>
            <a:r>
              <a:rPr lang="en-US" sz="2000" dirty="0" smtClean="0"/>
              <a:t>.</a:t>
            </a:r>
          </a:p>
          <a:p>
            <a:r>
              <a:rPr lang="en-US" sz="2000" dirty="0" err="1" smtClean="0"/>
              <a:t>HttpPost</a:t>
            </a:r>
            <a:r>
              <a:rPr lang="en-US" sz="2000" dirty="0" smtClean="0"/>
              <a:t>: En </a:t>
            </a:r>
            <a:r>
              <a:rPr lang="en-US" sz="2000" dirty="0" err="1" smtClean="0"/>
              <a:t>gral</a:t>
            </a:r>
            <a:r>
              <a:rPr lang="en-US" sz="2000" dirty="0" smtClean="0"/>
              <a:t>, se </a:t>
            </a:r>
            <a:r>
              <a:rPr lang="en-US" sz="2000" dirty="0" err="1" smtClean="0"/>
              <a:t>ejecuta</a:t>
            </a:r>
            <a:r>
              <a:rPr lang="en-US" sz="2000" dirty="0" smtClean="0"/>
              <a:t> </a:t>
            </a:r>
            <a:r>
              <a:rPr lang="en-US" sz="2000" dirty="0" err="1" smtClean="0"/>
              <a:t>cuando</a:t>
            </a:r>
            <a:r>
              <a:rPr lang="en-US" sz="2000" dirty="0" smtClean="0"/>
              <a:t> se </a:t>
            </a:r>
            <a:r>
              <a:rPr lang="en-US" sz="2000" dirty="0" err="1" smtClean="0"/>
              <a:t>efectúa</a:t>
            </a:r>
            <a:r>
              <a:rPr lang="en-US" sz="2000" dirty="0" smtClean="0"/>
              <a:t> un submit de un </a:t>
            </a:r>
            <a:r>
              <a:rPr lang="en-US" sz="2000" dirty="0" err="1" smtClean="0"/>
              <a:t>formulario</a:t>
            </a:r>
            <a:r>
              <a:rPr lang="en-US" sz="2000" dirty="0" smtClean="0"/>
              <a:t> MVC.</a:t>
            </a:r>
          </a:p>
          <a:p>
            <a:endParaRPr lang="en-US" sz="1600" dirty="0"/>
          </a:p>
          <a:p>
            <a:pPr indent="0">
              <a:buNone/>
            </a:pPr>
            <a:r>
              <a:rPr lang="en-US" sz="1600" b="1" dirty="0" err="1" smtClean="0"/>
              <a:t>Controlador</a:t>
            </a:r>
            <a:r>
              <a:rPr lang="en-US" sz="1600" b="1" dirty="0" smtClean="0"/>
              <a:t>		</a:t>
            </a:r>
            <a:r>
              <a:rPr lang="en-US" sz="1600" b="1" dirty="0"/>
              <a:t>	</a:t>
            </a:r>
            <a:r>
              <a:rPr lang="en-US" sz="1600" b="1" dirty="0" smtClean="0"/>
              <a:t>	    Vista</a:t>
            </a:r>
            <a:endParaRPr lang="en-US" sz="1600" b="1" dirty="0"/>
          </a:p>
          <a:p>
            <a:pPr indent="0">
              <a:buNone/>
            </a:pPr>
            <a:endParaRPr lang="en-US" sz="1600" b="1" dirty="0" smtClean="0"/>
          </a:p>
          <a:p>
            <a:endParaRPr lang="en-US" sz="1600" dirty="0" smtClean="0"/>
          </a:p>
          <a:p>
            <a:pPr indent="0">
              <a:buNone/>
            </a:pPr>
            <a:endParaRPr lang="en-US" sz="1600" dirty="0"/>
          </a:p>
          <a:p>
            <a:pPr indent="0">
              <a:buNone/>
            </a:pPr>
            <a:endParaRPr lang="en-US" sz="1600" dirty="0"/>
          </a:p>
        </p:txBody>
      </p:sp>
      <p:sp>
        <p:nvSpPr>
          <p:cNvPr id="4" name="Rectangle 3"/>
          <p:cNvSpPr/>
          <p:nvPr/>
        </p:nvSpPr>
        <p:spPr>
          <a:xfrm>
            <a:off x="100081" y="2799516"/>
            <a:ext cx="6096000" cy="1323439"/>
          </a:xfrm>
          <a:prstGeom prst="rect">
            <a:avLst/>
          </a:prstGeom>
        </p:spPr>
        <p:txBody>
          <a:bodyPr>
            <a:spAutoFit/>
          </a:bodyPr>
          <a:lstStyle/>
          <a:p>
            <a:r>
              <a:rPr lang="en-US" sz="1600" dirty="0">
                <a:solidFill>
                  <a:srgbClr val="000000"/>
                </a:solidFill>
                <a:latin typeface="Verdana" panose="020B0604030504040204" pitchFamily="34" charset="0"/>
              </a:rPr>
              <a:t>        [</a:t>
            </a:r>
            <a:r>
              <a:rPr lang="en-US" sz="1600" dirty="0" err="1">
                <a:solidFill>
                  <a:srgbClr val="2B91AF"/>
                </a:solidFill>
                <a:latin typeface="Verdana" panose="020B0604030504040204" pitchFamily="34" charset="0"/>
              </a:rPr>
              <a:t>HttpGet</a:t>
            </a:r>
            <a:r>
              <a:rPr lang="en-US" sz="1600" dirty="0">
                <a:solidFill>
                  <a:srgbClr val="000000"/>
                </a:solidFill>
                <a:latin typeface="Verdana" panose="020B0604030504040204" pitchFamily="34" charset="0"/>
              </a:rPr>
              <a:t>]</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err="1">
                <a:solidFill>
                  <a:srgbClr val="0000FF"/>
                </a:solidFill>
                <a:latin typeface="Verdana" panose="020B0604030504040204" pitchFamily="34" charset="0"/>
              </a:rPr>
              <a:t>public</a:t>
            </a:r>
            <a:r>
              <a:rPr lang="en-US" sz="1600" dirty="0" err="1">
                <a:solidFill>
                  <a:srgbClr val="2B91AF"/>
                </a:solidFill>
                <a:latin typeface="Verdana" panose="020B0604030504040204" pitchFamily="34" charset="0"/>
              </a:rPr>
              <a:t>ViewResult</a:t>
            </a:r>
            <a:r>
              <a:rPr lang="en-US" sz="1600" dirty="0">
                <a:solidFill>
                  <a:srgbClr val="000000"/>
                </a:solidFill>
                <a:latin typeface="Verdana" panose="020B0604030504040204" pitchFamily="34" charset="0"/>
              </a:rPr>
              <a:t> Index()</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a:solidFill>
                  <a:srgbClr val="0000FF"/>
                </a:solidFill>
                <a:latin typeface="Verdana" panose="020B0604030504040204" pitchFamily="34" charset="0"/>
              </a:rPr>
              <a:t>return</a:t>
            </a:r>
            <a:r>
              <a:rPr lang="en-US" sz="1600" dirty="0">
                <a:solidFill>
                  <a:srgbClr val="000000"/>
                </a:solidFill>
                <a:latin typeface="Verdana" panose="020B0604030504040204" pitchFamily="34" charset="0"/>
              </a:rPr>
              <a:t> View();</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endParaRPr lang="en-US" sz="1600" b="0" i="0" dirty="0">
              <a:solidFill>
                <a:srgbClr val="333333"/>
              </a:solidFill>
              <a:effectLst/>
              <a:latin typeface="Verdana" panose="020B0604030504040204" pitchFamily="34" charset="0"/>
            </a:endParaRPr>
          </a:p>
        </p:txBody>
      </p:sp>
      <p:sp>
        <p:nvSpPr>
          <p:cNvPr id="5" name="Rectangle 4"/>
          <p:cNvSpPr/>
          <p:nvPr/>
        </p:nvSpPr>
        <p:spPr>
          <a:xfrm>
            <a:off x="5581931" y="2978972"/>
            <a:ext cx="6987654" cy="1815882"/>
          </a:xfrm>
          <a:prstGeom prst="rect">
            <a:avLst/>
          </a:prstGeom>
        </p:spPr>
        <p:txBody>
          <a:bodyPr wrap="square">
            <a:spAutoFit/>
          </a:bodyPr>
          <a:lstStyle/>
          <a:p>
            <a:r>
              <a:rPr lang="es-AR" sz="1600" dirty="0">
                <a:solidFill>
                  <a:srgbClr val="000000"/>
                </a:solidFill>
                <a:latin typeface="Verdana" panose="020B0604030504040204" pitchFamily="34" charset="0"/>
              </a:rPr>
              <a:t>    </a:t>
            </a:r>
            <a:endParaRPr lang="es-AR" sz="1600" dirty="0" smtClean="0">
              <a:solidFill>
                <a:srgbClr val="000000"/>
              </a:solidFill>
              <a:latin typeface="Verdana" panose="020B0604030504040204" pitchFamily="34" charset="0"/>
            </a:endParaRPr>
          </a:p>
          <a:p>
            <a:r>
              <a:rPr lang="es-AR" sz="1600" dirty="0">
                <a:solidFill>
                  <a:srgbClr val="000000"/>
                </a:solidFill>
                <a:latin typeface="Verdana" panose="020B0604030504040204" pitchFamily="34" charset="0"/>
              </a:rPr>
              <a:t> @</a:t>
            </a:r>
            <a:r>
              <a:rPr lang="es-AR" sz="1600" dirty="0" err="1">
                <a:solidFill>
                  <a:srgbClr val="0000FF"/>
                </a:solidFill>
                <a:latin typeface="Verdana" panose="020B0604030504040204" pitchFamily="34" charset="0"/>
              </a:rPr>
              <a:t>using</a:t>
            </a:r>
            <a:r>
              <a:rPr lang="es-AR" sz="1600" dirty="0">
                <a:solidFill>
                  <a:srgbClr val="000000"/>
                </a:solidFill>
                <a:latin typeface="Verdana" panose="020B0604030504040204" pitchFamily="34" charset="0"/>
              </a:rPr>
              <a:t> (</a:t>
            </a:r>
            <a:r>
              <a:rPr lang="es-AR" sz="1600" dirty="0" err="1">
                <a:solidFill>
                  <a:srgbClr val="000000"/>
                </a:solidFill>
                <a:latin typeface="Verdana" panose="020B0604030504040204" pitchFamily="34" charset="0"/>
              </a:rPr>
              <a:t>Html.BeginForm</a:t>
            </a:r>
            <a:r>
              <a:rPr lang="es-AR" sz="1600" dirty="0" smtClean="0">
                <a:solidFill>
                  <a:srgbClr val="000000"/>
                </a:solidFill>
                <a:latin typeface="Verdana" panose="020B0604030504040204" pitchFamily="34" charset="0"/>
              </a:rPr>
              <a:t>(“</a:t>
            </a:r>
            <a:r>
              <a:rPr lang="es-AR" sz="1600" dirty="0" err="1" smtClean="0">
                <a:solidFill>
                  <a:srgbClr val="000000"/>
                </a:solidFill>
                <a:latin typeface="Verdana" panose="020B0604030504040204" pitchFamily="34" charset="0"/>
              </a:rPr>
              <a:t>Index</a:t>
            </a:r>
            <a:r>
              <a:rPr lang="es-AR" sz="1600" dirty="0" smtClean="0">
                <a:solidFill>
                  <a:srgbClr val="000000"/>
                </a:solidFill>
                <a:latin typeface="Verdana" panose="020B0604030504040204" pitchFamily="34" charset="0"/>
              </a:rPr>
              <a:t>”, “Home”, </a:t>
            </a:r>
            <a:r>
              <a:rPr lang="es-AR" sz="1600" dirty="0" err="1" smtClean="0">
                <a:solidFill>
                  <a:srgbClr val="000000"/>
                </a:solidFill>
                <a:latin typeface="Verdana" panose="020B0604030504040204" pitchFamily="34" charset="0"/>
              </a:rPr>
              <a:t>FormMethod.Post</a:t>
            </a:r>
            <a:r>
              <a:rPr lang="es-AR" sz="1600" dirty="0" smtClean="0">
                <a:solidFill>
                  <a:srgbClr val="000000"/>
                </a:solidFill>
                <a:latin typeface="Verdana" panose="020B0604030504040204" pitchFamily="34" charset="0"/>
              </a:rPr>
              <a:t>))</a:t>
            </a:r>
            <a:endParaRPr lang="es-AR" sz="1600" dirty="0">
              <a:solidFill>
                <a:srgbClr val="333333"/>
              </a:solidFill>
              <a:latin typeface="Verdana" panose="020B0604030504040204" pitchFamily="34" charset="0"/>
            </a:endParaRPr>
          </a:p>
          <a:p>
            <a:r>
              <a:rPr lang="es-AR" sz="1600" dirty="0">
                <a:solidFill>
                  <a:srgbClr val="000000"/>
                </a:solidFill>
                <a:latin typeface="Verdana" panose="020B0604030504040204" pitchFamily="34" charset="0"/>
              </a:rPr>
              <a:t> {</a:t>
            </a:r>
            <a:endParaRPr lang="es-AR" sz="1600" dirty="0">
              <a:solidFill>
                <a:srgbClr val="333333"/>
              </a:solidFill>
              <a:latin typeface="Verdana" panose="020B0604030504040204" pitchFamily="34" charset="0"/>
            </a:endParaRPr>
          </a:p>
          <a:p>
            <a:r>
              <a:rPr lang="es-AR" sz="1600" dirty="0" smtClean="0">
                <a:solidFill>
                  <a:srgbClr val="000000"/>
                </a:solidFill>
                <a:latin typeface="Verdana" panose="020B0604030504040204" pitchFamily="34" charset="0"/>
              </a:rPr>
              <a:t>     </a:t>
            </a:r>
            <a:r>
              <a:rPr lang="es-AR" sz="1600" dirty="0">
                <a:solidFill>
                  <a:srgbClr val="000000"/>
                </a:solidFill>
                <a:latin typeface="Verdana" panose="020B0604030504040204" pitchFamily="34" charset="0"/>
              </a:rPr>
              <a:t> </a:t>
            </a:r>
            <a:r>
              <a:rPr lang="es-AR" sz="1600" dirty="0" smtClean="0">
                <a:solidFill>
                  <a:srgbClr val="000000"/>
                </a:solidFill>
                <a:latin typeface="Verdana" panose="020B0604030504040204" pitchFamily="34" charset="0"/>
              </a:rPr>
              <a:t>@</a:t>
            </a:r>
            <a:r>
              <a:rPr lang="es-AR" sz="1600" dirty="0" err="1" smtClean="0">
                <a:solidFill>
                  <a:srgbClr val="000000"/>
                </a:solidFill>
                <a:latin typeface="Verdana" panose="020B0604030504040204" pitchFamily="34" charset="0"/>
              </a:rPr>
              <a:t>Html.TextBox</a:t>
            </a:r>
            <a:r>
              <a:rPr lang="es-AR" sz="1600" dirty="0" smtClean="0">
                <a:solidFill>
                  <a:srgbClr val="000000"/>
                </a:solidFill>
                <a:latin typeface="Verdana" panose="020B0604030504040204" pitchFamily="34" charset="0"/>
              </a:rPr>
              <a:t>(“</a:t>
            </a:r>
            <a:r>
              <a:rPr lang="es-AR" sz="1600" dirty="0" err="1">
                <a:solidFill>
                  <a:srgbClr val="000000"/>
                </a:solidFill>
                <a:latin typeface="Verdana" panose="020B0604030504040204" pitchFamily="34" charset="0"/>
              </a:rPr>
              <a:t>n</a:t>
            </a:r>
            <a:r>
              <a:rPr lang="es-AR" sz="1600" dirty="0" err="1" smtClean="0">
                <a:solidFill>
                  <a:srgbClr val="000000"/>
                </a:solidFill>
                <a:latin typeface="Verdana" panose="020B0604030504040204" pitchFamily="34" charset="0"/>
              </a:rPr>
              <a:t>ame</a:t>
            </a:r>
            <a:r>
              <a:rPr lang="es-AR" sz="1600" dirty="0" smtClean="0">
                <a:solidFill>
                  <a:srgbClr val="000000"/>
                </a:solidFill>
                <a:latin typeface="Verdana" panose="020B0604030504040204" pitchFamily="34" charset="0"/>
              </a:rPr>
              <a:t>”)</a:t>
            </a:r>
            <a:endParaRPr lang="es-AR" sz="1600" dirty="0">
              <a:solidFill>
                <a:srgbClr val="333333"/>
              </a:solidFill>
              <a:latin typeface="Verdana" panose="020B0604030504040204" pitchFamily="34" charset="0"/>
            </a:endParaRPr>
          </a:p>
          <a:p>
            <a:r>
              <a:rPr lang="es-AR" sz="1600" dirty="0">
                <a:solidFill>
                  <a:srgbClr val="000000"/>
                </a:solidFill>
                <a:latin typeface="Verdana" panose="020B0604030504040204" pitchFamily="34" charset="0"/>
              </a:rPr>
              <a:t>      </a:t>
            </a:r>
            <a:r>
              <a:rPr lang="es-AR" sz="1600" dirty="0" smtClean="0">
                <a:solidFill>
                  <a:srgbClr val="0000FF"/>
                </a:solidFill>
                <a:latin typeface="Verdana" panose="020B0604030504040204" pitchFamily="34" charset="0"/>
              </a:rPr>
              <a:t>&lt;</a:t>
            </a:r>
            <a:r>
              <a:rPr lang="es-AR" sz="1600" dirty="0">
                <a:solidFill>
                  <a:srgbClr val="800000"/>
                </a:solidFill>
                <a:latin typeface="Verdana" panose="020B0604030504040204" pitchFamily="34" charset="0"/>
              </a:rPr>
              <a:t>input</a:t>
            </a:r>
            <a:r>
              <a:rPr lang="es-AR" sz="1600" dirty="0">
                <a:solidFill>
                  <a:srgbClr val="FF0000"/>
                </a:solidFill>
                <a:latin typeface="Verdana" panose="020B0604030504040204" pitchFamily="34" charset="0"/>
              </a:rPr>
              <a:t> </a:t>
            </a:r>
            <a:r>
              <a:rPr lang="es-AR" sz="1600" dirty="0" err="1">
                <a:solidFill>
                  <a:srgbClr val="FF0000"/>
                </a:solidFill>
                <a:latin typeface="Verdana" panose="020B0604030504040204" pitchFamily="34" charset="0"/>
              </a:rPr>
              <a:t>type</a:t>
            </a:r>
            <a:r>
              <a:rPr lang="es-AR" sz="1600" dirty="0">
                <a:solidFill>
                  <a:srgbClr val="0000FF"/>
                </a:solidFill>
                <a:latin typeface="Verdana" panose="020B0604030504040204" pitchFamily="34" charset="0"/>
              </a:rPr>
              <a:t>="</a:t>
            </a:r>
            <a:r>
              <a:rPr lang="es-AR" sz="1600" dirty="0" err="1">
                <a:solidFill>
                  <a:srgbClr val="0000FF"/>
                </a:solidFill>
                <a:latin typeface="Verdana" panose="020B0604030504040204" pitchFamily="34" charset="0"/>
              </a:rPr>
              <a:t>submit</a:t>
            </a:r>
            <a:r>
              <a:rPr lang="es-AR" sz="1600" dirty="0">
                <a:solidFill>
                  <a:srgbClr val="0000FF"/>
                </a:solidFill>
                <a:latin typeface="Verdana" panose="020B0604030504040204" pitchFamily="34" charset="0"/>
              </a:rPr>
              <a:t>"</a:t>
            </a:r>
            <a:r>
              <a:rPr lang="es-AR" sz="1600" dirty="0">
                <a:solidFill>
                  <a:srgbClr val="FF0000"/>
                </a:solidFill>
                <a:latin typeface="Verdana" panose="020B0604030504040204" pitchFamily="34" charset="0"/>
              </a:rPr>
              <a:t> </a:t>
            </a:r>
            <a:r>
              <a:rPr lang="es-AR" sz="1600" dirty="0" err="1">
                <a:solidFill>
                  <a:srgbClr val="FF0000"/>
                </a:solidFill>
                <a:latin typeface="Verdana" panose="020B0604030504040204" pitchFamily="34" charset="0"/>
              </a:rPr>
              <a:t>value</a:t>
            </a:r>
            <a:r>
              <a:rPr lang="es-AR" sz="1600" dirty="0" smtClean="0">
                <a:solidFill>
                  <a:srgbClr val="0000FF"/>
                </a:solidFill>
                <a:latin typeface="Verdana" panose="020B0604030504040204" pitchFamily="34" charset="0"/>
              </a:rPr>
              <a:t>=“</a:t>
            </a:r>
            <a:r>
              <a:rPr lang="es-AR" sz="1600" dirty="0" err="1" smtClean="0">
                <a:solidFill>
                  <a:srgbClr val="0000FF"/>
                </a:solidFill>
                <a:latin typeface="Verdana" panose="020B0604030504040204" pitchFamily="34" charset="0"/>
              </a:rPr>
              <a:t>Submit</a:t>
            </a:r>
            <a:r>
              <a:rPr lang="es-AR" sz="1600" dirty="0" smtClean="0">
                <a:solidFill>
                  <a:srgbClr val="0000FF"/>
                </a:solidFill>
                <a:latin typeface="Verdana" panose="020B0604030504040204" pitchFamily="34" charset="0"/>
              </a:rPr>
              <a:t>"/&gt;</a:t>
            </a:r>
            <a:endParaRPr lang="es-AR" sz="1600" dirty="0">
              <a:solidFill>
                <a:srgbClr val="333333"/>
              </a:solidFill>
              <a:latin typeface="Verdana" panose="020B0604030504040204" pitchFamily="34" charset="0"/>
            </a:endParaRPr>
          </a:p>
          <a:p>
            <a:r>
              <a:rPr lang="es-AR" sz="1600" dirty="0">
                <a:solidFill>
                  <a:srgbClr val="000000"/>
                </a:solidFill>
                <a:latin typeface="Verdana" panose="020B0604030504040204" pitchFamily="34" charset="0"/>
              </a:rPr>
              <a:t> </a:t>
            </a:r>
            <a:r>
              <a:rPr lang="es-AR" sz="1600" dirty="0" smtClean="0">
                <a:solidFill>
                  <a:srgbClr val="000000"/>
                </a:solidFill>
                <a:latin typeface="Verdana" panose="020B0604030504040204" pitchFamily="34" charset="0"/>
              </a:rPr>
              <a:t>}</a:t>
            </a:r>
            <a:endParaRPr lang="es-AR" sz="1600" dirty="0">
              <a:solidFill>
                <a:srgbClr val="333333"/>
              </a:solidFill>
              <a:latin typeface="Verdana" panose="020B0604030504040204" pitchFamily="34" charset="0"/>
            </a:endParaRPr>
          </a:p>
          <a:p>
            <a:endParaRPr lang="es-ES" sz="1600" dirty="0" smtClean="0"/>
          </a:p>
        </p:txBody>
      </p:sp>
      <p:sp>
        <p:nvSpPr>
          <p:cNvPr id="6" name="Rectangle 5"/>
          <p:cNvSpPr/>
          <p:nvPr/>
        </p:nvSpPr>
        <p:spPr>
          <a:xfrm>
            <a:off x="72782" y="4228493"/>
            <a:ext cx="7055907" cy="1600438"/>
          </a:xfrm>
          <a:prstGeom prst="rect">
            <a:avLst/>
          </a:prstGeom>
        </p:spPr>
        <p:txBody>
          <a:bodyPr wrap="square">
            <a:spAutoFit/>
          </a:bodyPr>
          <a:lstStyle/>
          <a:p>
            <a:r>
              <a:rPr lang="en-US" dirty="0">
                <a:solidFill>
                  <a:srgbClr val="000000"/>
                </a:solidFill>
                <a:latin typeface="Verdana" panose="020B0604030504040204" pitchFamily="34" charset="0"/>
              </a:rPr>
              <a:t>      </a:t>
            </a:r>
            <a:r>
              <a:rPr lang="en-US" sz="1600" dirty="0">
                <a:solidFill>
                  <a:srgbClr val="000000"/>
                </a:solidFill>
                <a:latin typeface="Verdana" panose="020B0604030504040204" pitchFamily="34" charset="0"/>
              </a:rPr>
              <a:t>  [</a:t>
            </a:r>
            <a:r>
              <a:rPr lang="en-US" sz="1600" dirty="0" err="1">
                <a:solidFill>
                  <a:srgbClr val="2B91AF"/>
                </a:solidFill>
                <a:latin typeface="Verdana" panose="020B0604030504040204" pitchFamily="34" charset="0"/>
              </a:rPr>
              <a:t>HttpPost</a:t>
            </a:r>
            <a:r>
              <a:rPr lang="en-US" sz="1600" dirty="0">
                <a:solidFill>
                  <a:srgbClr val="000000"/>
                </a:solidFill>
                <a:latin typeface="Verdana" panose="020B0604030504040204" pitchFamily="34" charset="0"/>
              </a:rPr>
              <a:t>]</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err="1">
                <a:solidFill>
                  <a:srgbClr val="0000FF"/>
                </a:solidFill>
                <a:latin typeface="Verdana" panose="020B0604030504040204" pitchFamily="34" charset="0"/>
              </a:rPr>
              <a:t>public</a:t>
            </a:r>
            <a:r>
              <a:rPr lang="en-US" sz="1600" dirty="0" err="1">
                <a:solidFill>
                  <a:srgbClr val="2B91AF"/>
                </a:solidFill>
                <a:latin typeface="Verdana" panose="020B0604030504040204" pitchFamily="34" charset="0"/>
              </a:rPr>
              <a:t>ViewResult</a:t>
            </a:r>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Index(</a:t>
            </a:r>
            <a:r>
              <a:rPr lang="en-US" sz="1600" dirty="0" smtClean="0">
                <a:solidFill>
                  <a:srgbClr val="2B91AF"/>
                </a:solidFill>
                <a:latin typeface="Verdana" panose="020B0604030504040204" pitchFamily="34" charset="0"/>
              </a:rPr>
              <a:t>String</a:t>
            </a:r>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name)</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a:t>
            </a:r>
          </a:p>
          <a:p>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           Model m = new Model(name);</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r>
              <a:rPr lang="en-US" sz="1600" dirty="0" smtClean="0">
                <a:solidFill>
                  <a:srgbClr val="0000FF"/>
                </a:solidFill>
                <a:latin typeface="Verdana" panose="020B0604030504040204" pitchFamily="34" charset="0"/>
              </a:rPr>
              <a:t>return</a:t>
            </a:r>
            <a:r>
              <a:rPr lang="en-US" sz="1600" dirty="0">
                <a:solidFill>
                  <a:srgbClr val="000000"/>
                </a:solidFill>
                <a:latin typeface="Verdana" panose="020B0604030504040204" pitchFamily="34" charset="0"/>
              </a:rPr>
              <a:t> View(</a:t>
            </a:r>
            <a:r>
              <a:rPr lang="en-US" sz="1600" dirty="0">
                <a:solidFill>
                  <a:srgbClr val="A31515"/>
                </a:solidFill>
                <a:latin typeface="Verdana" panose="020B0604030504040204" pitchFamily="34" charset="0"/>
              </a:rPr>
              <a:t>"Results"</a:t>
            </a:r>
            <a:r>
              <a:rPr lang="en-US" sz="1600" dirty="0">
                <a:solidFill>
                  <a:srgbClr val="000000"/>
                </a:solidFill>
                <a:latin typeface="Verdana" panose="020B0604030504040204" pitchFamily="34" charset="0"/>
              </a:rPr>
              <a:t>, </a:t>
            </a:r>
            <a:r>
              <a:rPr lang="en-US" sz="1600" dirty="0" smtClean="0">
                <a:solidFill>
                  <a:srgbClr val="000000"/>
                </a:solidFill>
                <a:latin typeface="Verdana" panose="020B0604030504040204" pitchFamily="34" charset="0"/>
              </a:rPr>
              <a:t>m);</a:t>
            </a:r>
            <a:endParaRPr lang="en-US" sz="1600" dirty="0">
              <a:solidFill>
                <a:srgbClr val="333333"/>
              </a:solidFill>
              <a:latin typeface="Verdana" panose="020B0604030504040204" pitchFamily="34" charset="0"/>
            </a:endParaRPr>
          </a:p>
          <a:p>
            <a:r>
              <a:rPr lang="en-US" sz="1600" dirty="0">
                <a:solidFill>
                  <a:srgbClr val="000000"/>
                </a:solidFill>
                <a:latin typeface="Verdana" panose="020B0604030504040204" pitchFamily="34" charset="0"/>
              </a:rPr>
              <a:t>        }</a:t>
            </a:r>
            <a:endParaRPr lang="en-US" sz="1600"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33120194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400" dirty="0" err="1" smtClean="0"/>
              <a:t>Agreguemos</a:t>
            </a:r>
            <a:r>
              <a:rPr lang="en-US" sz="2400" dirty="0" smtClean="0"/>
              <a:t> </a:t>
            </a:r>
            <a:r>
              <a:rPr lang="en-US" sz="2400" dirty="0"/>
              <a:t>la </a:t>
            </a:r>
            <a:r>
              <a:rPr lang="en-US" sz="2400" dirty="0" err="1"/>
              <a:t>posibilidad</a:t>
            </a:r>
            <a:r>
              <a:rPr lang="en-US" sz="2400" dirty="0"/>
              <a:t> de </a:t>
            </a:r>
            <a:r>
              <a:rPr lang="en-US" sz="2400" dirty="0" err="1" smtClean="0"/>
              <a:t>filtrar</a:t>
            </a:r>
            <a:r>
              <a:rPr lang="en-US" sz="2400" dirty="0" smtClean="0"/>
              <a:t> </a:t>
            </a:r>
            <a:r>
              <a:rPr lang="en-US" sz="2400" dirty="0" err="1" smtClean="0"/>
              <a:t>por</a:t>
            </a:r>
            <a:r>
              <a:rPr lang="en-US" sz="2400" dirty="0" smtClean="0"/>
              <a:t> </a:t>
            </a:r>
            <a:r>
              <a:rPr lang="en-US" sz="2400" dirty="0"/>
              <a:t>un </a:t>
            </a:r>
            <a:r>
              <a:rPr lang="en-US" sz="2400" dirty="0" err="1"/>
              <a:t>nombre</a:t>
            </a:r>
            <a:r>
              <a:rPr lang="en-US" sz="2400" dirty="0"/>
              <a:t> los </a:t>
            </a:r>
            <a:r>
              <a:rPr lang="en-US" sz="2400" dirty="0" err="1"/>
              <a:t>generos</a:t>
            </a:r>
            <a:r>
              <a:rPr lang="en-US" sz="2400" dirty="0" smtClean="0"/>
              <a:t>.</a:t>
            </a:r>
          </a:p>
          <a:p>
            <a:r>
              <a:rPr lang="en-US" sz="2400" dirty="0" err="1" smtClean="0"/>
              <a:t>Ayuda</a:t>
            </a:r>
            <a:r>
              <a:rPr lang="en-US" sz="2400" dirty="0" smtClean="0"/>
              <a:t>: </a:t>
            </a:r>
            <a:r>
              <a:rPr lang="en-US" sz="2400" dirty="0" err="1" smtClean="0"/>
              <a:t>agregar</a:t>
            </a:r>
            <a:r>
              <a:rPr lang="en-US" sz="2400" dirty="0" smtClean="0"/>
              <a:t> un </a:t>
            </a:r>
            <a:r>
              <a:rPr lang="en-US" sz="2400" dirty="0" err="1" smtClean="0"/>
              <a:t>Html.BeginForm</a:t>
            </a:r>
            <a:r>
              <a:rPr lang="en-US" sz="2400" dirty="0" smtClean="0"/>
              <a:t> a la vista </a:t>
            </a:r>
            <a:endParaRPr lang="en-US" sz="2400" dirty="0"/>
          </a:p>
        </p:txBody>
      </p:sp>
      <p:pic>
        <p:nvPicPr>
          <p:cNvPr id="5"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0406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174" y="392442"/>
            <a:ext cx="11265408" cy="296842"/>
          </a:xfrm>
        </p:spPr>
        <p:txBody>
          <a:bodyPr/>
          <a:lstStyle/>
          <a:p>
            <a:r>
              <a:rPr lang="en-US" dirty="0" smtClean="0"/>
              <a:t>LINQ (Language Integrated Query)</a:t>
            </a:r>
            <a:endParaRPr lang="en-US" dirty="0"/>
          </a:p>
        </p:txBody>
      </p:sp>
      <p:sp>
        <p:nvSpPr>
          <p:cNvPr id="3" name="Content Placeholder 2"/>
          <p:cNvSpPr>
            <a:spLocks noGrp="1"/>
          </p:cNvSpPr>
          <p:nvPr>
            <p:ph idx="1"/>
          </p:nvPr>
        </p:nvSpPr>
        <p:spPr>
          <a:xfrm>
            <a:off x="364792" y="1195423"/>
            <a:ext cx="11534600" cy="2312275"/>
          </a:xfrm>
        </p:spPr>
        <p:txBody>
          <a:bodyPr>
            <a:noAutofit/>
          </a:bodyPr>
          <a:lstStyle/>
          <a:p>
            <a:r>
              <a:rPr lang="es-AR" sz="2000" dirty="0"/>
              <a:t>C</a:t>
            </a:r>
            <a:r>
              <a:rPr lang="es-AR" sz="2000" dirty="0" smtClean="0"/>
              <a:t>onjunto </a:t>
            </a:r>
            <a:r>
              <a:rPr lang="es-AR" sz="2000" dirty="0"/>
              <a:t>herramientas de Microsoft para realizar todo tipo de consultas a distintas fuentes de datos: objetos, </a:t>
            </a:r>
            <a:r>
              <a:rPr lang="es-AR" sz="2000" dirty="0" err="1"/>
              <a:t>xmls</a:t>
            </a:r>
            <a:r>
              <a:rPr lang="es-AR" sz="2000" dirty="0"/>
              <a:t>, bases de datos, </a:t>
            </a:r>
            <a:r>
              <a:rPr lang="es-AR" sz="2000" dirty="0" smtClean="0"/>
              <a:t>etc.</a:t>
            </a:r>
          </a:p>
          <a:p>
            <a:r>
              <a:rPr lang="es-AR" sz="2000" dirty="0"/>
              <a:t>Usa un tipo de funciones propias, que unifica las operaciones más comunes en todos los entornos</a:t>
            </a:r>
            <a:r>
              <a:rPr lang="es-ES" sz="2000" dirty="0"/>
              <a:t>. </a:t>
            </a:r>
          </a:p>
          <a:p>
            <a:r>
              <a:rPr lang="es-AR" sz="2000" dirty="0"/>
              <a:t>La sintaxis es parecida a la existente en </a:t>
            </a:r>
            <a:r>
              <a:rPr lang="es-AR" sz="2000" dirty="0" smtClean="0"/>
              <a:t>SQL.</a:t>
            </a:r>
          </a:p>
          <a:p>
            <a:r>
              <a:rPr lang="es-ES" sz="2000" dirty="0" err="1" smtClean="0"/>
              <a:t>Lazy</a:t>
            </a:r>
            <a:r>
              <a:rPr lang="es-ES" sz="2000" dirty="0" smtClean="0"/>
              <a:t> </a:t>
            </a:r>
            <a:r>
              <a:rPr lang="es-ES" sz="2000" dirty="0" err="1" smtClean="0"/>
              <a:t>loading</a:t>
            </a:r>
            <a:r>
              <a:rPr lang="es-ES" sz="2000" dirty="0" smtClean="0"/>
              <a:t>: Si declaramos una consulta en </a:t>
            </a:r>
            <a:r>
              <a:rPr lang="es-ES" sz="2000" dirty="0" err="1" smtClean="0"/>
              <a:t>Linq</a:t>
            </a:r>
            <a:r>
              <a:rPr lang="es-ES" sz="2000" dirty="0" smtClean="0"/>
              <a:t> y no forzamos la ejecución de la misma mediante el método </a:t>
            </a:r>
            <a:r>
              <a:rPr lang="es-ES" sz="2000" dirty="0" err="1" smtClean="0"/>
              <a:t>ToList</a:t>
            </a:r>
            <a:r>
              <a:rPr lang="es-ES" sz="2000" dirty="0" smtClean="0"/>
              <a:t>(), </a:t>
            </a:r>
            <a:r>
              <a:rPr lang="es-ES" sz="2000" dirty="0" err="1" smtClean="0"/>
              <a:t>Select</a:t>
            </a:r>
            <a:r>
              <a:rPr lang="es-ES" sz="2000" dirty="0" smtClean="0"/>
              <a:t>(), </a:t>
            </a:r>
            <a:r>
              <a:rPr lang="es-ES" sz="2000" dirty="0" err="1" smtClean="0"/>
              <a:t>First</a:t>
            </a:r>
            <a:r>
              <a:rPr lang="es-ES" sz="2000" dirty="0" smtClean="0"/>
              <a:t>()..</a:t>
            </a:r>
          </a:p>
          <a:p>
            <a:pPr lvl="1" indent="0">
              <a:buNone/>
            </a:pPr>
            <a:r>
              <a:rPr lang="es-ES" sz="1800" dirty="0"/>
              <a:t>  </a:t>
            </a:r>
            <a:r>
              <a:rPr lang="es-ES" sz="1800" dirty="0" smtClean="0"/>
              <a:t> </a:t>
            </a:r>
          </a:p>
          <a:p>
            <a:pPr lvl="1" indent="0">
              <a:buNone/>
            </a:pPr>
            <a:r>
              <a:rPr lang="es-ES" sz="2000" dirty="0" err="1" smtClean="0"/>
              <a:t>Query</a:t>
            </a:r>
            <a:r>
              <a:rPr lang="es-ES" sz="2000" dirty="0" smtClean="0"/>
              <a:t> </a:t>
            </a:r>
            <a:r>
              <a:rPr lang="es-ES" sz="2000" dirty="0" err="1" smtClean="0"/>
              <a:t>expression</a:t>
            </a:r>
            <a:r>
              <a:rPr lang="es-ES" sz="2000" dirty="0" smtClean="0"/>
              <a:t> </a:t>
            </a:r>
            <a:r>
              <a:rPr lang="es-ES" sz="2000" dirty="0" err="1" smtClean="0"/>
              <a:t>syntax</a:t>
            </a:r>
            <a:endParaRPr lang="es-ES" sz="2000" dirty="0" smtClean="0"/>
          </a:p>
          <a:p>
            <a:pPr lvl="1" indent="0">
              <a:buNone/>
            </a:pPr>
            <a:r>
              <a:rPr lang="en-US" sz="1800" dirty="0" smtClean="0">
                <a:solidFill>
                  <a:srgbClr val="0000FF"/>
                </a:solidFill>
                <a:highlight>
                  <a:srgbClr val="FFFFFF"/>
                </a:highlight>
                <a:latin typeface="Consolas" panose="020B0609020204030204" pitchFamily="49" charset="0"/>
              </a:rPr>
              <a:t>   from</a:t>
            </a:r>
            <a:r>
              <a:rPr lang="en-US" sz="1800" dirty="0" smtClean="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elemlist</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where</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elem.Length</a:t>
            </a:r>
            <a:r>
              <a:rPr lang="en-US" sz="1800" dirty="0">
                <a:solidFill>
                  <a:srgbClr val="000000"/>
                </a:solidFill>
                <a:highlight>
                  <a:srgbClr val="FFFFFF"/>
                </a:highlight>
                <a:latin typeface="Consolas" panose="020B0609020204030204" pitchFamily="49" charset="0"/>
              </a:rPr>
              <a:t> == 3 </a:t>
            </a:r>
            <a:r>
              <a:rPr lang="en-US" sz="1800" dirty="0">
                <a:solidFill>
                  <a:srgbClr val="0000FF"/>
                </a:solidFill>
                <a:highlight>
                  <a:srgbClr val="FFFFFF"/>
                </a:highlight>
                <a:latin typeface="Consolas" panose="020B0609020204030204" pitchFamily="49" charset="0"/>
              </a:rPr>
              <a:t>select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elem</a:t>
            </a:r>
            <a:r>
              <a:rPr lang="en-US" sz="1800" dirty="0">
                <a:solidFill>
                  <a:srgbClr val="000000"/>
                </a:solidFill>
                <a:highlight>
                  <a:srgbClr val="FFFFFF"/>
                </a:highlight>
                <a:latin typeface="Consolas" panose="020B0609020204030204" pitchFamily="49" charset="0"/>
              </a:rPr>
              <a:t>;</a:t>
            </a:r>
            <a:endParaRPr lang="es-ES" sz="1800" dirty="0" smtClean="0"/>
          </a:p>
          <a:p>
            <a:pPr indent="0">
              <a:buNone/>
            </a:pPr>
            <a:endParaRPr lang="es-ES" sz="1800" dirty="0" smtClean="0"/>
          </a:p>
          <a:p>
            <a:pPr indent="0">
              <a:buNone/>
            </a:pPr>
            <a:r>
              <a:rPr lang="es-ES" sz="2000" dirty="0" smtClean="0"/>
              <a:t>Standard </a:t>
            </a:r>
            <a:r>
              <a:rPr lang="es-ES" sz="2000" dirty="0" err="1" smtClean="0"/>
              <a:t>dot</a:t>
            </a:r>
            <a:r>
              <a:rPr lang="es-ES" sz="2000" dirty="0" smtClean="0"/>
              <a:t> </a:t>
            </a:r>
            <a:r>
              <a:rPr lang="es-ES" sz="2000" dirty="0" err="1" smtClean="0"/>
              <a:t>notation</a:t>
            </a:r>
            <a:r>
              <a:rPr lang="es-ES" sz="2000" dirty="0" smtClean="0"/>
              <a:t> </a:t>
            </a:r>
            <a:r>
              <a:rPr lang="es-ES" sz="2000" dirty="0" err="1" smtClean="0"/>
              <a:t>syntax</a:t>
            </a:r>
            <a:endParaRPr lang="es-ES" sz="2000" dirty="0" smtClean="0"/>
          </a:p>
          <a:p>
            <a:pPr indent="0">
              <a:buNone/>
            </a:pPr>
            <a:r>
              <a:rPr lang="es-AR" sz="1800" dirty="0" smtClean="0">
                <a:solidFill>
                  <a:srgbClr val="000000"/>
                </a:solidFill>
                <a:highlight>
                  <a:srgbClr val="FFFFFF"/>
                </a:highlight>
                <a:latin typeface="Consolas" panose="020B0609020204030204" pitchFamily="49" charset="0"/>
              </a:rPr>
              <a:t>   </a:t>
            </a:r>
            <a:r>
              <a:rPr lang="es-AR" sz="1800" dirty="0" err="1" smtClean="0">
                <a:solidFill>
                  <a:srgbClr val="000000"/>
                </a:solidFill>
                <a:highlight>
                  <a:srgbClr val="FFFFFF"/>
                </a:highlight>
                <a:latin typeface="Consolas" panose="020B0609020204030204" pitchFamily="49" charset="0"/>
              </a:rPr>
              <a:t>elemlist.Where</a:t>
            </a:r>
            <a:r>
              <a:rPr lang="es-AR" sz="1800" dirty="0" smtClean="0">
                <a:solidFill>
                  <a:srgbClr val="000000"/>
                </a:solidFill>
                <a:highlight>
                  <a:srgbClr val="FFFFFF"/>
                </a:highlight>
                <a:latin typeface="Consolas" panose="020B0609020204030204" pitchFamily="49" charset="0"/>
              </a:rPr>
              <a:t>(</a:t>
            </a:r>
            <a:r>
              <a:rPr lang="es-AR" sz="1800" dirty="0" err="1" smtClean="0">
                <a:solidFill>
                  <a:srgbClr val="000000"/>
                </a:solidFill>
                <a:highlight>
                  <a:srgbClr val="FFFFFF"/>
                </a:highlight>
                <a:latin typeface="Consolas" panose="020B0609020204030204" pitchFamily="49" charset="0"/>
              </a:rPr>
              <a:t>elem</a:t>
            </a:r>
            <a:r>
              <a:rPr lang="es-AR" sz="1800" dirty="0" smtClean="0">
                <a:solidFill>
                  <a:srgbClr val="000000"/>
                </a:solidFill>
                <a:highlight>
                  <a:srgbClr val="FFFFFF"/>
                </a:highlight>
                <a:latin typeface="Consolas" panose="020B0609020204030204" pitchFamily="49" charset="0"/>
              </a:rPr>
              <a:t> </a:t>
            </a:r>
            <a:r>
              <a:rPr lang="es-AR" sz="1800" dirty="0">
                <a:solidFill>
                  <a:srgbClr val="000000"/>
                </a:solidFill>
                <a:highlight>
                  <a:srgbClr val="FFFFFF"/>
                </a:highlight>
                <a:latin typeface="Consolas" panose="020B0609020204030204" pitchFamily="49" charset="0"/>
              </a:rPr>
              <a:t>=&gt; </a:t>
            </a:r>
            <a:r>
              <a:rPr lang="es-AR" sz="1800" dirty="0" err="1">
                <a:solidFill>
                  <a:srgbClr val="000000"/>
                </a:solidFill>
                <a:highlight>
                  <a:srgbClr val="FFFFFF"/>
                </a:highlight>
                <a:latin typeface="Consolas" panose="020B0609020204030204" pitchFamily="49" charset="0"/>
              </a:rPr>
              <a:t>elem.Length</a:t>
            </a:r>
            <a:r>
              <a:rPr lang="es-AR" sz="1800" dirty="0">
                <a:solidFill>
                  <a:srgbClr val="000000"/>
                </a:solidFill>
                <a:highlight>
                  <a:srgbClr val="FFFFFF"/>
                </a:highlight>
                <a:latin typeface="Consolas" panose="020B0609020204030204" pitchFamily="49" charset="0"/>
              </a:rPr>
              <a:t> == 3).</a:t>
            </a:r>
            <a:r>
              <a:rPr lang="es-AR" sz="1800" dirty="0" err="1">
                <a:solidFill>
                  <a:srgbClr val="000000"/>
                </a:solidFill>
                <a:highlight>
                  <a:srgbClr val="FFFFFF"/>
                </a:highlight>
                <a:latin typeface="Consolas" panose="020B0609020204030204" pitchFamily="49" charset="0"/>
              </a:rPr>
              <a:t>Select</a:t>
            </a:r>
            <a:r>
              <a:rPr lang="es-AR" sz="1800" dirty="0">
                <a:solidFill>
                  <a:srgbClr val="000000"/>
                </a:solidFill>
                <a:highlight>
                  <a:srgbClr val="FFFFFF"/>
                </a:highlight>
                <a:latin typeface="Consolas" panose="020B0609020204030204" pitchFamily="49" charset="0"/>
              </a:rPr>
              <a:t>(</a:t>
            </a:r>
            <a:r>
              <a:rPr lang="es-AR" sz="1800" dirty="0" err="1">
                <a:solidFill>
                  <a:srgbClr val="000000"/>
                </a:solidFill>
                <a:highlight>
                  <a:srgbClr val="FFFFFF"/>
                </a:highlight>
                <a:latin typeface="Consolas" panose="020B0609020204030204" pitchFamily="49" charset="0"/>
              </a:rPr>
              <a:t>elem</a:t>
            </a:r>
            <a:r>
              <a:rPr lang="es-AR" sz="1800" dirty="0" smtClean="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21395597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400" dirty="0" err="1" smtClean="0"/>
              <a:t>Realizar</a:t>
            </a:r>
            <a:r>
              <a:rPr lang="en-US" sz="2400" dirty="0" smtClean="0"/>
              <a:t> el </a:t>
            </a:r>
            <a:r>
              <a:rPr lang="en-US" sz="2400" dirty="0" err="1" smtClean="0"/>
              <a:t>filtrado</a:t>
            </a:r>
            <a:r>
              <a:rPr lang="en-US" sz="2400" dirty="0" smtClean="0"/>
              <a:t> de la </a:t>
            </a:r>
            <a:r>
              <a:rPr lang="en-US" sz="2400" dirty="0" err="1" smtClean="0"/>
              <a:t>lista</a:t>
            </a:r>
            <a:r>
              <a:rPr lang="en-US" sz="2400" dirty="0" smtClean="0"/>
              <a:t> de </a:t>
            </a:r>
            <a:r>
              <a:rPr lang="en-US" sz="2400" dirty="0" err="1" smtClean="0"/>
              <a:t>géneros</a:t>
            </a:r>
            <a:r>
              <a:rPr lang="en-US" sz="2400" dirty="0" smtClean="0"/>
              <a:t> </a:t>
            </a:r>
            <a:r>
              <a:rPr lang="en-US" sz="2400" dirty="0" err="1" smtClean="0"/>
              <a:t>utilizando</a:t>
            </a:r>
            <a:r>
              <a:rPr lang="en-US" sz="2400" dirty="0" smtClean="0"/>
              <a:t> </a:t>
            </a:r>
            <a:r>
              <a:rPr lang="en-US" sz="2400" dirty="0" err="1" smtClean="0"/>
              <a:t>notación</a:t>
            </a:r>
            <a:r>
              <a:rPr lang="en-US" sz="2400" dirty="0" smtClean="0"/>
              <a:t> </a:t>
            </a:r>
            <a:r>
              <a:rPr lang="en-US" sz="2400" dirty="0" err="1" smtClean="0"/>
              <a:t>Linq</a:t>
            </a:r>
            <a:r>
              <a:rPr lang="en-US" sz="2400" dirty="0" smtClean="0"/>
              <a:t>.</a:t>
            </a:r>
            <a:endParaRPr lang="en-US" sz="2400" dirty="0"/>
          </a:p>
        </p:txBody>
      </p:sp>
      <p:pic>
        <p:nvPicPr>
          <p:cNvPr id="5"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43648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92442"/>
            <a:ext cx="11265408" cy="296842"/>
          </a:xfrm>
        </p:spPr>
        <p:txBody>
          <a:bodyPr/>
          <a:lstStyle/>
          <a:p>
            <a:r>
              <a:rPr lang="es-ES" dirty="0" err="1" smtClean="0"/>
              <a:t>Entity</a:t>
            </a:r>
            <a:r>
              <a:rPr lang="es-ES" dirty="0" smtClean="0"/>
              <a:t> Framework </a:t>
            </a:r>
            <a:endParaRPr lang="en-US" dirty="0"/>
          </a:p>
        </p:txBody>
      </p:sp>
      <p:sp>
        <p:nvSpPr>
          <p:cNvPr id="3" name="Content Placeholder 2"/>
          <p:cNvSpPr>
            <a:spLocks noGrp="1"/>
          </p:cNvSpPr>
          <p:nvPr>
            <p:ph idx="1"/>
          </p:nvPr>
        </p:nvSpPr>
        <p:spPr>
          <a:xfrm>
            <a:off x="649602" y="1195423"/>
            <a:ext cx="11237595" cy="4386511"/>
          </a:xfrm>
        </p:spPr>
        <p:txBody>
          <a:bodyPr>
            <a:noAutofit/>
          </a:bodyPr>
          <a:lstStyle/>
          <a:p>
            <a:r>
              <a:rPr lang="en-US" sz="2000" dirty="0" smtClean="0"/>
              <a:t>Un O/RM que </a:t>
            </a:r>
            <a:r>
              <a:rPr lang="en-US" sz="2000" dirty="0" err="1" smtClean="0"/>
              <a:t>permite</a:t>
            </a:r>
            <a:r>
              <a:rPr lang="en-US" sz="2000" dirty="0" smtClean="0"/>
              <a:t> </a:t>
            </a:r>
            <a:r>
              <a:rPr lang="en-US" sz="2000" dirty="0" err="1" smtClean="0"/>
              <a:t>trabajar</a:t>
            </a:r>
            <a:r>
              <a:rPr lang="en-US" sz="2000" dirty="0" smtClean="0"/>
              <a:t> con </a:t>
            </a:r>
            <a:r>
              <a:rPr lang="en-US" sz="2000" dirty="0" err="1" smtClean="0"/>
              <a:t>datos</a:t>
            </a:r>
            <a:r>
              <a:rPr lang="en-US" sz="2000" dirty="0" smtClean="0"/>
              <a:t> </a:t>
            </a:r>
            <a:r>
              <a:rPr lang="en-US" sz="2000" dirty="0" err="1" smtClean="0"/>
              <a:t>relacionales</a:t>
            </a:r>
            <a:r>
              <a:rPr lang="en-US" sz="2000" dirty="0" smtClean="0"/>
              <a:t> </a:t>
            </a:r>
            <a:r>
              <a:rPr lang="en-US" sz="2000" dirty="0" err="1" smtClean="0"/>
              <a:t>usando</a:t>
            </a:r>
            <a:r>
              <a:rPr lang="en-US" sz="2000" dirty="0" smtClean="0"/>
              <a:t> </a:t>
            </a:r>
            <a:r>
              <a:rPr lang="en-US" sz="2000" dirty="0" err="1" smtClean="0"/>
              <a:t>objetos</a:t>
            </a:r>
            <a:r>
              <a:rPr lang="en-US" sz="2000" dirty="0" smtClean="0"/>
              <a:t> </a:t>
            </a:r>
            <a:r>
              <a:rPr lang="en-US" sz="2000" dirty="0" err="1" smtClean="0"/>
              <a:t>especificos</a:t>
            </a:r>
            <a:r>
              <a:rPr lang="en-US" sz="2000" dirty="0" smtClean="0"/>
              <a:t> del </a:t>
            </a:r>
            <a:r>
              <a:rPr lang="en-US" sz="2000" dirty="0" err="1" smtClean="0"/>
              <a:t>dominio</a:t>
            </a:r>
            <a:r>
              <a:rPr lang="en-US" sz="2000" dirty="0" smtClean="0"/>
              <a:t>. </a:t>
            </a:r>
          </a:p>
          <a:p>
            <a:r>
              <a:rPr lang="en-US" sz="2000" dirty="0" err="1" smtClean="0"/>
              <a:t>Elimina</a:t>
            </a:r>
            <a:r>
              <a:rPr lang="en-US" sz="2000" dirty="0" smtClean="0"/>
              <a:t> la </a:t>
            </a:r>
            <a:r>
              <a:rPr lang="en-US" sz="2000" dirty="0" err="1" smtClean="0"/>
              <a:t>necesidad</a:t>
            </a:r>
            <a:r>
              <a:rPr lang="en-US" sz="2000" dirty="0" smtClean="0"/>
              <a:t> the </a:t>
            </a:r>
            <a:r>
              <a:rPr lang="en-US" sz="2000" dirty="0" err="1" smtClean="0"/>
              <a:t>escribir</a:t>
            </a:r>
            <a:r>
              <a:rPr lang="en-US" sz="2000" dirty="0" smtClean="0"/>
              <a:t> </a:t>
            </a:r>
            <a:r>
              <a:rPr lang="en-US" sz="2000" dirty="0" err="1" smtClean="0"/>
              <a:t>codigo</a:t>
            </a:r>
            <a:r>
              <a:rPr lang="en-US" sz="2000" dirty="0" smtClean="0"/>
              <a:t> </a:t>
            </a:r>
            <a:r>
              <a:rPr lang="en-US" sz="2000" dirty="0" err="1" smtClean="0"/>
              <a:t>relacionado</a:t>
            </a:r>
            <a:r>
              <a:rPr lang="en-US" sz="2000" dirty="0" smtClean="0"/>
              <a:t> al </a:t>
            </a:r>
            <a:r>
              <a:rPr lang="en-US" sz="2000" dirty="0" err="1" smtClean="0"/>
              <a:t>acceso</a:t>
            </a:r>
            <a:r>
              <a:rPr lang="en-US" sz="2000" dirty="0" smtClean="0"/>
              <a:t> de </a:t>
            </a:r>
            <a:r>
              <a:rPr lang="en-US" sz="2000" dirty="0" err="1" smtClean="0"/>
              <a:t>datos</a:t>
            </a:r>
            <a:r>
              <a:rPr lang="en-US" sz="2000" dirty="0" smtClean="0"/>
              <a:t>.</a:t>
            </a:r>
          </a:p>
          <a:p>
            <a:r>
              <a:rPr lang="en-US" sz="2000" dirty="0" smtClean="0"/>
              <a:t>Code First  o </a:t>
            </a:r>
            <a:r>
              <a:rPr lang="en-US" sz="2000" dirty="0" err="1" smtClean="0"/>
              <a:t>DataBase</a:t>
            </a:r>
            <a:r>
              <a:rPr lang="en-US" sz="2000" dirty="0" smtClean="0"/>
              <a:t> First.</a:t>
            </a:r>
          </a:p>
          <a:p>
            <a:r>
              <a:rPr lang="es-AR" sz="2000" dirty="0" smtClean="0"/>
              <a:t>Para instalar en el proyecto:  </a:t>
            </a:r>
            <a:r>
              <a:rPr lang="es-AR" sz="2000" dirty="0" err="1" smtClean="0"/>
              <a:t>Install-Package</a:t>
            </a:r>
            <a:r>
              <a:rPr lang="es-AR" sz="2000" dirty="0" smtClean="0"/>
              <a:t> </a:t>
            </a:r>
            <a:r>
              <a:rPr lang="es-AR" sz="2000" dirty="0" err="1" smtClean="0"/>
              <a:t>EntityFramework</a:t>
            </a:r>
            <a:r>
              <a:rPr lang="es-AR" sz="2000" dirty="0" smtClean="0"/>
              <a:t>.</a:t>
            </a:r>
          </a:p>
          <a:p>
            <a:r>
              <a:rPr lang="es-ES" sz="2000" u="sng" dirty="0" err="1" smtClean="0"/>
              <a:t>Migrations</a:t>
            </a:r>
            <a:r>
              <a:rPr lang="es-ES" sz="2000" u="sng" dirty="0" smtClean="0"/>
              <a:t>:</a:t>
            </a:r>
            <a:r>
              <a:rPr lang="es-ES" sz="2000" dirty="0" smtClean="0"/>
              <a:t> Es una funcionalidad EF que permite </a:t>
            </a:r>
            <a:r>
              <a:rPr lang="es-ES" sz="2000" dirty="0"/>
              <a:t>cambiar las entidades o modelo de datos y actualizar el esquema de DB sin la necesidad de </a:t>
            </a:r>
            <a:r>
              <a:rPr lang="es-ES" sz="2000" dirty="0" err="1"/>
              <a:t>rechear</a:t>
            </a:r>
            <a:r>
              <a:rPr lang="es-ES" sz="2000" dirty="0"/>
              <a:t> dicha DB.</a:t>
            </a:r>
          </a:p>
          <a:p>
            <a:endParaRPr lang="es-AR" sz="2000" dirty="0" smtClean="0"/>
          </a:p>
          <a:p>
            <a:endParaRPr lang="es-AR" sz="2000" dirty="0" smtClean="0"/>
          </a:p>
        </p:txBody>
      </p:sp>
    </p:spTree>
    <p:extLst>
      <p:ext uri="{BB962C8B-B14F-4D97-AF65-F5344CB8AC3E}">
        <p14:creationId xmlns:p14="http://schemas.microsoft.com/office/powerpoint/2010/main" val="32356053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400" dirty="0" err="1" smtClean="0"/>
              <a:t>Crear</a:t>
            </a:r>
            <a:r>
              <a:rPr lang="en-US" sz="2400" dirty="0" smtClean="0"/>
              <a:t> el </a:t>
            </a:r>
            <a:r>
              <a:rPr lang="en-US" sz="2400" dirty="0" err="1" smtClean="0"/>
              <a:t>proyecto</a:t>
            </a:r>
            <a:r>
              <a:rPr lang="en-US" sz="2400" dirty="0" smtClean="0"/>
              <a:t> “Data” que </a:t>
            </a:r>
            <a:r>
              <a:rPr lang="en-US" sz="2400" dirty="0" err="1" smtClean="0"/>
              <a:t>generará</a:t>
            </a:r>
            <a:r>
              <a:rPr lang="en-US" sz="2400" dirty="0" smtClean="0"/>
              <a:t> la </a:t>
            </a:r>
            <a:r>
              <a:rPr lang="en-US" sz="2400" dirty="0" err="1" smtClean="0"/>
              <a:t>conexión</a:t>
            </a:r>
            <a:r>
              <a:rPr lang="en-US" sz="2400" dirty="0" smtClean="0"/>
              <a:t> a la base de </a:t>
            </a:r>
            <a:r>
              <a:rPr lang="en-US" sz="2400" dirty="0" err="1" smtClean="0"/>
              <a:t>datos</a:t>
            </a:r>
            <a:r>
              <a:rPr lang="en-US" sz="2400" dirty="0" smtClean="0"/>
              <a:t>.</a:t>
            </a:r>
          </a:p>
          <a:p>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9043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92442"/>
            <a:ext cx="11265408" cy="296842"/>
          </a:xfrm>
        </p:spPr>
        <p:txBody>
          <a:bodyPr/>
          <a:lstStyle/>
          <a:p>
            <a:r>
              <a:rPr lang="es-ES" dirty="0" err="1" smtClean="0"/>
              <a:t>Entity</a:t>
            </a:r>
            <a:r>
              <a:rPr lang="es-ES" dirty="0" smtClean="0"/>
              <a:t> Framework – </a:t>
            </a:r>
            <a:r>
              <a:rPr lang="es-ES" dirty="0" err="1" smtClean="0"/>
              <a:t>Database</a:t>
            </a:r>
            <a:r>
              <a:rPr lang="es-ES" dirty="0" smtClean="0"/>
              <a:t> </a:t>
            </a:r>
            <a:r>
              <a:rPr lang="es-ES" dirty="0" err="1" smtClean="0"/>
              <a:t>context</a:t>
            </a:r>
            <a:r>
              <a:rPr lang="es-ES" dirty="0" smtClean="0"/>
              <a:t> </a:t>
            </a:r>
            <a:endParaRPr lang="en-US" dirty="0"/>
          </a:p>
        </p:txBody>
      </p:sp>
      <p:sp>
        <p:nvSpPr>
          <p:cNvPr id="3" name="Content Placeholder 2"/>
          <p:cNvSpPr>
            <a:spLocks noGrp="1"/>
          </p:cNvSpPr>
          <p:nvPr>
            <p:ph idx="1"/>
          </p:nvPr>
        </p:nvSpPr>
        <p:spPr>
          <a:xfrm>
            <a:off x="633984" y="1195423"/>
            <a:ext cx="11265408" cy="4386511"/>
          </a:xfrm>
        </p:spPr>
        <p:txBody>
          <a:bodyPr>
            <a:noAutofit/>
          </a:bodyPr>
          <a:lstStyle/>
          <a:p>
            <a:r>
              <a:rPr lang="es-ES" sz="2000" dirty="0" smtClean="0"/>
              <a:t>Es la clase principal que coordina la funcionalidad de EF para un modelo de datos dado.</a:t>
            </a:r>
          </a:p>
          <a:p>
            <a:r>
              <a:rPr lang="es-ES" sz="2000" dirty="0" smtClean="0"/>
              <a:t>Esta clase debe heredar de la clase </a:t>
            </a:r>
            <a:r>
              <a:rPr lang="es-ES" sz="2000" dirty="0" err="1" smtClean="0"/>
              <a:t>System.Data.Entity.DbContext</a:t>
            </a:r>
            <a:r>
              <a:rPr lang="es-ES" sz="2000" dirty="0" smtClean="0"/>
              <a:t>.</a:t>
            </a:r>
          </a:p>
          <a:p>
            <a:r>
              <a:rPr lang="es-ES" sz="2000" dirty="0" smtClean="0"/>
              <a:t>En el código se deben especificar qué entidades están incluidas en el modelo </a:t>
            </a:r>
            <a:r>
              <a:rPr lang="es-ES" sz="2000" dirty="0" err="1" smtClean="0"/>
              <a:t>DbSet</a:t>
            </a:r>
            <a:r>
              <a:rPr lang="es-ES" sz="2000" dirty="0" smtClean="0"/>
              <a:t>&lt;&gt;.</a:t>
            </a:r>
          </a:p>
          <a:p>
            <a:r>
              <a:rPr lang="es-AR" sz="2000" dirty="0" smtClean="0"/>
              <a:t>Para </a:t>
            </a:r>
            <a:r>
              <a:rPr lang="es-AR" sz="2000" dirty="0"/>
              <a:t>habilitar EF </a:t>
            </a:r>
            <a:r>
              <a:rPr lang="es-AR" sz="2000" dirty="0" err="1"/>
              <a:t>migrations</a:t>
            </a:r>
            <a:r>
              <a:rPr lang="es-AR" sz="2000" dirty="0"/>
              <a:t>: </a:t>
            </a:r>
            <a:r>
              <a:rPr lang="es-AR" sz="2000" dirty="0" err="1" smtClean="0"/>
              <a:t>enable-migrations</a:t>
            </a:r>
            <a:endParaRPr lang="es-AR" sz="2000" dirty="0" smtClean="0"/>
          </a:p>
          <a:p>
            <a:r>
              <a:rPr lang="es-AR" sz="2000" dirty="0" smtClean="0"/>
              <a:t>Para generar el primer </a:t>
            </a:r>
            <a:r>
              <a:rPr lang="es-AR" sz="2000" dirty="0" err="1" smtClean="0"/>
              <a:t>migration</a:t>
            </a:r>
            <a:r>
              <a:rPr lang="es-AR" sz="2000" dirty="0" smtClean="0"/>
              <a:t>: </a:t>
            </a:r>
            <a:r>
              <a:rPr lang="es-AR" sz="2000" dirty="0" err="1" smtClean="0"/>
              <a:t>add-migration</a:t>
            </a:r>
            <a:r>
              <a:rPr lang="es-AR" sz="2000" dirty="0" smtClean="0"/>
              <a:t> + “nombre”, por ejemplo: “</a:t>
            </a:r>
            <a:r>
              <a:rPr lang="es-AR" sz="2000" dirty="0" err="1" smtClean="0"/>
              <a:t>Inicialize</a:t>
            </a:r>
            <a:r>
              <a:rPr lang="es-AR" sz="2000" dirty="0" smtClean="0"/>
              <a:t> </a:t>
            </a:r>
            <a:r>
              <a:rPr lang="es-AR" sz="2000" dirty="0" err="1" smtClean="0"/>
              <a:t>Database</a:t>
            </a:r>
            <a:r>
              <a:rPr lang="es-AR" sz="2000" dirty="0" smtClean="0"/>
              <a:t>”</a:t>
            </a:r>
            <a:endParaRPr lang="es-AR" sz="2000" dirty="0"/>
          </a:p>
          <a:p>
            <a:r>
              <a:rPr lang="es-AR" sz="2000" dirty="0"/>
              <a:t>Para generar la base de datos: </a:t>
            </a:r>
            <a:r>
              <a:rPr lang="es-AR" sz="2000" dirty="0" err="1"/>
              <a:t>update-database</a:t>
            </a:r>
            <a:endParaRPr lang="en-US" sz="2000" dirty="0"/>
          </a:p>
          <a:p>
            <a:endParaRPr lang="en-US" sz="1800" dirty="0"/>
          </a:p>
        </p:txBody>
      </p:sp>
    </p:spTree>
    <p:extLst>
      <p:ext uri="{BB962C8B-B14F-4D97-AF65-F5344CB8AC3E}">
        <p14:creationId xmlns:p14="http://schemas.microsoft.com/office/powerpoint/2010/main" val="22101626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92442"/>
            <a:ext cx="11265408" cy="296842"/>
          </a:xfrm>
        </p:spPr>
        <p:txBody>
          <a:bodyPr/>
          <a:lstStyle/>
          <a:p>
            <a:r>
              <a:rPr lang="es-ES" dirty="0" err="1" smtClean="0"/>
              <a:t>Entity</a:t>
            </a:r>
            <a:r>
              <a:rPr lang="es-ES" dirty="0" smtClean="0"/>
              <a:t> Framework – </a:t>
            </a:r>
            <a:r>
              <a:rPr lang="es-ES" dirty="0" err="1" smtClean="0"/>
              <a:t>Database</a:t>
            </a:r>
            <a:r>
              <a:rPr lang="es-ES" dirty="0" smtClean="0"/>
              <a:t> </a:t>
            </a:r>
            <a:r>
              <a:rPr lang="es-ES" dirty="0" err="1" smtClean="0"/>
              <a:t>context</a:t>
            </a:r>
            <a:r>
              <a:rPr lang="es-ES" dirty="0" smtClean="0"/>
              <a:t> </a:t>
            </a:r>
            <a:endParaRPr lang="en-US" dirty="0"/>
          </a:p>
        </p:txBody>
      </p:sp>
      <p:pic>
        <p:nvPicPr>
          <p:cNvPr id="4" name="Picture 3"/>
          <p:cNvPicPr>
            <a:picLocks noChangeAspect="1"/>
          </p:cNvPicPr>
          <p:nvPr/>
        </p:nvPicPr>
        <p:blipFill>
          <a:blip r:embed="rId3"/>
          <a:stretch>
            <a:fillRect/>
          </a:stretch>
        </p:blipFill>
        <p:spPr>
          <a:xfrm>
            <a:off x="637413" y="895976"/>
            <a:ext cx="6872659" cy="4650385"/>
          </a:xfrm>
          <a:prstGeom prst="rect">
            <a:avLst/>
          </a:prstGeom>
        </p:spPr>
      </p:pic>
      <p:sp>
        <p:nvSpPr>
          <p:cNvPr id="5" name="Rectangle 4"/>
          <p:cNvSpPr/>
          <p:nvPr/>
        </p:nvSpPr>
        <p:spPr>
          <a:xfrm>
            <a:off x="3807502" y="2683242"/>
            <a:ext cx="1499016" cy="3747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7" name="Straight Arrow Connector 6"/>
          <p:cNvCxnSpPr/>
          <p:nvPr/>
        </p:nvCxnSpPr>
        <p:spPr>
          <a:xfrm flipV="1">
            <a:off x="5306518" y="1409077"/>
            <a:ext cx="2713220" cy="1409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049719" y="1304152"/>
            <a:ext cx="3239092" cy="307777"/>
          </a:xfrm>
          <a:prstGeom prst="rect">
            <a:avLst/>
          </a:prstGeom>
          <a:noFill/>
        </p:spPr>
        <p:txBody>
          <a:bodyPr wrap="none" rtlCol="0">
            <a:spAutoFit/>
          </a:bodyPr>
          <a:lstStyle/>
          <a:p>
            <a:r>
              <a:rPr lang="es-ES" sz="1400" dirty="0" err="1" smtClean="0"/>
              <a:t>Connection</a:t>
            </a:r>
            <a:r>
              <a:rPr lang="es-ES" sz="1400" dirty="0" smtClean="0"/>
              <a:t> </a:t>
            </a:r>
            <a:r>
              <a:rPr lang="es-ES" sz="1400" dirty="0" err="1" smtClean="0"/>
              <a:t>string</a:t>
            </a:r>
            <a:r>
              <a:rPr lang="es-ES" sz="1400" dirty="0" smtClean="0"/>
              <a:t> </a:t>
            </a:r>
            <a:r>
              <a:rPr lang="es-ES" sz="1400" dirty="0" err="1" smtClean="0"/>
              <a:t>name</a:t>
            </a:r>
            <a:r>
              <a:rPr lang="es-ES" sz="1400" dirty="0" smtClean="0"/>
              <a:t> in </a:t>
            </a:r>
            <a:r>
              <a:rPr lang="es-ES" sz="1400" dirty="0" err="1" smtClean="0"/>
              <a:t>web.config</a:t>
            </a:r>
            <a:r>
              <a:rPr lang="es-ES" sz="1400" dirty="0" smtClean="0"/>
              <a:t> </a:t>
            </a:r>
            <a:endParaRPr lang="es-AR" sz="1400" dirty="0"/>
          </a:p>
        </p:txBody>
      </p:sp>
      <p:sp>
        <p:nvSpPr>
          <p:cNvPr id="9" name="Rectangle 1"/>
          <p:cNvSpPr>
            <a:spLocks noChangeArrowheads="1"/>
          </p:cNvSpPr>
          <p:nvPr/>
        </p:nvSpPr>
        <p:spPr bwMode="auto">
          <a:xfrm>
            <a:off x="633984" y="5983987"/>
            <a:ext cx="11349261" cy="784073"/>
          </a:xfrm>
          <a:prstGeom prst="rect">
            <a:avLst/>
          </a:prstGeom>
          <a:solidFill>
            <a:srgbClr val="F3F3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6482" rIns="0" bIns="22852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&lt;</a:t>
            </a:r>
            <a:r>
              <a:rPr kumimoji="0" lang="es-AR" altLang="es-AR" sz="900" b="0" i="0" u="none" strike="noStrike" cap="none" normalizeH="0" baseline="0" dirty="0" err="1" smtClean="0">
                <a:ln>
                  <a:noFill/>
                </a:ln>
                <a:solidFill>
                  <a:srgbClr val="A31515"/>
                </a:solidFill>
                <a:effectLst/>
                <a:latin typeface="Consolas" panose="020B0609020204030204" pitchFamily="49" charset="0"/>
                <a:cs typeface="Consolas" panose="020B0609020204030204" pitchFamily="49" charset="0"/>
              </a:rPr>
              <a:t>connectionStrings</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&gt;</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AR" altLang="es-AR" sz="900" dirty="0">
                <a:solidFill>
                  <a:srgbClr val="000000"/>
                </a:solidFill>
                <a:latin typeface="Consolas" panose="020B0609020204030204" pitchFamily="49" charset="0"/>
                <a:cs typeface="Consolas" panose="020B0609020204030204" pitchFamily="49" charset="0"/>
              </a:rPr>
              <a:t> </a:t>
            </a:r>
            <a:r>
              <a:rPr lang="es-AR" altLang="es-AR" sz="900" dirty="0" smtClean="0">
                <a:solidFill>
                  <a:srgbClr val="000000"/>
                </a:solidFill>
                <a:latin typeface="Consolas" panose="020B0609020204030204" pitchFamily="49" charset="0"/>
                <a:cs typeface="Consolas" panose="020B0609020204030204" pitchFamily="49" charset="0"/>
              </a:rPr>
              <a:t>   </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&lt;</a:t>
            </a:r>
            <a:r>
              <a:rPr kumimoji="0" lang="es-AR" altLang="es-AR" sz="900" b="0" i="0" u="none" strike="noStrike" cap="none" normalizeH="0" baseline="0" dirty="0" err="1" smtClean="0">
                <a:ln>
                  <a:noFill/>
                </a:ln>
                <a:solidFill>
                  <a:srgbClr val="A31515"/>
                </a:solidFill>
                <a:effectLst/>
                <a:latin typeface="Consolas" panose="020B0609020204030204" pitchFamily="49" charset="0"/>
                <a:cs typeface="Consolas" panose="020B0609020204030204" pitchFamily="49" charset="0"/>
              </a:rPr>
              <a:t>add</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900" b="0" i="0" u="none" strike="noStrike" cap="none" normalizeH="0" baseline="0" dirty="0" err="1" smtClean="0">
                <a:ln>
                  <a:noFill/>
                </a:ln>
                <a:solidFill>
                  <a:srgbClr val="FF0000"/>
                </a:solidFill>
                <a:effectLst/>
                <a:latin typeface="Consolas" panose="020B0609020204030204" pitchFamily="49" charset="0"/>
                <a:cs typeface="Consolas" panose="020B0609020204030204" pitchFamily="49" charset="0"/>
              </a:rPr>
              <a:t>name</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SchoolContext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900" b="0" i="0" u="none" strike="noStrike" cap="none" normalizeH="0" baseline="0" dirty="0" err="1" smtClean="0">
                <a:ln>
                  <a:noFill/>
                </a:ln>
                <a:solidFill>
                  <a:srgbClr val="FF0000"/>
                </a:solidFill>
                <a:effectLst/>
                <a:latin typeface="Consolas" panose="020B0609020204030204" pitchFamily="49" charset="0"/>
                <a:cs typeface="Consolas" panose="020B0609020204030204" pitchFamily="49" charset="0"/>
              </a:rPr>
              <a:t>connectionString</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"Data </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Source</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LocalDb</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)\v11.0;Initial </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Catalog</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=ContosoUniversity1;Integrated Security=SSPI;"</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900" b="0" i="0" u="none" strike="noStrike" cap="none" normalizeH="0" baseline="0" dirty="0" err="1" smtClean="0">
                <a:ln>
                  <a:noFill/>
                </a:ln>
                <a:solidFill>
                  <a:srgbClr val="FF0000"/>
                </a:solidFill>
                <a:effectLst/>
                <a:latin typeface="Consolas" panose="020B0609020204030204" pitchFamily="49" charset="0"/>
                <a:cs typeface="Consolas" panose="020B0609020204030204" pitchFamily="49" charset="0"/>
              </a:rPr>
              <a:t>providerName</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System.Data.SqlClient</a:t>
            </a:r>
            <a:r>
              <a:rPr kumimoji="0" lang="es-AR" altLang="es-AR" sz="9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/&gt;</a:t>
            </a:r>
            <a:r>
              <a:rPr kumimoji="0" lang="es-AR" altLang="es-AR" sz="9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&lt;/</a:t>
            </a:r>
            <a:r>
              <a:rPr kumimoji="0" lang="es-AR" altLang="es-AR" sz="900" b="0" i="0" u="none" strike="noStrike" cap="none" normalizeH="0" baseline="0" dirty="0" err="1" smtClean="0">
                <a:ln>
                  <a:noFill/>
                </a:ln>
                <a:solidFill>
                  <a:srgbClr val="A31515"/>
                </a:solidFill>
                <a:effectLst/>
                <a:latin typeface="Consolas" panose="020B0609020204030204" pitchFamily="49" charset="0"/>
                <a:cs typeface="Consolas" panose="020B0609020204030204" pitchFamily="49" charset="0"/>
              </a:rPr>
              <a:t>connectionStrings</a:t>
            </a:r>
            <a:r>
              <a:rPr kumimoji="0" lang="es-AR" altLang="es-AR" sz="900" b="0" i="0" u="none" strike="noStrike" cap="none" normalizeH="0" baseline="0" dirty="0" smtClean="0">
                <a:ln>
                  <a:noFill/>
                </a:ln>
                <a:solidFill>
                  <a:srgbClr val="A31515"/>
                </a:solidFill>
                <a:effectLst/>
                <a:latin typeface="Consolas" panose="020B0609020204030204" pitchFamily="49" charset="0"/>
                <a:cs typeface="Consolas" panose="020B0609020204030204" pitchFamily="49" charset="0"/>
              </a:rPr>
              <a:t>&gt;</a:t>
            </a:r>
            <a:r>
              <a:rPr kumimoji="0" lang="es-AR" altLang="es-AR" sz="900" b="0" i="0" u="none" strike="noStrike" cap="none" normalizeH="0" baseline="0" dirty="0" smtClean="0">
                <a:ln>
                  <a:noFill/>
                </a:ln>
                <a:solidFill>
                  <a:schemeClr val="tx1"/>
                </a:solidFill>
                <a:effectLst/>
              </a:rPr>
              <a:t> </a:t>
            </a:r>
            <a:endParaRPr kumimoji="0" lang="es-AR" altLang="es-AR" sz="1800" b="0" i="0" u="none" strike="noStrike" cap="none" normalizeH="0" baseline="0" dirty="0" smtClean="0">
              <a:ln>
                <a:noFill/>
              </a:ln>
              <a:solidFill>
                <a:schemeClr val="tx1"/>
              </a:solidFill>
              <a:effectLst/>
              <a:latin typeface="Arial" panose="020B0604020202020204" pitchFamily="34" charset="0"/>
            </a:endParaRPr>
          </a:p>
        </p:txBody>
      </p:sp>
      <p:sp>
        <p:nvSpPr>
          <p:cNvPr id="10" name="TextBox 9"/>
          <p:cNvSpPr txBox="1"/>
          <p:nvPr/>
        </p:nvSpPr>
        <p:spPr>
          <a:xfrm>
            <a:off x="569627" y="5696008"/>
            <a:ext cx="1338123" cy="369332"/>
          </a:xfrm>
          <a:prstGeom prst="rect">
            <a:avLst/>
          </a:prstGeom>
          <a:noFill/>
        </p:spPr>
        <p:txBody>
          <a:bodyPr wrap="none" rtlCol="0">
            <a:spAutoFit/>
          </a:bodyPr>
          <a:lstStyle/>
          <a:p>
            <a:r>
              <a:rPr lang="es-ES" dirty="0" err="1" smtClean="0"/>
              <a:t>Web.config</a:t>
            </a:r>
            <a:endParaRPr lang="es-AR" dirty="0"/>
          </a:p>
        </p:txBody>
      </p:sp>
    </p:spTree>
    <p:extLst>
      <p:ext uri="{BB962C8B-B14F-4D97-AF65-F5344CB8AC3E}">
        <p14:creationId xmlns:p14="http://schemas.microsoft.com/office/powerpoint/2010/main" val="19802486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n-US" sz="2000" dirty="0" err="1" smtClean="0"/>
              <a:t>Crear</a:t>
            </a:r>
            <a:r>
              <a:rPr lang="en-US" sz="2000" dirty="0" smtClean="0"/>
              <a:t> la </a:t>
            </a:r>
            <a:r>
              <a:rPr lang="en-US" sz="2000" dirty="0" err="1" smtClean="0"/>
              <a:t>clase</a:t>
            </a:r>
            <a:r>
              <a:rPr lang="en-US" sz="2000" dirty="0" smtClean="0"/>
              <a:t> que </a:t>
            </a:r>
            <a:r>
              <a:rPr lang="en-US" sz="2000" dirty="0" err="1" smtClean="0"/>
              <a:t>hereda</a:t>
            </a:r>
            <a:r>
              <a:rPr lang="en-US" sz="2000" dirty="0" smtClean="0"/>
              <a:t> de </a:t>
            </a:r>
            <a:r>
              <a:rPr lang="en-US" sz="2000" dirty="0" err="1" smtClean="0"/>
              <a:t>DbContext</a:t>
            </a:r>
            <a:r>
              <a:rPr lang="en-US" sz="2000" dirty="0" smtClean="0"/>
              <a:t>.</a:t>
            </a:r>
          </a:p>
          <a:p>
            <a:r>
              <a:rPr lang="en-US" sz="2000" dirty="0" err="1" smtClean="0"/>
              <a:t>Crear</a:t>
            </a:r>
            <a:r>
              <a:rPr lang="en-US" sz="2000" dirty="0" smtClean="0"/>
              <a:t> DB </a:t>
            </a:r>
            <a:r>
              <a:rPr lang="en-US" sz="2000" dirty="0" err="1" smtClean="0"/>
              <a:t>usando</a:t>
            </a:r>
            <a:r>
              <a:rPr lang="en-US" sz="2000" dirty="0" smtClean="0"/>
              <a:t> migrations</a:t>
            </a:r>
          </a:p>
          <a:p>
            <a:pPr indent="0">
              <a:buNone/>
            </a:pPr>
            <a:r>
              <a:rPr lang="es-AR" sz="2000" dirty="0" smtClean="0"/>
              <a:t>    - </a:t>
            </a:r>
            <a:r>
              <a:rPr lang="es-AR" sz="2000" dirty="0" err="1" smtClean="0"/>
              <a:t>enable-migrations</a:t>
            </a:r>
            <a:endParaRPr lang="es-AR" sz="2000" dirty="0" smtClean="0"/>
          </a:p>
          <a:p>
            <a:pPr indent="0">
              <a:buNone/>
            </a:pPr>
            <a:r>
              <a:rPr lang="es-AR" sz="2000" dirty="0"/>
              <a:t> </a:t>
            </a:r>
            <a:r>
              <a:rPr lang="es-AR" sz="2000" dirty="0" smtClean="0"/>
              <a:t>   </a:t>
            </a:r>
            <a:r>
              <a:rPr lang="es-AR" sz="2000" dirty="0"/>
              <a:t>- </a:t>
            </a:r>
            <a:r>
              <a:rPr lang="es-AR" sz="2000" dirty="0" err="1" smtClean="0"/>
              <a:t>add-migration</a:t>
            </a:r>
            <a:r>
              <a:rPr lang="es-AR" sz="2000" dirty="0" smtClean="0"/>
              <a:t> + “nombre”</a:t>
            </a:r>
            <a:endParaRPr lang="es-AR" sz="2000" dirty="0"/>
          </a:p>
          <a:p>
            <a:pPr indent="0">
              <a:buNone/>
            </a:pPr>
            <a:r>
              <a:rPr lang="es-AR" sz="2000" dirty="0" smtClean="0"/>
              <a:t>    - </a:t>
            </a:r>
            <a:r>
              <a:rPr lang="es-AR" sz="2000" dirty="0" err="1" smtClean="0"/>
              <a:t>update-database</a:t>
            </a:r>
            <a:endParaRPr lang="en-US" sz="2000" dirty="0"/>
          </a:p>
          <a:p>
            <a:pPr indent="0">
              <a:buNone/>
            </a:pPr>
            <a:endParaRPr lang="en-US" sz="2400" dirty="0" smtClean="0"/>
          </a:p>
          <a:p>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8771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084" y="347472"/>
            <a:ext cx="11265408" cy="296842"/>
          </a:xfrm>
        </p:spPr>
        <p:txBody>
          <a:bodyPr/>
          <a:lstStyle/>
          <a:p>
            <a:r>
              <a:rPr lang="es-ES" dirty="0" err="1" smtClean="0"/>
              <a:t>Entity</a:t>
            </a:r>
            <a:r>
              <a:rPr lang="es-ES" dirty="0" smtClean="0"/>
              <a:t> Framework - DATA ANNOTATIONS</a:t>
            </a:r>
            <a:endParaRPr lang="en-US" dirty="0"/>
          </a:p>
        </p:txBody>
      </p:sp>
      <p:sp>
        <p:nvSpPr>
          <p:cNvPr id="4" name="Content Placeholder 2"/>
          <p:cNvSpPr>
            <a:spLocks noGrp="1"/>
          </p:cNvSpPr>
          <p:nvPr>
            <p:ph idx="1"/>
          </p:nvPr>
        </p:nvSpPr>
        <p:spPr>
          <a:xfrm>
            <a:off x="484084" y="1195423"/>
            <a:ext cx="11415308" cy="4386511"/>
          </a:xfrm>
        </p:spPr>
        <p:txBody>
          <a:bodyPr>
            <a:noAutofit/>
          </a:bodyPr>
          <a:lstStyle/>
          <a:p>
            <a:r>
              <a:rPr lang="es-ES" sz="2000" dirty="0" smtClean="0"/>
              <a:t>Son útiles cuando se utiliza la modalidad </a:t>
            </a:r>
            <a:r>
              <a:rPr lang="es-ES" sz="2000" dirty="0" err="1" smtClean="0"/>
              <a:t>Code-First</a:t>
            </a:r>
            <a:r>
              <a:rPr lang="es-ES" sz="2000" dirty="0" smtClean="0"/>
              <a:t>.</a:t>
            </a:r>
          </a:p>
          <a:p>
            <a:r>
              <a:rPr lang="es-ES" sz="2000" dirty="0" smtClean="0"/>
              <a:t>Representan una manera simple de instruir a EF con respecto a la estructura del modelo y en como debería traducirse dicho modelo en una base de datos relacional.</a:t>
            </a:r>
          </a:p>
          <a:p>
            <a:r>
              <a:rPr lang="es-ES" sz="2000" dirty="0" smtClean="0"/>
              <a:t>Se pueden utilizar como reglas de validación de parte del cliente (vistas).</a:t>
            </a:r>
          </a:p>
          <a:p>
            <a:r>
              <a:rPr lang="es-ES" sz="2000" dirty="0" smtClean="0"/>
              <a:t>Los atributos de data </a:t>
            </a:r>
            <a:r>
              <a:rPr lang="es-ES" sz="2000" dirty="0" err="1" smtClean="0"/>
              <a:t>annotations</a:t>
            </a:r>
            <a:r>
              <a:rPr lang="es-ES" sz="2000" dirty="0" smtClean="0"/>
              <a:t> pueden clasificarse en:</a:t>
            </a:r>
          </a:p>
          <a:p>
            <a:pPr lvl="2" indent="0">
              <a:buNone/>
            </a:pPr>
            <a:r>
              <a:rPr lang="es-ES" sz="2000" dirty="0" smtClean="0"/>
              <a:t>	- Atributos de validación</a:t>
            </a:r>
          </a:p>
          <a:p>
            <a:pPr lvl="2" indent="0">
              <a:buNone/>
            </a:pPr>
            <a:r>
              <a:rPr lang="es-ES" sz="2000" dirty="0"/>
              <a:t>	</a:t>
            </a:r>
            <a:r>
              <a:rPr lang="es-ES" sz="2000" dirty="0" smtClean="0"/>
              <a:t>- Atributos relacionados al esquema de base de datos.</a:t>
            </a:r>
          </a:p>
          <a:p>
            <a:pPr lvl="2" indent="0">
              <a:buNone/>
            </a:pPr>
            <a:endParaRPr lang="es-ES" sz="1800" dirty="0" smtClean="0"/>
          </a:p>
          <a:p>
            <a:pPr lvl="2" indent="0">
              <a:buNone/>
            </a:pPr>
            <a:endParaRPr lang="es-ES" sz="1800" dirty="0" smtClean="0"/>
          </a:p>
          <a:p>
            <a:pPr lvl="2" indent="0">
              <a:buNone/>
            </a:pPr>
            <a:endParaRPr lang="es-ES" sz="1800" dirty="0" smtClean="0"/>
          </a:p>
          <a:p>
            <a:pPr lvl="2" indent="0">
              <a:buNone/>
            </a:pPr>
            <a:r>
              <a:rPr lang="es-ES" sz="1800" dirty="0"/>
              <a:t>	</a:t>
            </a:r>
            <a:endParaRPr lang="en-US" sz="1800" dirty="0"/>
          </a:p>
        </p:txBody>
      </p:sp>
    </p:spTree>
    <p:extLst>
      <p:ext uri="{BB962C8B-B14F-4D97-AF65-F5344CB8AC3E}">
        <p14:creationId xmlns:p14="http://schemas.microsoft.com/office/powerpoint/2010/main" val="3696735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smtClean="0"/>
              <a:t>Entity</a:t>
            </a:r>
            <a:r>
              <a:rPr lang="es-ES" dirty="0" smtClean="0"/>
              <a:t> Framework - DATA ANNOTATIONS</a:t>
            </a:r>
            <a:endParaRPr lang="en-US" dirty="0"/>
          </a:p>
        </p:txBody>
      </p:sp>
      <p:sp>
        <p:nvSpPr>
          <p:cNvPr id="6" name="Rectangle 2"/>
          <p:cNvSpPr>
            <a:spLocks noChangeArrowheads="1"/>
          </p:cNvSpPr>
          <p:nvPr/>
        </p:nvSpPr>
        <p:spPr bwMode="auto">
          <a:xfrm>
            <a:off x="796245" y="1243396"/>
            <a:ext cx="10311465" cy="40318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using</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00"/>
                </a:solidFill>
                <a:effectLst/>
                <a:latin typeface="Consolas" panose="020B0609020204030204" pitchFamily="49" charset="0"/>
                <a:cs typeface="Consolas" panose="020B0609020204030204" pitchFamily="49" charset="0"/>
              </a:rPr>
              <a:t>System.ComponentModel.DataAnnotations</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1600" dirty="0">
              <a:solidFill>
                <a:srgbClr val="000000"/>
              </a:solidFill>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public</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class</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2B91AF"/>
                </a:solidFill>
                <a:effectLst/>
                <a:latin typeface="Consolas" panose="020B0609020204030204" pitchFamily="49" charset="0"/>
                <a:cs typeface="Consolas" panose="020B0609020204030204" pitchFamily="49" charset="0"/>
              </a:rPr>
              <a:t>Movie</a:t>
            </a:r>
            <a:endPar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AR" altLang="es-AR" sz="1600" dirty="0" smtClean="0">
                <a:solidFill>
                  <a:srgbClr val="000000"/>
                </a:solidFill>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public</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00"/>
                </a:solidFill>
                <a:effectLst/>
                <a:latin typeface="Consolas" panose="020B0609020204030204" pitchFamily="49" charset="0"/>
                <a:cs typeface="Consolas" panose="020B0609020204030204" pitchFamily="49" charset="0"/>
              </a:rPr>
              <a:t>Movie</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   </a:t>
            </a:r>
          </a:p>
          <a:p>
            <a:pPr lvl="0" eaLnBrk="0" fontAlgn="base" hangingPunct="0">
              <a:spcBef>
                <a:spcPct val="0"/>
              </a:spcBef>
              <a:spcAft>
                <a:spcPct val="0"/>
              </a:spcAft>
            </a:pP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smtClean="0">
                <a:solidFill>
                  <a:srgbClr val="2B91AF"/>
                </a:solidFill>
                <a:latin typeface="Consolas" panose="020B0609020204030204" pitchFamily="49" charset="0"/>
                <a:cs typeface="Consolas" panose="020B0609020204030204" pitchFamily="49" charset="0"/>
              </a:rPr>
              <a:t>Key</a:t>
            </a:r>
            <a:r>
              <a:rPr lang="es-AR" altLang="es-AR" sz="1600" dirty="0" smtClean="0">
                <a:solidFill>
                  <a:srgbClr val="000000"/>
                </a:solidFill>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public</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int</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Id{ </a:t>
            </a:r>
            <a:r>
              <a:rPr kumimoji="0" lang="es-AR" altLang="es-AR" sz="1600" b="0" i="0" u="none" strike="noStrike" cap="none" normalizeH="0" baseline="0" dirty="0" err="1" smtClean="0">
                <a:ln>
                  <a:noFill/>
                </a:ln>
                <a:solidFill>
                  <a:srgbClr val="0000FF"/>
                </a:solidFill>
                <a:effectLst/>
                <a:latin typeface="Consolas" panose="020B0609020204030204" pitchFamily="49" charset="0"/>
                <a:cs typeface="Consolas" panose="020B0609020204030204" pitchFamily="49" charset="0"/>
              </a:rPr>
              <a:t>get</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set</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1600" dirty="0">
              <a:solidFill>
                <a:srgbClr val="000000"/>
              </a:solidFill>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es-AR" altLang="es-AR" sz="1600" b="0" i="0" u="none" strike="noStrike" cap="none" normalizeH="0" baseline="0" dirty="0" err="1" smtClean="0">
                <a:ln>
                  <a:noFill/>
                </a:ln>
                <a:solidFill>
                  <a:srgbClr val="2B91AF"/>
                </a:solidFill>
                <a:effectLst/>
                <a:latin typeface="Consolas" panose="020B0609020204030204" pitchFamily="49" charset="0"/>
                <a:cs typeface="Consolas" panose="020B0609020204030204" pitchFamily="49" charset="0"/>
              </a:rPr>
              <a:t>Required</a:t>
            </a: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p>
          <a:p>
            <a:pPr lvl="0" eaLnBrk="0" fontAlgn="base" hangingPunct="0">
              <a:spcBef>
                <a:spcPct val="0"/>
              </a:spcBef>
              <a:spcAft>
                <a:spcPct val="0"/>
              </a:spcAft>
            </a:pP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MaxLength</a:t>
            </a:r>
            <a:r>
              <a:rPr lang="es-AR" altLang="es-AR" sz="1600" dirty="0" smtClean="0">
                <a:solidFill>
                  <a:srgbClr val="2B91AF"/>
                </a:solidFill>
                <a:latin typeface="Consolas" panose="020B0609020204030204" pitchFamily="49" charset="0"/>
                <a:cs typeface="Consolas" panose="020B0609020204030204" pitchFamily="49" charset="0"/>
              </a:rPr>
              <a:t>(50, </a:t>
            </a:r>
            <a:r>
              <a:rPr lang="es-AR" altLang="es-AR" sz="1600" dirty="0" err="1" smtClean="0">
                <a:solidFill>
                  <a:srgbClr val="2B91AF"/>
                </a:solidFill>
                <a:latin typeface="Consolas" panose="020B0609020204030204" pitchFamily="49" charset="0"/>
                <a:cs typeface="Consolas" panose="020B0609020204030204" pitchFamily="49" charset="0"/>
              </a:rPr>
              <a:t>ErrorMessage</a:t>
            </a:r>
            <a:r>
              <a:rPr lang="es-AR" altLang="es-AR" sz="1600" dirty="0" smtClean="0">
                <a:solidFill>
                  <a:srgbClr val="2B91AF"/>
                </a:solidFill>
                <a:latin typeface="Consolas" panose="020B0609020204030204" pitchFamily="49" charset="0"/>
                <a:cs typeface="Consolas" panose="020B0609020204030204" pitchFamily="49" charset="0"/>
              </a:rPr>
              <a:t> = “</a:t>
            </a:r>
            <a:r>
              <a:rPr lang="es-AR" altLang="es-AR" sz="1600" dirty="0" err="1" smtClean="0">
                <a:solidFill>
                  <a:srgbClr val="2B91AF"/>
                </a:solidFill>
                <a:latin typeface="Consolas" panose="020B0609020204030204" pitchFamily="49" charset="0"/>
                <a:cs typeface="Consolas" panose="020B0609020204030204" pitchFamily="49" charset="0"/>
              </a:rPr>
              <a:t>Property</a:t>
            </a:r>
            <a:r>
              <a:rPr lang="es-AR" altLang="es-AR" sz="1600" dirty="0" smtClean="0">
                <a:solidFill>
                  <a:srgbClr val="2B91AF"/>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Name</a:t>
            </a:r>
            <a:r>
              <a:rPr lang="es-AR" altLang="es-AR" sz="1600" dirty="0" smtClean="0">
                <a:solidFill>
                  <a:srgbClr val="2B91AF"/>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cannot</a:t>
            </a:r>
            <a:r>
              <a:rPr lang="es-AR" altLang="es-AR" sz="1600" dirty="0" smtClean="0">
                <a:solidFill>
                  <a:srgbClr val="2B91AF"/>
                </a:solidFill>
                <a:latin typeface="Consolas" panose="020B0609020204030204" pitchFamily="49" charset="0"/>
                <a:cs typeface="Consolas" panose="020B0609020204030204" pitchFamily="49" charset="0"/>
              </a:rPr>
              <a:t> </a:t>
            </a:r>
            <a:r>
              <a:rPr lang="es-AR" altLang="es-AR" sz="1600" dirty="0" err="1" smtClean="0">
                <a:solidFill>
                  <a:srgbClr val="2B91AF"/>
                </a:solidFill>
                <a:latin typeface="Consolas" panose="020B0609020204030204" pitchFamily="49" charset="0"/>
                <a:cs typeface="Consolas" panose="020B0609020204030204" pitchFamily="49" charset="0"/>
              </a:rPr>
              <a:t>have</a:t>
            </a:r>
            <a:r>
              <a:rPr lang="es-AR" altLang="es-AR" sz="1600" dirty="0" smtClean="0">
                <a:solidFill>
                  <a:srgbClr val="2B91AF"/>
                </a:solidFill>
                <a:latin typeface="Consolas" panose="020B0609020204030204" pitchFamily="49" charset="0"/>
                <a:cs typeface="Consolas" panose="020B0609020204030204" pitchFamily="49" charset="0"/>
              </a:rPr>
              <a:t> more </a:t>
            </a:r>
            <a:r>
              <a:rPr lang="es-AR" altLang="es-AR" sz="1600" dirty="0" err="1" smtClean="0">
                <a:solidFill>
                  <a:srgbClr val="2B91AF"/>
                </a:solidFill>
                <a:latin typeface="Consolas" panose="020B0609020204030204" pitchFamily="49" charset="0"/>
                <a:cs typeface="Consolas" panose="020B0609020204030204" pitchFamily="49" charset="0"/>
              </a:rPr>
              <a:t>than</a:t>
            </a:r>
            <a:r>
              <a:rPr lang="es-AR" altLang="es-AR" sz="1600" dirty="0" smtClean="0">
                <a:solidFill>
                  <a:srgbClr val="2B91AF"/>
                </a:solidFill>
                <a:latin typeface="Consolas" panose="020B0609020204030204" pitchFamily="49" charset="0"/>
                <a:cs typeface="Consolas" panose="020B0609020204030204" pitchFamily="49" charset="0"/>
              </a:rPr>
              <a:t> 50 </a:t>
            </a:r>
            <a:r>
              <a:rPr lang="es-AR" altLang="es-AR" sz="1600" dirty="0" err="1" smtClean="0">
                <a:solidFill>
                  <a:srgbClr val="2B91AF"/>
                </a:solidFill>
                <a:latin typeface="Consolas" panose="020B0609020204030204" pitchFamily="49" charset="0"/>
                <a:cs typeface="Consolas" panose="020B0609020204030204" pitchFamily="49" charset="0"/>
              </a:rPr>
              <a:t>characters</a:t>
            </a:r>
            <a:r>
              <a:rPr lang="es-AR" altLang="es-AR" sz="1600" dirty="0" smtClean="0">
                <a:solidFill>
                  <a:srgbClr val="2B91AF"/>
                </a:solidFill>
                <a:latin typeface="Consolas" panose="020B0609020204030204" pitchFamily="49" charset="0"/>
                <a:cs typeface="Consolas" panose="020B0609020204030204" pitchFamily="49" charset="0"/>
              </a:rPr>
              <a:t>”)</a:t>
            </a:r>
            <a:r>
              <a:rPr lang="es-AR" altLang="es-AR" sz="1600" dirty="0" smtClean="0">
                <a:solidFill>
                  <a:srgbClr val="000000"/>
                </a:solidFill>
                <a:latin typeface="Consolas" panose="020B0609020204030204" pitchFamily="49" charset="0"/>
                <a:cs typeface="Consolas" panose="020B0609020204030204" pitchFamily="49" charset="0"/>
              </a:rPr>
              <a:t>] </a:t>
            </a:r>
            <a:endPar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err="1">
                <a:solidFill>
                  <a:srgbClr val="0000FF"/>
                </a:solidFill>
                <a:latin typeface="Consolas" panose="020B0609020204030204" pitchFamily="49" charset="0"/>
                <a:cs typeface="Consolas" panose="020B0609020204030204" pitchFamily="49" charset="0"/>
              </a:rPr>
              <a:t>public</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err="1">
                <a:solidFill>
                  <a:srgbClr val="0000FF"/>
                </a:solidFill>
                <a:latin typeface="Consolas" panose="020B0609020204030204" pitchFamily="49" charset="0"/>
                <a:cs typeface="Consolas" panose="020B0609020204030204" pitchFamily="49" charset="0"/>
              </a:rPr>
              <a:t>string</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err="1">
                <a:solidFill>
                  <a:srgbClr val="000000"/>
                </a:solidFill>
                <a:latin typeface="Consolas" panose="020B0609020204030204" pitchFamily="49" charset="0"/>
                <a:cs typeface="Consolas" panose="020B0609020204030204" pitchFamily="49" charset="0"/>
              </a:rPr>
              <a:t>Name</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err="1">
                <a:solidFill>
                  <a:srgbClr val="0000FF"/>
                </a:solidFill>
                <a:latin typeface="Consolas" panose="020B0609020204030204" pitchFamily="49" charset="0"/>
                <a:cs typeface="Consolas" panose="020B0609020204030204" pitchFamily="49" charset="0"/>
              </a:rPr>
              <a:t>get</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a:solidFill>
                  <a:srgbClr val="0000FF"/>
                </a:solidFill>
                <a:latin typeface="Consolas" panose="020B0609020204030204" pitchFamily="49" charset="0"/>
                <a:cs typeface="Consolas" panose="020B0609020204030204" pitchFamily="49" charset="0"/>
              </a:rPr>
              <a:t>set</a:t>
            </a:r>
            <a:r>
              <a:rPr lang="es-AR" altLang="es-AR" sz="1600" dirty="0">
                <a:solidFill>
                  <a:srgbClr val="000000"/>
                </a:solidFill>
                <a:latin typeface="Consolas" panose="020B0609020204030204" pitchFamily="49" charset="0"/>
                <a:cs typeface="Consolas" panose="020B0609020204030204" pitchFamily="49" charset="0"/>
              </a:rPr>
              <a:t>; }</a:t>
            </a:r>
          </a:p>
          <a:p>
            <a:pPr eaLnBrk="0" fontAlgn="base" hangingPunct="0">
              <a:spcBef>
                <a:spcPct val="0"/>
              </a:spcBef>
              <a:spcAft>
                <a:spcPct val="0"/>
              </a:spcAft>
            </a:pPr>
            <a:endParaRPr lang="es-ES" altLang="es-AR" sz="1600" dirty="0" smtClean="0">
              <a:solidFill>
                <a:srgbClr val="0000FF"/>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s-ES" altLang="es-AR" sz="1600" dirty="0">
                <a:solidFill>
                  <a:srgbClr val="0000FF"/>
                </a:solidFill>
                <a:latin typeface="Consolas" panose="020B0609020204030204" pitchFamily="49" charset="0"/>
                <a:cs typeface="Consolas" panose="020B0609020204030204" pitchFamily="49" charset="0"/>
              </a:rPr>
              <a:t> </a:t>
            </a:r>
            <a:r>
              <a:rPr lang="es-ES" altLang="es-AR" sz="1600" dirty="0" smtClean="0">
                <a:solidFill>
                  <a:srgbClr val="0000FF"/>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a:t>
            </a:r>
            <a:r>
              <a:rPr lang="es-AR" altLang="es-AR" sz="1600" dirty="0" err="1" smtClean="0">
                <a:solidFill>
                  <a:srgbClr val="2B91AF"/>
                </a:solidFill>
                <a:latin typeface="Consolas" panose="020B0609020204030204" pitchFamily="49" charset="0"/>
                <a:cs typeface="Consolas" panose="020B0609020204030204" pitchFamily="49" charset="0"/>
              </a:rPr>
              <a:t>DataType</a:t>
            </a:r>
            <a:r>
              <a:rPr lang="es-AR" altLang="es-AR" sz="1600" dirty="0" smtClean="0">
                <a:solidFill>
                  <a:srgbClr val="2B91AF"/>
                </a:solidFill>
                <a:latin typeface="Consolas" panose="020B0609020204030204" pitchFamily="49" charset="0"/>
                <a:cs typeface="Consolas" panose="020B0609020204030204" pitchFamily="49" charset="0"/>
              </a:rPr>
              <a:t>(</a:t>
            </a:r>
            <a:r>
              <a:rPr lang="es-AR" altLang="es-AR" sz="1600" dirty="0" err="1" smtClean="0">
                <a:solidFill>
                  <a:srgbClr val="2B91AF"/>
                </a:solidFill>
                <a:latin typeface="Consolas" panose="020B0609020204030204" pitchFamily="49" charset="0"/>
                <a:cs typeface="Consolas" panose="020B0609020204030204" pitchFamily="49" charset="0"/>
              </a:rPr>
              <a:t>DataType.Date</a:t>
            </a:r>
            <a:r>
              <a:rPr lang="es-AR" altLang="es-AR" sz="1600" dirty="0" smtClean="0">
                <a:solidFill>
                  <a:srgbClr val="2B91AF"/>
                </a:solidFill>
                <a:latin typeface="Consolas" panose="020B0609020204030204" pitchFamily="49" charset="0"/>
                <a:cs typeface="Consolas" panose="020B0609020204030204" pitchFamily="49" charset="0"/>
              </a:rPr>
              <a:t>)</a:t>
            </a:r>
            <a:r>
              <a:rPr lang="es-AR" altLang="es-AR" sz="1600" dirty="0" smtClean="0">
                <a:solidFill>
                  <a:srgbClr val="000000"/>
                </a:solidFill>
                <a:latin typeface="Consolas" panose="020B0609020204030204" pitchFamily="49" charset="0"/>
                <a:cs typeface="Consolas" panose="020B0609020204030204" pitchFamily="49" charset="0"/>
              </a:rPr>
              <a:t>] </a:t>
            </a:r>
            <a:endParaRPr lang="es-AR" altLang="es-AR" sz="1600" dirty="0">
              <a:solidFill>
                <a:srgbClr val="000000"/>
              </a:solidFill>
              <a:latin typeface="Consolas" panose="020B0609020204030204" pitchFamily="49" charset="0"/>
              <a:cs typeface="Consolas" panose="020B0609020204030204" pitchFamily="49" charset="0"/>
            </a:endParaRPr>
          </a:p>
          <a:p>
            <a:pPr eaLnBrk="0" fontAlgn="base" hangingPunct="0">
              <a:spcBef>
                <a:spcPct val="0"/>
              </a:spcBef>
              <a:spcAft>
                <a:spcPct val="0"/>
              </a:spcAft>
            </a:pPr>
            <a:r>
              <a:rPr lang="es-AR" altLang="es-AR" sz="1600" dirty="0" smtClean="0">
                <a:solidFill>
                  <a:srgbClr val="0000FF"/>
                </a:solidFill>
                <a:latin typeface="Consolas" panose="020B0609020204030204" pitchFamily="49" charset="0"/>
                <a:cs typeface="Consolas" panose="020B0609020204030204" pitchFamily="49" charset="0"/>
              </a:rPr>
              <a:t>    </a:t>
            </a:r>
            <a:r>
              <a:rPr lang="es-AR" altLang="es-AR" sz="1600" dirty="0" err="1" smtClean="0">
                <a:solidFill>
                  <a:srgbClr val="0000FF"/>
                </a:solidFill>
                <a:latin typeface="Consolas" panose="020B0609020204030204" pitchFamily="49" charset="0"/>
                <a:cs typeface="Consolas" panose="020B0609020204030204" pitchFamily="49" charset="0"/>
              </a:rPr>
              <a:t>public</a:t>
            </a:r>
            <a:r>
              <a:rPr lang="es-AR" altLang="es-AR" sz="1600" dirty="0" smtClean="0">
                <a:solidFill>
                  <a:srgbClr val="000000"/>
                </a:solidFill>
                <a:latin typeface="Consolas" panose="020B0609020204030204" pitchFamily="49" charset="0"/>
                <a:cs typeface="Consolas" panose="020B0609020204030204" pitchFamily="49" charset="0"/>
              </a:rPr>
              <a:t> </a:t>
            </a:r>
            <a:r>
              <a:rPr lang="es-AR" altLang="es-AR" sz="1600" dirty="0" err="1" smtClean="0">
                <a:solidFill>
                  <a:srgbClr val="0000FF"/>
                </a:solidFill>
                <a:latin typeface="Consolas" panose="020B0609020204030204" pitchFamily="49" charset="0"/>
                <a:cs typeface="Consolas" panose="020B0609020204030204" pitchFamily="49" charset="0"/>
              </a:rPr>
              <a:t>DateTime</a:t>
            </a:r>
            <a:r>
              <a:rPr lang="es-AR" altLang="es-AR" sz="1600" dirty="0" smtClean="0">
                <a:solidFill>
                  <a:srgbClr val="0000FF"/>
                </a:solidFill>
                <a:latin typeface="Consolas" panose="020B0609020204030204" pitchFamily="49" charset="0"/>
                <a:cs typeface="Consolas" panose="020B0609020204030204" pitchFamily="49" charset="0"/>
              </a:rPr>
              <a:t> </a:t>
            </a:r>
            <a:r>
              <a:rPr lang="es-AR" altLang="es-AR" sz="1600" dirty="0" smtClean="0">
                <a:solidFill>
                  <a:srgbClr val="000000"/>
                </a:solidFill>
                <a:latin typeface="Consolas" panose="020B0609020204030204" pitchFamily="49" charset="0"/>
                <a:cs typeface="Consolas" panose="020B0609020204030204" pitchFamily="49" charset="0"/>
              </a:rPr>
              <a:t>Date{ </a:t>
            </a:r>
            <a:r>
              <a:rPr lang="es-AR" altLang="es-AR" sz="1600" dirty="0" err="1">
                <a:solidFill>
                  <a:srgbClr val="0000FF"/>
                </a:solidFill>
                <a:latin typeface="Consolas" panose="020B0609020204030204" pitchFamily="49" charset="0"/>
                <a:cs typeface="Consolas" panose="020B0609020204030204" pitchFamily="49" charset="0"/>
              </a:rPr>
              <a:t>get</a:t>
            </a:r>
            <a:r>
              <a:rPr lang="es-AR" altLang="es-AR" sz="1600" dirty="0">
                <a:solidFill>
                  <a:srgbClr val="000000"/>
                </a:solidFill>
                <a:latin typeface="Consolas" panose="020B0609020204030204" pitchFamily="49" charset="0"/>
                <a:cs typeface="Consolas" panose="020B0609020204030204" pitchFamily="49" charset="0"/>
              </a:rPr>
              <a:t>; </a:t>
            </a:r>
            <a:r>
              <a:rPr lang="es-AR" altLang="es-AR" sz="1600" dirty="0">
                <a:solidFill>
                  <a:srgbClr val="0000FF"/>
                </a:solidFill>
                <a:latin typeface="Consolas" panose="020B0609020204030204" pitchFamily="49" charset="0"/>
                <a:cs typeface="Consolas" panose="020B0609020204030204" pitchFamily="49" charset="0"/>
              </a:rPr>
              <a:t>set</a:t>
            </a:r>
            <a:r>
              <a:rPr lang="es-AR" altLang="es-AR" sz="1600" dirty="0">
                <a:solidFill>
                  <a:srgbClr val="000000"/>
                </a:solidFill>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6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s-AR" altLang="es-AR" sz="1600" b="0" i="0" u="none" strike="noStrike" cap="none" normalizeH="0" baseline="0" dirty="0" smtClean="0">
                <a:ln>
                  <a:noFill/>
                </a:ln>
                <a:solidFill>
                  <a:schemeClr val="tx1"/>
                </a:solidFill>
                <a:effectLst/>
              </a:rPr>
              <a:t> </a:t>
            </a:r>
            <a:endParaRPr kumimoji="0" lang="es-AR" altLang="es-AR"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56960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smtClean="0"/>
              <a:t>Entity</a:t>
            </a:r>
            <a:r>
              <a:rPr lang="es-ES" dirty="0" smtClean="0"/>
              <a:t> Framework - DATA ANNOTATIONS</a:t>
            </a:r>
            <a:endParaRPr lang="en-US" dirty="0"/>
          </a:p>
        </p:txBody>
      </p:sp>
      <p:sp>
        <p:nvSpPr>
          <p:cNvPr id="3" name="Content Placeholder 2"/>
          <p:cNvSpPr>
            <a:spLocks noGrp="1"/>
          </p:cNvSpPr>
          <p:nvPr>
            <p:ph idx="1"/>
          </p:nvPr>
        </p:nvSpPr>
        <p:spPr>
          <a:xfrm>
            <a:off x="364792" y="1195423"/>
            <a:ext cx="11534600" cy="4386511"/>
          </a:xfrm>
        </p:spPr>
        <p:txBody>
          <a:bodyPr>
            <a:noAutofit/>
          </a:bodyPr>
          <a:lstStyle/>
          <a:p>
            <a:r>
              <a:rPr lang="es-ES" sz="2000" dirty="0" err="1" smtClean="0"/>
              <a:t>RequiredAttribute</a:t>
            </a:r>
            <a:r>
              <a:rPr lang="es-ES" sz="2000" dirty="0"/>
              <a:t>: </a:t>
            </a:r>
            <a:r>
              <a:rPr lang="es-ES" sz="2000" dirty="0" smtClean="0"/>
              <a:t>Propiedad diferente </a:t>
            </a:r>
            <a:r>
              <a:rPr lang="es-ES" sz="2000" dirty="0"/>
              <a:t>de </a:t>
            </a:r>
            <a:r>
              <a:rPr lang="es-ES" sz="2000" dirty="0" err="1"/>
              <a:t>null</a:t>
            </a:r>
            <a:r>
              <a:rPr lang="es-ES" sz="2000" dirty="0"/>
              <a:t> o vacío</a:t>
            </a:r>
          </a:p>
          <a:p>
            <a:r>
              <a:rPr lang="es-ES" sz="2000" dirty="0" err="1"/>
              <a:t>RegularExpressionAttribute</a:t>
            </a:r>
            <a:r>
              <a:rPr lang="es-ES" sz="2000" dirty="0"/>
              <a:t>: </a:t>
            </a:r>
            <a:r>
              <a:rPr lang="es-ES" sz="2000" dirty="0" smtClean="0"/>
              <a:t>Con esto se exige que la entrada </a:t>
            </a:r>
            <a:r>
              <a:rPr lang="es-ES" sz="2000" dirty="0"/>
              <a:t>“</a:t>
            </a:r>
            <a:r>
              <a:rPr lang="es-ES" sz="2000" dirty="0" err="1"/>
              <a:t>String</a:t>
            </a:r>
            <a:r>
              <a:rPr lang="es-ES" sz="2000" dirty="0"/>
              <a:t>” cumpla con un determinado </a:t>
            </a:r>
            <a:r>
              <a:rPr lang="es-ES" sz="2000" dirty="0" smtClean="0"/>
              <a:t>formato</a:t>
            </a:r>
          </a:p>
          <a:p>
            <a:r>
              <a:rPr lang="es-ES" sz="2000" dirty="0" err="1" smtClean="0"/>
              <a:t>DataTypeAttribute</a:t>
            </a:r>
            <a:r>
              <a:rPr lang="es-ES" sz="2000" dirty="0"/>
              <a:t>: Exige que un elemento sea de un determinado tipo</a:t>
            </a:r>
          </a:p>
          <a:p>
            <a:pPr lvl="1"/>
            <a:r>
              <a:rPr lang="es-ES" sz="2000" dirty="0" err="1" smtClean="0"/>
              <a:t>EmailAddressAttribute</a:t>
            </a:r>
            <a:r>
              <a:rPr lang="es-ES" sz="2000" dirty="0"/>
              <a:t>: Que sea de tipo correo electrónico.</a:t>
            </a:r>
          </a:p>
          <a:p>
            <a:pPr lvl="1"/>
            <a:r>
              <a:rPr lang="es-ES" sz="2000" dirty="0" err="1"/>
              <a:t>FileExtensionsAttribute</a:t>
            </a:r>
            <a:r>
              <a:rPr lang="es-ES" sz="2000" dirty="0"/>
              <a:t>: Que coincida con una extensión de fichero.</a:t>
            </a:r>
          </a:p>
          <a:p>
            <a:pPr lvl="1"/>
            <a:r>
              <a:rPr lang="es-ES" sz="2000" dirty="0" err="1"/>
              <a:t>CreditCardAttribute</a:t>
            </a:r>
            <a:r>
              <a:rPr lang="es-ES" sz="2000" dirty="0"/>
              <a:t>: Que tenga </a:t>
            </a:r>
            <a:r>
              <a:rPr lang="es-ES" sz="2000" dirty="0" smtClean="0"/>
              <a:t>formato de un </a:t>
            </a:r>
            <a:r>
              <a:rPr lang="es-ES" sz="2000" dirty="0" err="1" smtClean="0"/>
              <a:t>nro</a:t>
            </a:r>
            <a:r>
              <a:rPr lang="es-ES" sz="2000" dirty="0" smtClean="0"/>
              <a:t> de tarjeta </a:t>
            </a:r>
            <a:r>
              <a:rPr lang="es-ES" sz="2000" dirty="0"/>
              <a:t>de crédito</a:t>
            </a:r>
          </a:p>
          <a:p>
            <a:pPr lvl="1"/>
            <a:r>
              <a:rPr lang="es-ES" sz="2000" dirty="0" err="1"/>
              <a:t>PhoneAttribute</a:t>
            </a:r>
            <a:r>
              <a:rPr lang="es-ES" sz="2000" dirty="0"/>
              <a:t>: Que tenga el formato de un número de teléfono.</a:t>
            </a:r>
          </a:p>
          <a:p>
            <a:r>
              <a:rPr lang="es-ES" sz="2000" dirty="0" err="1" smtClean="0"/>
              <a:t>StringLengthAttribute</a:t>
            </a:r>
            <a:r>
              <a:rPr lang="es-ES" sz="2000" dirty="0"/>
              <a:t>: Establece una longitud exacta de la cadena de caracteres.</a:t>
            </a:r>
          </a:p>
          <a:p>
            <a:r>
              <a:rPr lang="es-ES" sz="2000" dirty="0" err="1"/>
              <a:t>MinLengthAttribute</a:t>
            </a:r>
            <a:r>
              <a:rPr lang="es-ES" sz="2000" dirty="0"/>
              <a:t>: Establece una longitud máxima de la cadena de caracteres.</a:t>
            </a:r>
          </a:p>
          <a:p>
            <a:r>
              <a:rPr lang="es-ES" sz="2000" dirty="0" err="1"/>
              <a:t>MaxLengthAttribute</a:t>
            </a:r>
            <a:r>
              <a:rPr lang="es-ES" sz="2000" dirty="0"/>
              <a:t>: Establece una longitud mínima de la cadena de caracteres.</a:t>
            </a:r>
            <a:endParaRPr lang="en-US" sz="2000" dirty="0"/>
          </a:p>
        </p:txBody>
      </p:sp>
    </p:spTree>
    <p:extLst>
      <p:ext uri="{BB962C8B-B14F-4D97-AF65-F5344CB8AC3E}">
        <p14:creationId xmlns:p14="http://schemas.microsoft.com/office/powerpoint/2010/main" val="20650074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084" y="347472"/>
            <a:ext cx="11265408" cy="296842"/>
          </a:xfrm>
        </p:spPr>
        <p:txBody>
          <a:bodyPr/>
          <a:lstStyle/>
          <a:p>
            <a:r>
              <a:rPr lang="es-ES" dirty="0" smtClean="0"/>
              <a:t>Servicios</a:t>
            </a:r>
            <a:endParaRPr lang="en-US" dirty="0"/>
          </a:p>
        </p:txBody>
      </p:sp>
      <p:sp>
        <p:nvSpPr>
          <p:cNvPr id="4" name="Content Placeholder 2"/>
          <p:cNvSpPr>
            <a:spLocks noGrp="1"/>
          </p:cNvSpPr>
          <p:nvPr>
            <p:ph idx="1"/>
          </p:nvPr>
        </p:nvSpPr>
        <p:spPr>
          <a:xfrm>
            <a:off x="484084" y="1195423"/>
            <a:ext cx="11415308" cy="4386511"/>
          </a:xfrm>
        </p:spPr>
        <p:txBody>
          <a:bodyPr>
            <a:noAutofit/>
          </a:bodyPr>
          <a:lstStyle/>
          <a:p>
            <a:r>
              <a:rPr lang="es-ES" sz="2000" dirty="0" smtClean="0"/>
              <a:t>La capa de servicios tiene como objetivo encapsular la lógica de negocios.</a:t>
            </a:r>
          </a:p>
          <a:p>
            <a:r>
              <a:rPr lang="es-ES" sz="2000" dirty="0" smtClean="0"/>
              <a:t>Los controladores quedan mas “delgados” ya que usan la capa de servicios para obtener entidades del modelo que luego se transformarán en </a:t>
            </a:r>
            <a:r>
              <a:rPr lang="es-ES" sz="2000" dirty="0" err="1" smtClean="0"/>
              <a:t>view</a:t>
            </a:r>
            <a:r>
              <a:rPr lang="es-ES" sz="2000" dirty="0" smtClean="0"/>
              <a:t> </a:t>
            </a:r>
            <a:r>
              <a:rPr lang="es-ES" sz="2000" dirty="0" err="1" smtClean="0"/>
              <a:t>models</a:t>
            </a:r>
            <a:r>
              <a:rPr lang="es-ES" sz="2000" dirty="0" smtClean="0"/>
              <a:t> (modelos utilizados por las vistas).</a:t>
            </a:r>
            <a:endParaRPr lang="es-ES" sz="1800" dirty="0" smtClean="0"/>
          </a:p>
          <a:p>
            <a:pPr lvl="2" indent="0">
              <a:buNone/>
            </a:pPr>
            <a:endParaRPr lang="es-ES" sz="1800" dirty="0" smtClean="0"/>
          </a:p>
          <a:p>
            <a:pPr lvl="2" indent="0">
              <a:buNone/>
            </a:pPr>
            <a:r>
              <a:rPr lang="es-ES" sz="1800" dirty="0"/>
              <a:t>	</a:t>
            </a:r>
            <a:endParaRPr lang="en-US" sz="1800" dirty="0"/>
          </a:p>
        </p:txBody>
      </p:sp>
    </p:spTree>
    <p:extLst>
      <p:ext uri="{BB962C8B-B14F-4D97-AF65-F5344CB8AC3E}">
        <p14:creationId xmlns:p14="http://schemas.microsoft.com/office/powerpoint/2010/main" val="26515463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7348" y="2055806"/>
            <a:ext cx="5489738" cy="2951615"/>
          </a:xfrm>
        </p:spPr>
        <p:txBody>
          <a:bodyPr>
            <a:normAutofit/>
          </a:bodyPr>
          <a:lstStyle/>
          <a:p>
            <a:r>
              <a:rPr lang="es-ES" sz="2000" dirty="0" smtClean="0"/>
              <a:t>Crear la capa de servicios que va a interactuar con los controladores.</a:t>
            </a:r>
          </a:p>
          <a:p>
            <a:r>
              <a:rPr lang="es-ES" sz="2000" dirty="0" err="1" smtClean="0"/>
              <a:t>Refactorizar</a:t>
            </a:r>
            <a:r>
              <a:rPr lang="es-ES" sz="2000" dirty="0" smtClean="0"/>
              <a:t> los controladores para que utilicen dicha capa.</a:t>
            </a:r>
            <a:endParaRPr lang="en-US" sz="2000" dirty="0"/>
          </a:p>
          <a:p>
            <a:pPr indent="0">
              <a:buNone/>
            </a:pPr>
            <a:endParaRPr lang="en-US" sz="2400" dirty="0" smtClean="0"/>
          </a:p>
          <a:p>
            <a:endParaRPr lang="en-US" sz="2400" dirty="0"/>
          </a:p>
        </p:txBody>
      </p:sp>
      <p:pic>
        <p:nvPicPr>
          <p:cNvPr id="5"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5879" y="2415990"/>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3478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792" y="347471"/>
            <a:ext cx="11534600" cy="697557"/>
          </a:xfrm>
        </p:spPr>
        <p:txBody>
          <a:bodyPr/>
          <a:lstStyle/>
          <a:p>
            <a:r>
              <a:rPr lang="es-AR" dirty="0" err="1" smtClean="0"/>
              <a:t>Model</a:t>
            </a:r>
            <a:r>
              <a:rPr lang="es-AR" dirty="0" smtClean="0"/>
              <a:t> </a:t>
            </a:r>
            <a:r>
              <a:rPr lang="es-AR" dirty="0" err="1" smtClean="0"/>
              <a:t>Binding</a:t>
            </a:r>
            <a:endParaRPr lang="en-US" dirty="0"/>
          </a:p>
        </p:txBody>
      </p:sp>
      <p:sp>
        <p:nvSpPr>
          <p:cNvPr id="8" name="Content Placeholder 2"/>
          <p:cNvSpPr>
            <a:spLocks noGrp="1"/>
          </p:cNvSpPr>
          <p:nvPr>
            <p:ph idx="1"/>
          </p:nvPr>
        </p:nvSpPr>
        <p:spPr>
          <a:xfrm>
            <a:off x="364792" y="1195423"/>
            <a:ext cx="11534600" cy="4386511"/>
          </a:xfrm>
        </p:spPr>
        <p:txBody>
          <a:bodyPr>
            <a:noAutofit/>
          </a:bodyPr>
          <a:lstStyle/>
          <a:p>
            <a:pPr indent="0">
              <a:buNone/>
            </a:pPr>
            <a:r>
              <a:rPr lang="es-ES" sz="2000" dirty="0" smtClean="0"/>
              <a:t>Cómo se convierten los valores del formulario al modelo cuando hacemos </a:t>
            </a:r>
            <a:r>
              <a:rPr lang="es-ES" sz="2000" dirty="0" err="1" smtClean="0"/>
              <a:t>submit</a:t>
            </a:r>
            <a:r>
              <a:rPr lang="es-ES" sz="2000" dirty="0" smtClean="0"/>
              <a:t>?</a:t>
            </a:r>
          </a:p>
          <a:p>
            <a:pPr indent="0">
              <a:buNone/>
            </a:pPr>
            <a:endParaRPr lang="es-ES" sz="2000" dirty="0"/>
          </a:p>
          <a:p>
            <a:pPr marL="342900" indent="-342900"/>
            <a:r>
              <a:rPr lang="es-ES" sz="2000" dirty="0" err="1" smtClean="0"/>
              <a:t>Model</a:t>
            </a:r>
            <a:r>
              <a:rPr lang="es-ES" sz="2000" dirty="0" smtClean="0"/>
              <a:t> </a:t>
            </a:r>
            <a:r>
              <a:rPr lang="es-ES" sz="2000" dirty="0" err="1" smtClean="0"/>
              <a:t>binding</a:t>
            </a:r>
            <a:r>
              <a:rPr lang="es-ES" sz="2000" dirty="0" smtClean="0"/>
              <a:t> nos permite mapear automáticamente los datos del </a:t>
            </a:r>
            <a:r>
              <a:rPr lang="es-ES" sz="2000" dirty="0" err="1" smtClean="0"/>
              <a:t>request</a:t>
            </a:r>
            <a:r>
              <a:rPr lang="es-ES" sz="2000" dirty="0" smtClean="0"/>
              <a:t> HTTP con un modelo que nosotros especifiquemos.</a:t>
            </a:r>
          </a:p>
          <a:p>
            <a:pPr marL="342900" indent="-342900"/>
            <a:r>
              <a:rPr lang="es-ES" sz="2000" dirty="0" err="1" smtClean="0"/>
              <a:t>Model</a:t>
            </a:r>
            <a:r>
              <a:rPr lang="es-ES" sz="2000" dirty="0" smtClean="0"/>
              <a:t> </a:t>
            </a:r>
            <a:r>
              <a:rPr lang="es-ES" sz="2000" dirty="0" err="1" smtClean="0"/>
              <a:t>binding</a:t>
            </a:r>
            <a:r>
              <a:rPr lang="es-ES" sz="2000" dirty="0" smtClean="0"/>
              <a:t> puede trabajar con varios tipos de modelos:</a:t>
            </a:r>
          </a:p>
          <a:p>
            <a:pPr lvl="1" indent="0">
              <a:buNone/>
            </a:pPr>
            <a:r>
              <a:rPr lang="es-ES" sz="2000" dirty="0" smtClean="0"/>
              <a:t>	-Sin </a:t>
            </a:r>
            <a:r>
              <a:rPr lang="es-ES" sz="2000" dirty="0" err="1" smtClean="0"/>
              <a:t>bindeo</a:t>
            </a:r>
            <a:r>
              <a:rPr lang="es-ES" sz="2000" dirty="0" smtClean="0"/>
              <a:t>.</a:t>
            </a:r>
          </a:p>
          <a:p>
            <a:pPr lvl="1" indent="0">
              <a:buNone/>
            </a:pPr>
            <a:r>
              <a:rPr lang="es-ES" sz="2000" dirty="0" smtClean="0"/>
              <a:t>	-</a:t>
            </a:r>
            <a:r>
              <a:rPr lang="es-ES" sz="2000" dirty="0" err="1" smtClean="0"/>
              <a:t>Bindeo</a:t>
            </a:r>
            <a:r>
              <a:rPr lang="es-ES" sz="2000" dirty="0" smtClean="0"/>
              <a:t> a tipos simples.</a:t>
            </a:r>
          </a:p>
          <a:p>
            <a:pPr lvl="1" indent="0">
              <a:buNone/>
            </a:pPr>
            <a:r>
              <a:rPr lang="es-ES" sz="2000" dirty="0" smtClean="0"/>
              <a:t>	-</a:t>
            </a:r>
            <a:r>
              <a:rPr lang="es-ES" sz="2000" dirty="0" err="1" smtClean="0"/>
              <a:t>Bindeo</a:t>
            </a:r>
            <a:r>
              <a:rPr lang="es-ES" sz="2000" dirty="0" smtClean="0"/>
              <a:t> a clases.</a:t>
            </a:r>
          </a:p>
          <a:p>
            <a:pPr lvl="1" indent="0">
              <a:buNone/>
            </a:pPr>
            <a:r>
              <a:rPr lang="es-ES" sz="2000" dirty="0" smtClean="0"/>
              <a:t>	-</a:t>
            </a:r>
            <a:r>
              <a:rPr lang="es-ES" sz="2000" dirty="0" err="1" smtClean="0"/>
              <a:t>Bindeo</a:t>
            </a:r>
            <a:r>
              <a:rPr lang="es-ES" sz="2000" dirty="0" smtClean="0"/>
              <a:t> a propiedades de clases.</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Tree>
    <p:extLst>
      <p:ext uri="{BB962C8B-B14F-4D97-AF65-F5344CB8AC3E}">
        <p14:creationId xmlns:p14="http://schemas.microsoft.com/office/powerpoint/2010/main" val="7645165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smtClean="0"/>
              <a:t> </a:t>
            </a:r>
            <a:r>
              <a:rPr lang="es-AR" smtClean="0"/>
              <a:t>– Sin </a:t>
            </a:r>
            <a:r>
              <a:rPr lang="es-AR" dirty="0" err="1" smtClean="0"/>
              <a:t>bindeo</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4" y="854439"/>
            <a:ext cx="10560873" cy="6001643"/>
          </a:xfrm>
          <a:prstGeom prst="rect">
            <a:avLst/>
          </a:prstGeom>
          <a:noFill/>
        </p:spPr>
        <p:txBody>
          <a:bodyPr wrap="square" rtlCol="0">
            <a:spAutoFit/>
          </a:bodyPr>
          <a:lstStyle/>
          <a:p>
            <a:r>
              <a:rPr lang="en-US" sz="1600" b="1" u="sng" dirty="0" err="1" smtClean="0"/>
              <a:t>Opción</a:t>
            </a:r>
            <a:r>
              <a:rPr lang="en-US" sz="1600" b="1" u="sng" dirty="0" smtClean="0"/>
              <a:t> 1</a:t>
            </a:r>
          </a:p>
          <a:p>
            <a:endParaRPr lang="en-US" sz="1600" dirty="0" smtClean="0"/>
          </a:p>
          <a:p>
            <a:r>
              <a:rPr lang="en-US" sz="1600" dirty="0" smtClean="0"/>
              <a:t>public</a:t>
            </a:r>
            <a:r>
              <a:rPr lang="en-US" sz="1600" dirty="0"/>
              <a:t> </a:t>
            </a:r>
            <a:r>
              <a:rPr lang="en-US" sz="1600" dirty="0" err="1"/>
              <a:t>ActionResult</a:t>
            </a:r>
            <a:r>
              <a:rPr lang="en-US" sz="1600" dirty="0"/>
              <a:t> Index()</a:t>
            </a:r>
          </a:p>
          <a:p>
            <a:r>
              <a:rPr lang="en-US" sz="1600" dirty="0"/>
              <a:t>{</a:t>
            </a:r>
          </a:p>
          <a:p>
            <a:r>
              <a:rPr lang="en-US" sz="1600" dirty="0"/>
              <a:t>    if (</a:t>
            </a:r>
            <a:r>
              <a:rPr lang="en-US" sz="1600" b="1" dirty="0" err="1"/>
              <a:t>Request.Form</a:t>
            </a:r>
            <a:r>
              <a:rPr lang="en-US" sz="1600" dirty="0" err="1"/>
              <a:t>.Count</a:t>
            </a:r>
            <a:r>
              <a:rPr lang="en-US" sz="1600" dirty="0"/>
              <a:t> &gt; 0)</a:t>
            </a:r>
          </a:p>
          <a:p>
            <a:r>
              <a:rPr lang="en-US" sz="1600" dirty="0"/>
              <a:t>    {</a:t>
            </a:r>
          </a:p>
          <a:p>
            <a:r>
              <a:rPr lang="en-US" sz="1600" dirty="0"/>
              <a:t>        string ID= </a:t>
            </a:r>
            <a:r>
              <a:rPr lang="en-US" sz="1600" b="1" dirty="0" err="1"/>
              <a:t>Request.Form</a:t>
            </a:r>
            <a:r>
              <a:rPr lang="en-US" sz="1600" dirty="0"/>
              <a:t>["</a:t>
            </a:r>
            <a:r>
              <a:rPr lang="en-US" sz="1600" dirty="0" err="1"/>
              <a:t>StudentID</a:t>
            </a:r>
            <a:r>
              <a:rPr lang="en-US" sz="1600" dirty="0"/>
              <a:t>"];</a:t>
            </a:r>
          </a:p>
          <a:p>
            <a:r>
              <a:rPr lang="en-US" sz="1600" dirty="0"/>
              <a:t>        string </a:t>
            </a:r>
            <a:r>
              <a:rPr lang="en-US" sz="1600" dirty="0" err="1"/>
              <a:t>FirstName</a:t>
            </a:r>
            <a:r>
              <a:rPr lang="en-US" sz="1600" dirty="0"/>
              <a:t> = </a:t>
            </a:r>
            <a:r>
              <a:rPr lang="en-US" sz="1600" b="1" dirty="0" err="1"/>
              <a:t>Request.Form</a:t>
            </a:r>
            <a:r>
              <a:rPr lang="en-US" sz="1600" dirty="0"/>
              <a:t>["</a:t>
            </a:r>
            <a:r>
              <a:rPr lang="en-US" sz="1600" dirty="0" err="1"/>
              <a:t>StudentFirstName</a:t>
            </a:r>
            <a:r>
              <a:rPr lang="en-US" sz="1600" dirty="0"/>
              <a:t>"];</a:t>
            </a:r>
          </a:p>
          <a:p>
            <a:r>
              <a:rPr lang="en-US" sz="1600" dirty="0"/>
              <a:t>    }</a:t>
            </a:r>
          </a:p>
          <a:p>
            <a:r>
              <a:rPr lang="en-US" sz="1600" dirty="0"/>
              <a:t>    return View();</a:t>
            </a:r>
          </a:p>
          <a:p>
            <a:r>
              <a:rPr lang="en-US" sz="1600" dirty="0" smtClean="0"/>
              <a:t>}</a:t>
            </a:r>
          </a:p>
          <a:p>
            <a:endParaRPr lang="en-US" sz="1600" dirty="0" smtClean="0"/>
          </a:p>
          <a:p>
            <a:r>
              <a:rPr lang="en-US" sz="1600" b="1" u="sng" dirty="0" err="1" smtClean="0"/>
              <a:t>Opción</a:t>
            </a:r>
            <a:r>
              <a:rPr lang="en-US" sz="1600" b="1" u="sng" dirty="0" smtClean="0"/>
              <a:t> 2</a:t>
            </a:r>
          </a:p>
          <a:p>
            <a:endParaRPr lang="en-US" sz="1600" dirty="0"/>
          </a:p>
          <a:p>
            <a:r>
              <a:rPr lang="en-US" sz="1600" dirty="0"/>
              <a:t>public </a:t>
            </a:r>
            <a:r>
              <a:rPr lang="en-US" sz="1600" dirty="0" err="1"/>
              <a:t>ActionResult</a:t>
            </a:r>
            <a:r>
              <a:rPr lang="en-US" sz="1600" dirty="0"/>
              <a:t> </a:t>
            </a:r>
            <a:r>
              <a:rPr lang="en-US" sz="1600" dirty="0" smtClean="0"/>
              <a:t>Index(</a:t>
            </a:r>
            <a:r>
              <a:rPr lang="en-US" sz="1600" dirty="0" err="1" smtClean="0"/>
              <a:t>FormCollection</a:t>
            </a:r>
            <a:r>
              <a:rPr lang="en-US" sz="1600" dirty="0" smtClean="0"/>
              <a:t> </a:t>
            </a:r>
            <a:r>
              <a:rPr lang="en-US" sz="1600" dirty="0" err="1" smtClean="0"/>
              <a:t>formCollection</a:t>
            </a:r>
            <a:r>
              <a:rPr lang="en-US" sz="1600" dirty="0" smtClean="0"/>
              <a:t>)</a:t>
            </a:r>
            <a:endParaRPr lang="en-US" sz="1600" dirty="0"/>
          </a:p>
          <a:p>
            <a:r>
              <a:rPr lang="en-US" sz="1600" dirty="0"/>
              <a:t>{</a:t>
            </a:r>
          </a:p>
          <a:p>
            <a:r>
              <a:rPr lang="en-US" sz="1600" dirty="0"/>
              <a:t>    if </a:t>
            </a:r>
            <a:r>
              <a:rPr lang="en-US" sz="1600" dirty="0" smtClean="0"/>
              <a:t>(</a:t>
            </a:r>
            <a:r>
              <a:rPr lang="en-US" sz="1600" dirty="0" err="1" smtClean="0"/>
              <a:t>formCollection.Any</a:t>
            </a:r>
            <a:r>
              <a:rPr lang="en-US" sz="1600" dirty="0" smtClean="0"/>
              <a:t>())</a:t>
            </a:r>
            <a:endParaRPr lang="en-US" sz="1600" dirty="0"/>
          </a:p>
          <a:p>
            <a:r>
              <a:rPr lang="en-US" sz="1600" dirty="0"/>
              <a:t>    {</a:t>
            </a:r>
          </a:p>
          <a:p>
            <a:r>
              <a:rPr lang="en-US" sz="1600" dirty="0"/>
              <a:t>        string ID=  </a:t>
            </a:r>
            <a:r>
              <a:rPr lang="en-US" sz="1600" dirty="0" err="1"/>
              <a:t>formCollection</a:t>
            </a:r>
            <a:r>
              <a:rPr lang="en-US" sz="1600" dirty="0" smtClean="0"/>
              <a:t>["</a:t>
            </a:r>
            <a:r>
              <a:rPr lang="en-US" sz="1600" dirty="0" err="1"/>
              <a:t>StudentID</a:t>
            </a:r>
            <a:r>
              <a:rPr lang="en-US" sz="1600" dirty="0"/>
              <a:t>"];</a:t>
            </a:r>
          </a:p>
          <a:p>
            <a:r>
              <a:rPr lang="en-US" sz="1600" dirty="0"/>
              <a:t>        string </a:t>
            </a:r>
            <a:r>
              <a:rPr lang="en-US" sz="1600" dirty="0" err="1"/>
              <a:t>FirstName</a:t>
            </a:r>
            <a:r>
              <a:rPr lang="en-US" sz="1600" dirty="0"/>
              <a:t> =  </a:t>
            </a:r>
            <a:r>
              <a:rPr lang="en-US" sz="1600" dirty="0" err="1"/>
              <a:t>formCollection</a:t>
            </a:r>
            <a:r>
              <a:rPr lang="en-US" sz="1600" dirty="0" smtClean="0"/>
              <a:t>["</a:t>
            </a:r>
            <a:r>
              <a:rPr lang="en-US" sz="1600" dirty="0" err="1"/>
              <a:t>StudentFirstName</a:t>
            </a:r>
            <a:r>
              <a:rPr lang="en-US" sz="1600" dirty="0"/>
              <a:t>"];</a:t>
            </a:r>
          </a:p>
          <a:p>
            <a:r>
              <a:rPr lang="en-US" sz="1600" dirty="0"/>
              <a:t>    }</a:t>
            </a:r>
          </a:p>
          <a:p>
            <a:r>
              <a:rPr lang="en-US" sz="1600" dirty="0"/>
              <a:t>    return View();</a:t>
            </a:r>
          </a:p>
          <a:p>
            <a:r>
              <a:rPr lang="en-US" sz="1600" dirty="0"/>
              <a:t>}</a:t>
            </a:r>
          </a:p>
          <a:p>
            <a:endParaRPr lang="en-US" sz="1600" dirty="0"/>
          </a:p>
        </p:txBody>
      </p:sp>
    </p:spTree>
    <p:extLst>
      <p:ext uri="{BB962C8B-B14F-4D97-AF65-F5344CB8AC3E}">
        <p14:creationId xmlns:p14="http://schemas.microsoft.com/office/powerpoint/2010/main" val="5453427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a:t> –</a:t>
            </a:r>
            <a:r>
              <a:rPr lang="es-AR" dirty="0" smtClean="0"/>
              <a:t> </a:t>
            </a:r>
            <a:r>
              <a:rPr lang="es-AR" dirty="0" err="1" smtClean="0"/>
              <a:t>Bindeo</a:t>
            </a:r>
            <a:r>
              <a:rPr lang="es-AR" dirty="0" smtClean="0"/>
              <a:t> a tipos simples</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4" y="1045028"/>
            <a:ext cx="11265408" cy="6186309"/>
          </a:xfrm>
          <a:prstGeom prst="rect">
            <a:avLst/>
          </a:prstGeom>
          <a:noFill/>
        </p:spPr>
        <p:txBody>
          <a:bodyPr wrap="square" rtlCol="0">
            <a:spAutoFit/>
          </a:bodyPr>
          <a:lstStyle/>
          <a:p>
            <a:r>
              <a:rPr lang="en-US" dirty="0"/>
              <a:t>[</a:t>
            </a:r>
            <a:r>
              <a:rPr lang="en-US" dirty="0" err="1"/>
              <a:t>HttpPost</a:t>
            </a:r>
            <a:r>
              <a:rPr lang="en-US" dirty="0"/>
              <a:t>]</a:t>
            </a:r>
          </a:p>
          <a:p>
            <a:r>
              <a:rPr lang="en-US" dirty="0"/>
              <a:t>public </a:t>
            </a:r>
            <a:r>
              <a:rPr lang="en-US" dirty="0" err="1"/>
              <a:t>ActionResult</a:t>
            </a:r>
            <a:r>
              <a:rPr lang="en-US" dirty="0"/>
              <a:t> Index(string </a:t>
            </a:r>
            <a:r>
              <a:rPr lang="en-US" dirty="0" err="1"/>
              <a:t>studentid</a:t>
            </a:r>
            <a:r>
              <a:rPr lang="en-US" dirty="0"/>
              <a:t>, string </a:t>
            </a:r>
            <a:r>
              <a:rPr lang="en-US" dirty="0" err="1"/>
              <a:t>studentfirstname</a:t>
            </a:r>
            <a:r>
              <a:rPr lang="en-US" dirty="0"/>
              <a:t>)</a:t>
            </a:r>
          </a:p>
          <a:p>
            <a:r>
              <a:rPr lang="en-US" dirty="0"/>
              <a:t>{</a:t>
            </a:r>
          </a:p>
          <a:p>
            <a:r>
              <a:rPr lang="en-US" dirty="0"/>
              <a:t>    </a:t>
            </a:r>
            <a:r>
              <a:rPr lang="en-US" dirty="0" err="1"/>
              <a:t>ViewBag.Message</a:t>
            </a:r>
            <a:r>
              <a:rPr lang="en-US" dirty="0"/>
              <a:t> = "Your Student retrieved successfully with an ID" + " " + </a:t>
            </a:r>
            <a:r>
              <a:rPr lang="en-US" dirty="0" err="1"/>
              <a:t>studentid</a:t>
            </a:r>
            <a:r>
              <a:rPr lang="en-US" dirty="0"/>
              <a:t> + "!!";</a:t>
            </a:r>
          </a:p>
          <a:p>
            <a:r>
              <a:rPr lang="en-US" dirty="0"/>
              <a:t>    return View();</a:t>
            </a:r>
          </a:p>
          <a:p>
            <a:r>
              <a:rPr lang="en-US" dirty="0" smtClean="0"/>
              <a:t>}</a:t>
            </a:r>
          </a:p>
          <a:p>
            <a:endParaRPr lang="en-US" dirty="0"/>
          </a:p>
          <a:p>
            <a:r>
              <a:rPr lang="en-US" dirty="0"/>
              <a:t> &lt;div class="form-group"&gt;</a:t>
            </a:r>
          </a:p>
          <a:p>
            <a:r>
              <a:rPr lang="en-US" dirty="0"/>
              <a:t>            @</a:t>
            </a:r>
            <a:r>
              <a:rPr lang="en-US" dirty="0" err="1"/>
              <a:t>Html.Label</a:t>
            </a:r>
            <a:r>
              <a:rPr lang="en-US" dirty="0"/>
              <a:t>("ID:", new { @class = "col-md-2 control-label" })</a:t>
            </a:r>
          </a:p>
          <a:p>
            <a:r>
              <a:rPr lang="en-US" dirty="0"/>
              <a:t>            &lt;div class="col-md-10"&gt;</a:t>
            </a:r>
          </a:p>
          <a:p>
            <a:r>
              <a:rPr lang="en-US" dirty="0"/>
              <a:t>                @</a:t>
            </a:r>
            <a:r>
              <a:rPr lang="en-US" dirty="0" err="1"/>
              <a:t>Html.TextBox</a:t>
            </a:r>
            <a:r>
              <a:rPr lang="en-US" dirty="0"/>
              <a:t>("</a:t>
            </a:r>
            <a:r>
              <a:rPr lang="en-US" dirty="0" err="1"/>
              <a:t>StudentID</a:t>
            </a:r>
            <a:r>
              <a:rPr lang="en-US" dirty="0"/>
              <a:t>")</a:t>
            </a:r>
          </a:p>
          <a:p>
            <a:r>
              <a:rPr lang="en-US" dirty="0"/>
              <a:t>            &lt;/div&gt;</a:t>
            </a:r>
          </a:p>
          <a:p>
            <a:r>
              <a:rPr lang="en-US" dirty="0"/>
              <a:t> </a:t>
            </a:r>
            <a:r>
              <a:rPr lang="en-US" dirty="0" smtClean="0"/>
              <a:t>&lt;/</a:t>
            </a:r>
            <a:r>
              <a:rPr lang="en-US" dirty="0"/>
              <a:t>div</a:t>
            </a:r>
            <a:r>
              <a:rPr lang="en-US" dirty="0" smtClean="0"/>
              <a:t>&gt;</a:t>
            </a:r>
            <a:r>
              <a:rPr lang="en-US" dirty="0"/>
              <a:t> </a:t>
            </a:r>
          </a:p>
          <a:p>
            <a:r>
              <a:rPr lang="en-US" dirty="0"/>
              <a:t> </a:t>
            </a:r>
            <a:r>
              <a:rPr lang="en-US" dirty="0" smtClean="0"/>
              <a:t>&lt;</a:t>
            </a:r>
            <a:r>
              <a:rPr lang="en-US" dirty="0"/>
              <a:t>div class="form-group"&gt;</a:t>
            </a:r>
          </a:p>
          <a:p>
            <a:r>
              <a:rPr lang="en-US" dirty="0"/>
              <a:t>            @</a:t>
            </a:r>
            <a:r>
              <a:rPr lang="en-US" dirty="0" err="1"/>
              <a:t>Html.Label</a:t>
            </a:r>
            <a:r>
              <a:rPr lang="en-US" dirty="0"/>
              <a:t>("Name:", new { @class = "col-md-2 control-label" })</a:t>
            </a:r>
          </a:p>
          <a:p>
            <a:r>
              <a:rPr lang="en-US" dirty="0"/>
              <a:t>            &lt;div class="col-md-10"&gt;</a:t>
            </a:r>
          </a:p>
          <a:p>
            <a:r>
              <a:rPr lang="en-US" dirty="0"/>
              <a:t>                @</a:t>
            </a:r>
            <a:r>
              <a:rPr lang="en-US" dirty="0" err="1"/>
              <a:t>Html.TextBox</a:t>
            </a:r>
            <a:r>
              <a:rPr lang="en-US" dirty="0"/>
              <a:t>("</a:t>
            </a:r>
            <a:r>
              <a:rPr lang="en-US" dirty="0" err="1"/>
              <a:t>StudentFirstName</a:t>
            </a:r>
            <a:r>
              <a:rPr lang="en-US" dirty="0"/>
              <a:t>")                </a:t>
            </a:r>
          </a:p>
          <a:p>
            <a:r>
              <a:rPr lang="en-US" dirty="0"/>
              <a:t>            &lt;/div&gt;</a:t>
            </a:r>
          </a:p>
          <a:p>
            <a:r>
              <a:rPr lang="en-US" dirty="0"/>
              <a:t> </a:t>
            </a:r>
            <a:r>
              <a:rPr lang="en-US" dirty="0" smtClean="0"/>
              <a:t>&lt;/</a:t>
            </a:r>
            <a:r>
              <a:rPr lang="en-US" dirty="0"/>
              <a:t>div&gt;</a:t>
            </a:r>
          </a:p>
          <a:p>
            <a:endParaRPr lang="en-US" dirty="0"/>
          </a:p>
          <a:p>
            <a:endParaRPr lang="en-US" dirty="0"/>
          </a:p>
          <a:p>
            <a:endParaRPr lang="en-US" dirty="0"/>
          </a:p>
        </p:txBody>
      </p:sp>
    </p:spTree>
    <p:extLst>
      <p:ext uri="{BB962C8B-B14F-4D97-AF65-F5344CB8AC3E}">
        <p14:creationId xmlns:p14="http://schemas.microsoft.com/office/powerpoint/2010/main" val="36770457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smtClean="0"/>
              <a:t> – </a:t>
            </a:r>
            <a:r>
              <a:rPr lang="es-AR" dirty="0" err="1" smtClean="0"/>
              <a:t>Bindeo</a:t>
            </a:r>
            <a:r>
              <a:rPr lang="es-AR" dirty="0" smtClean="0"/>
              <a:t> a clases</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5" y="1195423"/>
            <a:ext cx="11265408" cy="3970318"/>
          </a:xfrm>
          <a:prstGeom prst="rect">
            <a:avLst/>
          </a:prstGeom>
          <a:noFill/>
        </p:spPr>
        <p:txBody>
          <a:bodyPr wrap="square" rtlCol="0">
            <a:spAutoFit/>
          </a:bodyPr>
          <a:lstStyle/>
          <a:p>
            <a:r>
              <a:rPr lang="en-US" dirty="0"/>
              <a:t>public class Student</a:t>
            </a:r>
          </a:p>
          <a:p>
            <a:r>
              <a:rPr lang="en-US" dirty="0"/>
              <a:t>{</a:t>
            </a:r>
          </a:p>
          <a:p>
            <a:r>
              <a:rPr lang="en-US" dirty="0"/>
              <a:t>    public string </a:t>
            </a:r>
            <a:r>
              <a:rPr lang="en-US" dirty="0" err="1"/>
              <a:t>StudentID</a:t>
            </a:r>
            <a:r>
              <a:rPr lang="en-US" dirty="0"/>
              <a:t> { get; set; }</a:t>
            </a:r>
          </a:p>
          <a:p>
            <a:r>
              <a:rPr lang="en-US" dirty="0"/>
              <a:t>    public string </a:t>
            </a:r>
            <a:r>
              <a:rPr lang="en-US" dirty="0" err="1"/>
              <a:t>StudentFirstName</a:t>
            </a:r>
            <a:r>
              <a:rPr lang="en-US" dirty="0"/>
              <a:t> { get; set; }</a:t>
            </a:r>
          </a:p>
          <a:p>
            <a:r>
              <a:rPr lang="en-US" dirty="0"/>
              <a:t>}</a:t>
            </a:r>
          </a:p>
          <a:p>
            <a:endParaRPr lang="en-US" dirty="0" smtClean="0"/>
          </a:p>
          <a:p>
            <a:endParaRPr lang="en-US" dirty="0"/>
          </a:p>
          <a:p>
            <a:r>
              <a:rPr lang="en-US" dirty="0" smtClean="0"/>
              <a:t>[</a:t>
            </a:r>
            <a:r>
              <a:rPr lang="en-US" dirty="0" err="1"/>
              <a:t>HttpPost</a:t>
            </a:r>
            <a:r>
              <a:rPr lang="en-US" dirty="0"/>
              <a:t>]</a:t>
            </a:r>
          </a:p>
          <a:p>
            <a:r>
              <a:rPr lang="en-US" dirty="0"/>
              <a:t>public </a:t>
            </a:r>
            <a:r>
              <a:rPr lang="en-US" dirty="0" err="1"/>
              <a:t>ActionResult</a:t>
            </a:r>
            <a:r>
              <a:rPr lang="en-US" dirty="0"/>
              <a:t> Index(Student s)</a:t>
            </a:r>
          </a:p>
          <a:p>
            <a:r>
              <a:rPr lang="en-US" dirty="0"/>
              <a:t>{</a:t>
            </a:r>
          </a:p>
          <a:p>
            <a:r>
              <a:rPr lang="en-US" dirty="0"/>
              <a:t>    </a:t>
            </a:r>
            <a:r>
              <a:rPr lang="en-US" dirty="0" err="1"/>
              <a:t>ViewBag.Message</a:t>
            </a:r>
            <a:r>
              <a:rPr lang="en-US" dirty="0"/>
              <a:t> = "Your Student retrieved successfully with an ID" + " " + </a:t>
            </a:r>
            <a:r>
              <a:rPr lang="en-US" dirty="0" err="1"/>
              <a:t>s.StudentID</a:t>
            </a:r>
            <a:r>
              <a:rPr lang="en-US" dirty="0"/>
              <a:t> + "!!";</a:t>
            </a:r>
          </a:p>
          <a:p>
            <a:r>
              <a:rPr lang="en-US" dirty="0"/>
              <a:t>    return View();</a:t>
            </a:r>
          </a:p>
          <a:p>
            <a:r>
              <a:rPr lang="en-US" dirty="0"/>
              <a:t>}</a:t>
            </a:r>
          </a:p>
          <a:p>
            <a:endParaRPr lang="en-US" dirty="0"/>
          </a:p>
        </p:txBody>
      </p:sp>
    </p:spTree>
    <p:extLst>
      <p:ext uri="{BB962C8B-B14F-4D97-AF65-F5344CB8AC3E}">
        <p14:creationId xmlns:p14="http://schemas.microsoft.com/office/powerpoint/2010/main" val="16001130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984" y="347471"/>
            <a:ext cx="11265408" cy="697557"/>
          </a:xfrm>
        </p:spPr>
        <p:txBody>
          <a:bodyPr/>
          <a:lstStyle/>
          <a:p>
            <a:r>
              <a:rPr lang="es-AR" dirty="0" err="1" smtClean="0"/>
              <a:t>Model</a:t>
            </a:r>
            <a:r>
              <a:rPr lang="es-AR" dirty="0" smtClean="0"/>
              <a:t> </a:t>
            </a:r>
            <a:r>
              <a:rPr lang="es-AR" dirty="0" err="1" smtClean="0"/>
              <a:t>Binding</a:t>
            </a:r>
            <a:r>
              <a:rPr lang="es-AR" dirty="0" smtClean="0"/>
              <a:t> – </a:t>
            </a:r>
            <a:r>
              <a:rPr lang="es-AR" dirty="0" err="1" smtClean="0"/>
              <a:t>Bindeo</a:t>
            </a:r>
            <a:r>
              <a:rPr lang="es-AR" dirty="0" smtClean="0"/>
              <a:t> a propiedades de clase</a:t>
            </a:r>
            <a:endParaRPr lang="en-US" dirty="0"/>
          </a:p>
        </p:txBody>
      </p:sp>
      <p:sp>
        <p:nvSpPr>
          <p:cNvPr id="8" name="Content Placeholder 2"/>
          <p:cNvSpPr>
            <a:spLocks noGrp="1"/>
          </p:cNvSpPr>
          <p:nvPr>
            <p:ph idx="1"/>
          </p:nvPr>
        </p:nvSpPr>
        <p:spPr>
          <a:xfrm>
            <a:off x="364792" y="1195423"/>
            <a:ext cx="11534600" cy="5000104"/>
          </a:xfrm>
        </p:spPr>
        <p:txBody>
          <a:bodyPr>
            <a:noAutofit/>
          </a:bodyPr>
          <a:lstStyle/>
          <a:p>
            <a:pPr indent="0">
              <a:buNone/>
            </a:pPr>
            <a:r>
              <a:rPr lang="es-ES" sz="2000" dirty="0" smtClean="0"/>
              <a:t/>
            </a:r>
            <a:br>
              <a:rPr lang="es-ES" sz="2000" dirty="0" smtClean="0"/>
            </a:br>
            <a:r>
              <a:rPr lang="es-ES" sz="2000" dirty="0" smtClean="0"/>
              <a:t/>
            </a:r>
            <a:br>
              <a:rPr lang="es-ES" sz="2000" dirty="0" smtClean="0"/>
            </a:br>
            <a:endParaRPr lang="es-ES" sz="2000" dirty="0" smtClean="0"/>
          </a:p>
          <a:p>
            <a:pPr marL="342900" lvl="2" indent="-342900"/>
            <a:endParaRPr lang="es-ES" sz="2000" dirty="0" smtClean="0"/>
          </a:p>
          <a:p>
            <a:pPr indent="0">
              <a:buNone/>
            </a:pPr>
            <a:endParaRPr lang="es-ES" sz="2000" dirty="0"/>
          </a:p>
        </p:txBody>
      </p:sp>
      <p:sp>
        <p:nvSpPr>
          <p:cNvPr id="3" name="TextBox 2"/>
          <p:cNvSpPr txBox="1"/>
          <p:nvPr/>
        </p:nvSpPr>
        <p:spPr>
          <a:xfrm>
            <a:off x="633984" y="3233876"/>
            <a:ext cx="11265408" cy="3416320"/>
          </a:xfrm>
          <a:prstGeom prst="rect">
            <a:avLst/>
          </a:prstGeom>
          <a:noFill/>
        </p:spPr>
        <p:txBody>
          <a:bodyPr wrap="square" rtlCol="0">
            <a:spAutoFit/>
          </a:bodyPr>
          <a:lstStyle/>
          <a:p>
            <a:r>
              <a:rPr lang="en-US" dirty="0"/>
              <a:t>&lt;div class="form-group"&gt;</a:t>
            </a:r>
          </a:p>
          <a:p>
            <a:r>
              <a:rPr lang="en-US" dirty="0"/>
              <a:t>    @</a:t>
            </a:r>
            <a:r>
              <a:rPr lang="en-US" dirty="0" err="1"/>
              <a:t>Html.Label</a:t>
            </a:r>
            <a:r>
              <a:rPr lang="en-US" dirty="0"/>
              <a:t>("Mobile:", new { @class = "col-md-2 control-label" })</a:t>
            </a:r>
          </a:p>
          <a:p>
            <a:r>
              <a:rPr lang="en-US" dirty="0"/>
              <a:t>    &lt;div class="col-md-10"&gt;</a:t>
            </a:r>
          </a:p>
          <a:p>
            <a:r>
              <a:rPr lang="en-US" dirty="0"/>
              <a:t>        @</a:t>
            </a:r>
            <a:r>
              <a:rPr lang="en-US" dirty="0" err="1"/>
              <a:t>Html.TextBox</a:t>
            </a:r>
            <a:r>
              <a:rPr lang="en-US" dirty="0"/>
              <a:t>("</a:t>
            </a:r>
            <a:r>
              <a:rPr lang="en-US" b="1" dirty="0" err="1"/>
              <a:t>StudentContact.Mobile</a:t>
            </a:r>
            <a:r>
              <a:rPr lang="en-US" dirty="0"/>
              <a:t>")</a:t>
            </a:r>
          </a:p>
          <a:p>
            <a:r>
              <a:rPr lang="en-US" dirty="0"/>
              <a:t>    &lt;/div&gt;</a:t>
            </a:r>
          </a:p>
          <a:p>
            <a:r>
              <a:rPr lang="en-US" dirty="0"/>
              <a:t>&lt;/div&gt;</a:t>
            </a:r>
          </a:p>
          <a:p>
            <a:r>
              <a:rPr lang="en-US" dirty="0"/>
              <a:t>&lt;div class="form-group"&gt;</a:t>
            </a:r>
          </a:p>
          <a:p>
            <a:r>
              <a:rPr lang="en-US" dirty="0"/>
              <a:t>    @</a:t>
            </a:r>
            <a:r>
              <a:rPr lang="en-US" dirty="0" err="1"/>
              <a:t>Html.Label</a:t>
            </a:r>
            <a:r>
              <a:rPr lang="en-US" dirty="0"/>
              <a:t>("Email:", new { @class = "col-md-2 control-label" })</a:t>
            </a:r>
          </a:p>
          <a:p>
            <a:r>
              <a:rPr lang="en-US" dirty="0"/>
              <a:t>    &lt;div class="col-md-10"&gt;</a:t>
            </a:r>
          </a:p>
          <a:p>
            <a:r>
              <a:rPr lang="en-US" dirty="0"/>
              <a:t>        @</a:t>
            </a:r>
            <a:r>
              <a:rPr lang="en-US" dirty="0" err="1"/>
              <a:t>Html.TextBox</a:t>
            </a:r>
            <a:r>
              <a:rPr lang="en-US" dirty="0"/>
              <a:t>("</a:t>
            </a:r>
            <a:r>
              <a:rPr lang="en-US" b="1" dirty="0" err="1"/>
              <a:t>StudentContact.Email</a:t>
            </a:r>
            <a:r>
              <a:rPr lang="en-US" dirty="0"/>
              <a:t>")</a:t>
            </a:r>
          </a:p>
          <a:p>
            <a:r>
              <a:rPr lang="en-US" dirty="0"/>
              <a:t>    &lt;/div&gt;</a:t>
            </a:r>
          </a:p>
          <a:p>
            <a:r>
              <a:rPr lang="en-US" dirty="0"/>
              <a:t>&lt;/div&gt;</a:t>
            </a:r>
          </a:p>
        </p:txBody>
      </p:sp>
      <p:sp>
        <p:nvSpPr>
          <p:cNvPr id="5" name="TextBox 4"/>
          <p:cNvSpPr txBox="1"/>
          <p:nvPr/>
        </p:nvSpPr>
        <p:spPr>
          <a:xfrm>
            <a:off x="633984" y="1195423"/>
            <a:ext cx="4966996" cy="1754326"/>
          </a:xfrm>
          <a:prstGeom prst="rect">
            <a:avLst/>
          </a:prstGeom>
          <a:noFill/>
        </p:spPr>
        <p:txBody>
          <a:bodyPr wrap="square" rtlCol="0">
            <a:spAutoFit/>
          </a:bodyPr>
          <a:lstStyle/>
          <a:p>
            <a:r>
              <a:rPr lang="en-US" dirty="0" smtClean="0"/>
              <a:t>public class Student</a:t>
            </a:r>
          </a:p>
          <a:p>
            <a:r>
              <a:rPr lang="en-US" dirty="0" smtClean="0"/>
              <a:t>{</a:t>
            </a:r>
          </a:p>
          <a:p>
            <a:r>
              <a:rPr lang="en-US" dirty="0" smtClean="0"/>
              <a:t>    public string </a:t>
            </a:r>
            <a:r>
              <a:rPr lang="en-US" dirty="0" err="1" smtClean="0"/>
              <a:t>StudentID</a:t>
            </a:r>
            <a:r>
              <a:rPr lang="en-US" dirty="0" smtClean="0"/>
              <a:t> { get; set; }</a:t>
            </a:r>
          </a:p>
          <a:p>
            <a:r>
              <a:rPr lang="en-US" dirty="0" smtClean="0"/>
              <a:t>    public string </a:t>
            </a:r>
            <a:r>
              <a:rPr lang="en-US" dirty="0" err="1" smtClean="0"/>
              <a:t>StudentFirstName</a:t>
            </a:r>
            <a:r>
              <a:rPr lang="en-US" dirty="0" smtClean="0"/>
              <a:t> { get; set; }</a:t>
            </a:r>
          </a:p>
          <a:p>
            <a:r>
              <a:rPr lang="en-US" b="1" dirty="0"/>
              <a:t> </a:t>
            </a:r>
            <a:r>
              <a:rPr lang="en-US" b="1" dirty="0" smtClean="0"/>
              <a:t>  </a:t>
            </a:r>
            <a:r>
              <a:rPr lang="en-US" b="1" dirty="0"/>
              <a:t> public Contact </a:t>
            </a:r>
            <a:r>
              <a:rPr lang="en-US" b="1" dirty="0" err="1"/>
              <a:t>StudentContact</a:t>
            </a:r>
            <a:r>
              <a:rPr lang="en-US" b="1" dirty="0"/>
              <a:t> { get; set; </a:t>
            </a:r>
            <a:r>
              <a:rPr lang="en-US" b="1" dirty="0" smtClean="0"/>
              <a:t>}</a:t>
            </a:r>
          </a:p>
          <a:p>
            <a:r>
              <a:rPr lang="en-US" dirty="0" smtClean="0"/>
              <a:t>}</a:t>
            </a:r>
            <a:endParaRPr lang="en-US" dirty="0"/>
          </a:p>
        </p:txBody>
      </p:sp>
      <p:sp>
        <p:nvSpPr>
          <p:cNvPr id="7" name="TextBox 6"/>
          <p:cNvSpPr txBox="1"/>
          <p:nvPr/>
        </p:nvSpPr>
        <p:spPr>
          <a:xfrm>
            <a:off x="5600980" y="1103222"/>
            <a:ext cx="5244302" cy="1477328"/>
          </a:xfrm>
          <a:prstGeom prst="rect">
            <a:avLst/>
          </a:prstGeom>
          <a:noFill/>
        </p:spPr>
        <p:txBody>
          <a:bodyPr wrap="square" rtlCol="0">
            <a:spAutoFit/>
          </a:bodyPr>
          <a:lstStyle/>
          <a:p>
            <a:r>
              <a:rPr lang="en-US" dirty="0"/>
              <a:t>public class Contact</a:t>
            </a:r>
          </a:p>
          <a:p>
            <a:r>
              <a:rPr lang="en-US" dirty="0"/>
              <a:t>{</a:t>
            </a:r>
          </a:p>
          <a:p>
            <a:r>
              <a:rPr lang="en-US" dirty="0"/>
              <a:t>    public Int64 Mobile { get; set; }</a:t>
            </a:r>
          </a:p>
          <a:p>
            <a:r>
              <a:rPr lang="en-US" dirty="0"/>
              <a:t>    public string Email { get; set; }</a:t>
            </a:r>
          </a:p>
          <a:p>
            <a:r>
              <a:rPr lang="en-US" dirty="0"/>
              <a:t>}</a:t>
            </a:r>
          </a:p>
        </p:txBody>
      </p:sp>
    </p:spTree>
    <p:extLst>
      <p:ext uri="{BB962C8B-B14F-4D97-AF65-F5344CB8AC3E}">
        <p14:creationId xmlns:p14="http://schemas.microsoft.com/office/powerpoint/2010/main" val="11884518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937013"/>
            <a:ext cx="5319486" cy="3425371"/>
          </a:xfrm>
        </p:spPr>
        <p:txBody>
          <a:bodyPr>
            <a:normAutofit/>
          </a:bodyPr>
          <a:lstStyle/>
          <a:p>
            <a:r>
              <a:rPr lang="es-MX" sz="2000" dirty="0"/>
              <a:t>Permitir al usuario dar de alta una nueva película.  </a:t>
            </a:r>
          </a:p>
          <a:p>
            <a:r>
              <a:rPr lang="es-MX" sz="2000" dirty="0" smtClean="0"/>
              <a:t>No </a:t>
            </a:r>
            <a:r>
              <a:rPr lang="es-MX" sz="2000" dirty="0"/>
              <a:t>es necesario implementar la asignación de géneros de la película. </a:t>
            </a:r>
            <a:endParaRPr lang="es-AR" sz="2000" dirty="0"/>
          </a:p>
          <a:p>
            <a:endParaRPr lang="en-US" sz="2000" dirty="0"/>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3138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Validando con ASP.NET MVC </a:t>
            </a:r>
            <a:r>
              <a:rPr lang="es-AR" dirty="0" err="1" smtClean="0"/>
              <a:t>framework</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sp>
        <p:nvSpPr>
          <p:cNvPr id="8" name="Content Placeholder 2"/>
          <p:cNvSpPr>
            <a:spLocks noGrp="1"/>
          </p:cNvSpPr>
          <p:nvPr>
            <p:ph idx="1"/>
          </p:nvPr>
        </p:nvSpPr>
        <p:spPr>
          <a:xfrm>
            <a:off x="364792" y="1195423"/>
            <a:ext cx="11534600" cy="4386511"/>
          </a:xfrm>
        </p:spPr>
        <p:txBody>
          <a:bodyPr>
            <a:noAutofit/>
          </a:bodyPr>
          <a:lstStyle/>
          <a:p>
            <a:r>
              <a:rPr lang="es-ES" sz="2000" dirty="0" smtClean="0"/>
              <a:t>MVC incluye 2 </a:t>
            </a:r>
            <a:r>
              <a:rPr lang="es-ES" sz="2000" dirty="0" err="1" smtClean="0"/>
              <a:t>helpers</a:t>
            </a:r>
            <a:r>
              <a:rPr lang="es-ES" sz="2000" dirty="0" smtClean="0"/>
              <a:t> de validación que pueden utilizarse en las vistas:</a:t>
            </a:r>
          </a:p>
          <a:p>
            <a:pPr lvl="1" indent="0">
              <a:buNone/>
            </a:pPr>
            <a:r>
              <a:rPr lang="es-ES" sz="2000" dirty="0" smtClean="0"/>
              <a:t>	- </a:t>
            </a:r>
            <a:r>
              <a:rPr lang="es-ES" sz="2000" dirty="0" err="1" smtClean="0"/>
              <a:t>Html.ValidationMessageFor</a:t>
            </a:r>
            <a:r>
              <a:rPr lang="es-ES" sz="2000" dirty="0" smtClean="0"/>
              <a:t>(m =&gt; </a:t>
            </a:r>
            <a:r>
              <a:rPr lang="es-ES" sz="2000" dirty="0" err="1" smtClean="0"/>
              <a:t>m.Name</a:t>
            </a:r>
            <a:r>
              <a:rPr lang="es-ES" sz="2000" dirty="0" smtClean="0"/>
              <a:t>)</a:t>
            </a:r>
          </a:p>
          <a:p>
            <a:pPr lvl="1" indent="0">
              <a:buNone/>
            </a:pPr>
            <a:r>
              <a:rPr lang="es-ES" sz="2000" dirty="0"/>
              <a:t>	</a:t>
            </a:r>
            <a:r>
              <a:rPr lang="es-ES" sz="2000" dirty="0" smtClean="0"/>
              <a:t>- </a:t>
            </a:r>
            <a:r>
              <a:rPr lang="es-ES" sz="2000" dirty="0" err="1" smtClean="0"/>
              <a:t>Html.ValidationSummary</a:t>
            </a:r>
            <a:r>
              <a:rPr lang="es-ES" sz="2000" dirty="0" smtClean="0"/>
              <a:t>(true)</a:t>
            </a:r>
          </a:p>
          <a:p>
            <a:pPr marL="285750" lvl="1" indent="-285750"/>
            <a:r>
              <a:rPr lang="es-ES" sz="2000" dirty="0" smtClean="0"/>
              <a:t>Los mensajes que se muestran en la vista son los que se especifican en la entidad a través de data </a:t>
            </a:r>
            <a:r>
              <a:rPr lang="es-ES" sz="2000" dirty="0" err="1" smtClean="0"/>
              <a:t>annotations</a:t>
            </a:r>
            <a:r>
              <a:rPr lang="es-ES" sz="2000" dirty="0" smtClean="0"/>
              <a:t>.</a:t>
            </a:r>
          </a:p>
          <a:p>
            <a:pPr marL="285750" lvl="1" indent="-285750"/>
            <a:r>
              <a:rPr lang="es-ES" sz="2000" dirty="0" smtClean="0"/>
              <a:t>Dichas validaciones se verifican justo antes de hacer el </a:t>
            </a:r>
            <a:r>
              <a:rPr lang="es-ES" sz="2000" dirty="0" err="1" smtClean="0"/>
              <a:t>submit</a:t>
            </a:r>
            <a:r>
              <a:rPr lang="es-ES" sz="2000" dirty="0" smtClean="0"/>
              <a:t> de un </a:t>
            </a:r>
            <a:r>
              <a:rPr lang="es-ES" sz="2000" dirty="0" err="1" smtClean="0"/>
              <a:t>form</a:t>
            </a:r>
            <a:r>
              <a:rPr lang="es-ES" sz="2000" dirty="0" smtClean="0"/>
              <a:t>.</a:t>
            </a:r>
          </a:p>
          <a:p>
            <a:pPr marL="285750" lvl="1" indent="-285750"/>
            <a:r>
              <a:rPr lang="es-ES" sz="2000" dirty="0" smtClean="0"/>
              <a:t>Si el modelo no es válido el Post (</a:t>
            </a:r>
            <a:r>
              <a:rPr lang="es-ES" sz="2000" dirty="0" err="1" smtClean="0"/>
              <a:t>submit</a:t>
            </a:r>
            <a:r>
              <a:rPr lang="es-ES" sz="2000" dirty="0" smtClean="0"/>
              <a:t>) se interrumpe y se muestra el respectivo error en la </a:t>
            </a:r>
            <a:r>
              <a:rPr lang="es-ES" sz="2000" smtClean="0"/>
              <a:t>vista.</a:t>
            </a:r>
            <a:endParaRPr lang="es-ES" sz="2000" dirty="0" smtClean="0"/>
          </a:p>
        </p:txBody>
      </p:sp>
    </p:spTree>
    <p:extLst>
      <p:ext uri="{BB962C8B-B14F-4D97-AF65-F5344CB8AC3E}">
        <p14:creationId xmlns:p14="http://schemas.microsoft.com/office/powerpoint/2010/main" val="17920547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smtClean="0"/>
              <a:t>Validando con ASP.NET MVC </a:t>
            </a:r>
            <a:r>
              <a:rPr lang="es-AR" dirty="0" err="1" smtClean="0"/>
              <a:t>framework</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pic>
        <p:nvPicPr>
          <p:cNvPr id="3" name="Picture 2"/>
          <p:cNvPicPr>
            <a:picLocks noChangeAspect="1"/>
          </p:cNvPicPr>
          <p:nvPr/>
        </p:nvPicPr>
        <p:blipFill>
          <a:blip r:embed="rId3"/>
          <a:stretch>
            <a:fillRect/>
          </a:stretch>
        </p:blipFill>
        <p:spPr>
          <a:xfrm>
            <a:off x="753904" y="1560246"/>
            <a:ext cx="3353401" cy="1227325"/>
          </a:xfrm>
          <a:prstGeom prst="rect">
            <a:avLst/>
          </a:prstGeom>
        </p:spPr>
      </p:pic>
      <p:pic>
        <p:nvPicPr>
          <p:cNvPr id="4" name="Picture 3"/>
          <p:cNvPicPr>
            <a:picLocks noChangeAspect="1"/>
          </p:cNvPicPr>
          <p:nvPr/>
        </p:nvPicPr>
        <p:blipFill>
          <a:blip r:embed="rId4"/>
          <a:stretch>
            <a:fillRect/>
          </a:stretch>
        </p:blipFill>
        <p:spPr>
          <a:xfrm>
            <a:off x="784871" y="3507698"/>
            <a:ext cx="5705475" cy="850067"/>
          </a:xfrm>
          <a:prstGeom prst="rect">
            <a:avLst/>
          </a:prstGeom>
        </p:spPr>
      </p:pic>
      <p:sp>
        <p:nvSpPr>
          <p:cNvPr id="5" name="TextBox 4"/>
          <p:cNvSpPr txBox="1"/>
          <p:nvPr/>
        </p:nvSpPr>
        <p:spPr>
          <a:xfrm>
            <a:off x="663964" y="1169237"/>
            <a:ext cx="1064715" cy="400110"/>
          </a:xfrm>
          <a:prstGeom prst="rect">
            <a:avLst/>
          </a:prstGeom>
          <a:noFill/>
        </p:spPr>
        <p:txBody>
          <a:bodyPr wrap="none" rtlCol="0">
            <a:spAutoFit/>
          </a:bodyPr>
          <a:lstStyle/>
          <a:p>
            <a:r>
              <a:rPr lang="es-ES" sz="2000" dirty="0" smtClean="0"/>
              <a:t>Modelo</a:t>
            </a:r>
            <a:endParaRPr lang="es-AR" sz="2000" dirty="0"/>
          </a:p>
        </p:txBody>
      </p:sp>
      <p:sp>
        <p:nvSpPr>
          <p:cNvPr id="10" name="TextBox 9"/>
          <p:cNvSpPr txBox="1"/>
          <p:nvPr/>
        </p:nvSpPr>
        <p:spPr>
          <a:xfrm>
            <a:off x="666464" y="3165422"/>
            <a:ext cx="731290" cy="400110"/>
          </a:xfrm>
          <a:prstGeom prst="rect">
            <a:avLst/>
          </a:prstGeom>
          <a:noFill/>
        </p:spPr>
        <p:txBody>
          <a:bodyPr wrap="none" rtlCol="0">
            <a:spAutoFit/>
          </a:bodyPr>
          <a:lstStyle/>
          <a:p>
            <a:r>
              <a:rPr lang="es-ES" sz="2000" dirty="0" smtClean="0"/>
              <a:t>Vista</a:t>
            </a:r>
            <a:endParaRPr lang="es-AR" sz="2000" dirty="0"/>
          </a:p>
        </p:txBody>
      </p:sp>
      <p:pic>
        <p:nvPicPr>
          <p:cNvPr id="7" name="Picture 6"/>
          <p:cNvPicPr>
            <a:picLocks noChangeAspect="1"/>
          </p:cNvPicPr>
          <p:nvPr/>
        </p:nvPicPr>
        <p:blipFill>
          <a:blip r:embed="rId5"/>
          <a:stretch>
            <a:fillRect/>
          </a:stretch>
        </p:blipFill>
        <p:spPr>
          <a:xfrm>
            <a:off x="732877" y="5313771"/>
            <a:ext cx="5419725" cy="1057275"/>
          </a:xfrm>
          <a:prstGeom prst="rect">
            <a:avLst/>
          </a:prstGeom>
        </p:spPr>
      </p:pic>
      <p:sp>
        <p:nvSpPr>
          <p:cNvPr id="11" name="TextBox 10"/>
          <p:cNvSpPr txBox="1"/>
          <p:nvPr/>
        </p:nvSpPr>
        <p:spPr>
          <a:xfrm>
            <a:off x="743914" y="4861803"/>
            <a:ext cx="4837991" cy="400110"/>
          </a:xfrm>
          <a:prstGeom prst="rect">
            <a:avLst/>
          </a:prstGeom>
          <a:noFill/>
        </p:spPr>
        <p:txBody>
          <a:bodyPr wrap="none" rtlCol="0">
            <a:spAutoFit/>
          </a:bodyPr>
          <a:lstStyle/>
          <a:p>
            <a:r>
              <a:rPr lang="es-ES" sz="2000" dirty="0" smtClean="0"/>
              <a:t>Mensaje de error en tiempo de ejecución</a:t>
            </a:r>
            <a:endParaRPr lang="es-AR" sz="2000" dirty="0"/>
          </a:p>
        </p:txBody>
      </p:sp>
    </p:spTree>
    <p:extLst>
      <p:ext uri="{BB962C8B-B14F-4D97-AF65-F5344CB8AC3E}">
        <p14:creationId xmlns:p14="http://schemas.microsoft.com/office/powerpoint/2010/main" val="27784707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4969" y="1361964"/>
            <a:ext cx="7044364" cy="3925469"/>
          </a:xfrm>
        </p:spPr>
        <p:txBody>
          <a:bodyPr>
            <a:normAutofit/>
          </a:bodyPr>
          <a:lstStyle/>
          <a:p>
            <a:pPr marL="401638" lvl="2">
              <a:buBlip>
                <a:blip r:embed="rId2"/>
              </a:buBlip>
            </a:pPr>
            <a:r>
              <a:rPr lang="es-AR" sz="2000" dirty="0" smtClean="0"/>
              <a:t>Agregar </a:t>
            </a:r>
            <a:r>
              <a:rPr lang="es-AR" sz="2000" dirty="0"/>
              <a:t>validaciones al alta de películas. </a:t>
            </a:r>
            <a:endParaRPr lang="es-AR" sz="2000" dirty="0" smtClean="0"/>
          </a:p>
          <a:p>
            <a:pPr marL="401638" lvl="2">
              <a:buBlip>
                <a:blip r:embed="rId2"/>
              </a:buBlip>
            </a:pPr>
            <a:r>
              <a:rPr lang="es-AR" sz="2000" dirty="0" smtClean="0"/>
              <a:t>Campos </a:t>
            </a:r>
            <a:r>
              <a:rPr lang="es-AR" sz="2000" dirty="0"/>
              <a:t>requeridos: </a:t>
            </a:r>
          </a:p>
          <a:p>
            <a:pPr marL="388944" lvl="4" indent="0">
              <a:buNone/>
            </a:pPr>
            <a:r>
              <a:rPr lang="es-AR" sz="2000" dirty="0" smtClean="0"/>
              <a:t> - </a:t>
            </a:r>
            <a:r>
              <a:rPr lang="es-AR" sz="2000" dirty="0" err="1" smtClean="0"/>
              <a:t>Name</a:t>
            </a:r>
            <a:r>
              <a:rPr lang="es-AR" sz="2000" dirty="0"/>
              <a:t>, </a:t>
            </a:r>
            <a:r>
              <a:rPr lang="es-AR" sz="2000" dirty="0" err="1"/>
              <a:t>ReleaseDate</a:t>
            </a:r>
            <a:r>
              <a:rPr lang="es-AR" sz="2000" dirty="0"/>
              <a:t>, </a:t>
            </a:r>
            <a:r>
              <a:rPr lang="es-AR" sz="2000" dirty="0" err="1"/>
              <a:t>Plot</a:t>
            </a:r>
            <a:r>
              <a:rPr lang="es-AR" sz="2000" dirty="0"/>
              <a:t>, </a:t>
            </a:r>
            <a:r>
              <a:rPr lang="es-AR" sz="2000" dirty="0" err="1"/>
              <a:t>CoverLink</a:t>
            </a:r>
            <a:r>
              <a:rPr lang="es-AR" sz="2000" dirty="0"/>
              <a:t> y Runtime.</a:t>
            </a:r>
          </a:p>
          <a:p>
            <a:pPr marL="401638" lvl="3">
              <a:buBlip>
                <a:blip r:embed="rId2"/>
              </a:buBlip>
            </a:pPr>
            <a:r>
              <a:rPr lang="es-AR" sz="2000" dirty="0" err="1"/>
              <a:t>ReleaseDate</a:t>
            </a:r>
            <a:r>
              <a:rPr lang="es-AR" sz="2000" dirty="0"/>
              <a:t> tiene que ser una fecha valida.</a:t>
            </a:r>
          </a:p>
          <a:p>
            <a:pPr marL="401638" lvl="3">
              <a:buBlip>
                <a:blip r:embed="rId2"/>
              </a:buBlip>
            </a:pPr>
            <a:r>
              <a:rPr lang="es-AR" sz="2000" dirty="0"/>
              <a:t>El rango valido de valores para Runtime es de 30 a 300. </a:t>
            </a:r>
            <a:endParaRPr lang="en-US" sz="2000" dirty="0"/>
          </a:p>
          <a:p>
            <a:pPr marL="401638" lvl="3">
              <a:buBlip>
                <a:blip r:embed="rId2"/>
              </a:buBlip>
            </a:pPr>
            <a:r>
              <a:rPr lang="en-US" sz="2000" dirty="0"/>
              <a:t>El campo Name solo permite 100 caracteres. </a:t>
            </a:r>
            <a:endParaRPr lang="en-US" sz="2000" dirty="0" smtClean="0"/>
          </a:p>
          <a:p>
            <a:pPr marL="401638" lvl="3">
              <a:buBlip>
                <a:blip r:embed="rId2"/>
              </a:buBlip>
            </a:pPr>
            <a:r>
              <a:rPr lang="en-US" sz="2000" dirty="0" err="1" smtClean="0"/>
              <a:t>Actualizar</a:t>
            </a:r>
            <a:r>
              <a:rPr lang="en-US" sz="2000" dirty="0" smtClean="0"/>
              <a:t> la DB con migrations.</a:t>
            </a:r>
          </a:p>
          <a:p>
            <a:pPr marL="160344" lvl="3" indent="0">
              <a:buNone/>
            </a:pPr>
            <a:r>
              <a:rPr lang="en-US" sz="2000" dirty="0"/>
              <a:t> </a:t>
            </a:r>
            <a:r>
              <a:rPr lang="en-US" sz="2000" dirty="0" smtClean="0"/>
              <a:t>   - add-migration </a:t>
            </a:r>
            <a:r>
              <a:rPr lang="en-US" sz="2000" dirty="0" err="1" smtClean="0"/>
              <a:t>NuevosCamposEnPeliculas</a:t>
            </a:r>
            <a:endParaRPr lang="en-US" sz="2000" dirty="0" smtClean="0"/>
          </a:p>
          <a:p>
            <a:pPr marL="160344" lvl="3" indent="0">
              <a:buNone/>
            </a:pPr>
            <a:r>
              <a:rPr lang="en-US" sz="2000" dirty="0"/>
              <a:t> </a:t>
            </a:r>
            <a:r>
              <a:rPr lang="en-US" sz="2000" dirty="0" smtClean="0"/>
              <a:t>   - update-database</a:t>
            </a:r>
            <a:endParaRPr lang="en-US" sz="2000" dirty="0"/>
          </a:p>
        </p:txBody>
      </p:sp>
      <p:pic>
        <p:nvPicPr>
          <p:cNvPr id="6"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4258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436915"/>
            <a:ext cx="7044364" cy="4122057"/>
          </a:xfrm>
        </p:spPr>
        <p:txBody>
          <a:bodyPr>
            <a:normAutofit/>
          </a:bodyPr>
          <a:lstStyle/>
          <a:p>
            <a:r>
              <a:rPr lang="es-MX" sz="2000" dirty="0"/>
              <a:t>Si la película se guardó exitosamente retornar a la </a:t>
            </a:r>
            <a:r>
              <a:rPr lang="es-MX" sz="2000" dirty="0" smtClean="0"/>
              <a:t>lista de </a:t>
            </a:r>
            <a:r>
              <a:rPr lang="es-MX" sz="2000" dirty="0"/>
              <a:t>películas y mostrar mensaje </a:t>
            </a:r>
            <a:r>
              <a:rPr lang="es-MX" sz="2000" dirty="0" smtClean="0"/>
              <a:t>de éxito en </a:t>
            </a:r>
            <a:r>
              <a:rPr lang="es-MX" sz="2000" dirty="0"/>
              <a:t>la </a:t>
            </a:r>
            <a:r>
              <a:rPr lang="es-MX" sz="2000" dirty="0" smtClean="0"/>
              <a:t>lista. </a:t>
            </a:r>
            <a:endParaRPr lang="es-MX" sz="2000" dirty="0"/>
          </a:p>
          <a:p>
            <a:endParaRPr lang="es-MX" sz="2000" dirty="0"/>
          </a:p>
          <a:p>
            <a:r>
              <a:rPr lang="es-MX" sz="2000" dirty="0"/>
              <a:t>El mensaje debe contener el nombre de la película que se creo. </a:t>
            </a:r>
          </a:p>
          <a:p>
            <a:endParaRPr lang="es-MX" sz="2000" dirty="0"/>
          </a:p>
          <a:p>
            <a:r>
              <a:rPr lang="es-MX" sz="2000" dirty="0" err="1"/>
              <a:t>Bonus</a:t>
            </a:r>
            <a:r>
              <a:rPr lang="es-MX" sz="2000" dirty="0"/>
              <a:t>: </a:t>
            </a:r>
          </a:p>
          <a:p>
            <a:pPr lvl="1" indent="0">
              <a:buNone/>
            </a:pPr>
            <a:r>
              <a:rPr lang="es-MX" sz="2000" dirty="0" smtClean="0"/>
              <a:t>   Agregar </a:t>
            </a:r>
            <a:r>
              <a:rPr lang="es-MX" sz="2000" dirty="0"/>
              <a:t>otro botón “</a:t>
            </a:r>
            <a:r>
              <a:rPr lang="es-MX" sz="2000" dirty="0" err="1"/>
              <a:t>Save</a:t>
            </a:r>
            <a:r>
              <a:rPr lang="es-MX" sz="2000" dirty="0"/>
              <a:t> and New” que permitirá al usuario crear la película y seguir cargando otra película a continuación. En este caso, mostrar otro mensaje de éxito en este caso en la pantalla de creación de película. </a:t>
            </a:r>
          </a:p>
          <a:p>
            <a:endParaRPr lang="es-MX" sz="2000" dirty="0"/>
          </a:p>
        </p:txBody>
      </p:sp>
      <p:pic>
        <p:nvPicPr>
          <p:cNvPr id="6"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258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Inyección de dependencias</a:t>
            </a:r>
            <a:endParaRPr lang="en-US" dirty="0"/>
          </a:p>
        </p:txBody>
      </p:sp>
      <p:sp>
        <p:nvSpPr>
          <p:cNvPr id="3" name="Content Placeholder 2"/>
          <p:cNvSpPr>
            <a:spLocks noGrp="1"/>
          </p:cNvSpPr>
          <p:nvPr>
            <p:ph idx="1"/>
          </p:nvPr>
        </p:nvSpPr>
        <p:spPr>
          <a:xfrm>
            <a:off x="633984" y="903515"/>
            <a:ext cx="9814560" cy="2199449"/>
          </a:xfrm>
        </p:spPr>
        <p:txBody>
          <a:bodyPr>
            <a:noAutofit/>
          </a:bodyPr>
          <a:lstStyle/>
          <a:p>
            <a:r>
              <a:rPr lang="es-ES" sz="2000" dirty="0" smtClean="0"/>
              <a:t>Es un patrón de diseño que permite delegar a un agente externo (el inyector) la responsabilidad de proveer (crear) las instancias de las clases de las que depende.</a:t>
            </a:r>
          </a:p>
          <a:p>
            <a:r>
              <a:rPr lang="es-ES" sz="2000" dirty="0" smtClean="0"/>
              <a:t>El cliente no necesita saber cómo crear instancias y no necesita saber qué tipo específico de cada instancia esta usando (solo sabe sobre la interfaz que implementa)</a:t>
            </a:r>
          </a:p>
          <a:p>
            <a:r>
              <a:rPr lang="es-ES" sz="2000" dirty="0" smtClean="0"/>
              <a:t>Genera código mas fácil de mantener y testear.</a:t>
            </a:r>
          </a:p>
        </p:txBody>
      </p:sp>
      <p:pic>
        <p:nvPicPr>
          <p:cNvPr id="4" name="Picture 3"/>
          <p:cNvPicPr>
            <a:picLocks noChangeAspect="1"/>
          </p:cNvPicPr>
          <p:nvPr/>
        </p:nvPicPr>
        <p:blipFill>
          <a:blip r:embed="rId3"/>
          <a:stretch>
            <a:fillRect/>
          </a:stretch>
        </p:blipFill>
        <p:spPr>
          <a:xfrm>
            <a:off x="633984" y="3976760"/>
            <a:ext cx="4406874" cy="1239817"/>
          </a:xfrm>
          <a:prstGeom prst="rect">
            <a:avLst/>
          </a:prstGeom>
        </p:spPr>
      </p:pic>
      <p:pic>
        <p:nvPicPr>
          <p:cNvPr id="5" name="Picture 4"/>
          <p:cNvPicPr>
            <a:picLocks noChangeAspect="1"/>
          </p:cNvPicPr>
          <p:nvPr/>
        </p:nvPicPr>
        <p:blipFill>
          <a:blip r:embed="rId4"/>
          <a:stretch>
            <a:fillRect/>
          </a:stretch>
        </p:blipFill>
        <p:spPr>
          <a:xfrm>
            <a:off x="6312968" y="3976760"/>
            <a:ext cx="5586425" cy="2319109"/>
          </a:xfrm>
          <a:prstGeom prst="rect">
            <a:avLst/>
          </a:prstGeom>
        </p:spPr>
      </p:pic>
      <p:sp>
        <p:nvSpPr>
          <p:cNvPr id="6" name="TextBox 5"/>
          <p:cNvSpPr txBox="1"/>
          <p:nvPr/>
        </p:nvSpPr>
        <p:spPr>
          <a:xfrm>
            <a:off x="668964" y="3422748"/>
            <a:ext cx="1515095" cy="400110"/>
          </a:xfrm>
          <a:prstGeom prst="rect">
            <a:avLst/>
          </a:prstGeom>
          <a:noFill/>
        </p:spPr>
        <p:txBody>
          <a:bodyPr wrap="none" rtlCol="0">
            <a:spAutoFit/>
          </a:bodyPr>
          <a:lstStyle/>
          <a:p>
            <a:r>
              <a:rPr lang="es-ES" sz="2000" dirty="0" smtClean="0"/>
              <a:t>Sin Inyector</a:t>
            </a:r>
            <a:endParaRPr lang="es-AR" sz="2000" dirty="0"/>
          </a:p>
        </p:txBody>
      </p:sp>
      <p:sp>
        <p:nvSpPr>
          <p:cNvPr id="7" name="TextBox 6"/>
          <p:cNvSpPr txBox="1"/>
          <p:nvPr/>
        </p:nvSpPr>
        <p:spPr>
          <a:xfrm>
            <a:off x="6352736" y="3455228"/>
            <a:ext cx="1625701" cy="400110"/>
          </a:xfrm>
          <a:prstGeom prst="rect">
            <a:avLst/>
          </a:prstGeom>
          <a:noFill/>
        </p:spPr>
        <p:txBody>
          <a:bodyPr wrap="none" rtlCol="0">
            <a:spAutoFit/>
          </a:bodyPr>
          <a:lstStyle/>
          <a:p>
            <a:r>
              <a:rPr lang="es-ES" sz="2000" dirty="0" smtClean="0"/>
              <a:t>Con Inyector</a:t>
            </a:r>
            <a:endParaRPr lang="es-AR" sz="2000" dirty="0"/>
          </a:p>
        </p:txBody>
      </p:sp>
    </p:spTree>
    <p:extLst>
      <p:ext uri="{BB962C8B-B14F-4D97-AF65-F5344CB8AC3E}">
        <p14:creationId xmlns:p14="http://schemas.microsoft.com/office/powerpoint/2010/main" val="20783538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6634" y="1436915"/>
            <a:ext cx="5497881" cy="4122057"/>
          </a:xfrm>
        </p:spPr>
        <p:txBody>
          <a:bodyPr>
            <a:normAutofit/>
          </a:bodyPr>
          <a:lstStyle/>
          <a:p>
            <a:r>
              <a:rPr lang="es-AR" sz="2000" dirty="0" smtClean="0"/>
              <a:t>Agregar un inyector de dependencias a la solución y reemplazar las creaciones explícitas de instancias por inyecciones.</a:t>
            </a:r>
            <a:endParaRPr lang="es-AR" sz="2000" dirty="0"/>
          </a:p>
        </p:txBody>
      </p:sp>
      <p:pic>
        <p:nvPicPr>
          <p:cNvPr id="6" name="Picture 2"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5011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5028" y="1436915"/>
            <a:ext cx="7044364" cy="4122057"/>
          </a:xfrm>
        </p:spPr>
        <p:txBody>
          <a:bodyPr>
            <a:normAutofit/>
          </a:bodyPr>
          <a:lstStyle/>
          <a:p>
            <a:r>
              <a:rPr lang="es-AR" sz="2000" dirty="0"/>
              <a:t>Agregar </a:t>
            </a:r>
            <a:r>
              <a:rPr lang="es-AR" sz="2000" dirty="0" smtClean="0"/>
              <a:t>funcionalidad para permitir </a:t>
            </a:r>
            <a:r>
              <a:rPr lang="es-AR" sz="2000" dirty="0"/>
              <a:t>editar una película. </a:t>
            </a:r>
          </a:p>
          <a:p>
            <a:endParaRPr lang="es-AR" sz="2000" dirty="0"/>
          </a:p>
          <a:p>
            <a:r>
              <a:rPr lang="es-AR" sz="2000" dirty="0"/>
              <a:t>El usuario debería </a:t>
            </a:r>
            <a:r>
              <a:rPr lang="es-AR" sz="2000" dirty="0" smtClean="0"/>
              <a:t>ser capaz </a:t>
            </a:r>
            <a:r>
              <a:rPr lang="es-AR" sz="2000" dirty="0"/>
              <a:t>de poder editar la película </a:t>
            </a:r>
            <a:r>
              <a:rPr lang="es-AR" sz="2000" dirty="0" smtClean="0"/>
              <a:t>haciendo </a:t>
            </a:r>
            <a:r>
              <a:rPr lang="es-AR" sz="2000" dirty="0"/>
              <a:t>click en un </a:t>
            </a:r>
            <a:r>
              <a:rPr lang="es-AR" sz="2000" dirty="0" smtClean="0"/>
              <a:t>link/botón “</a:t>
            </a:r>
            <a:r>
              <a:rPr lang="es-AR" sz="2000" dirty="0"/>
              <a:t>Editar” en la </a:t>
            </a:r>
            <a:r>
              <a:rPr lang="es-AR" sz="2000" dirty="0" smtClean="0"/>
              <a:t>lista de </a:t>
            </a:r>
            <a:r>
              <a:rPr lang="es-AR" sz="2000" dirty="0"/>
              <a:t>películas. </a:t>
            </a:r>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4079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6634" y="1436915"/>
            <a:ext cx="7390448" cy="4122057"/>
          </a:xfrm>
        </p:spPr>
        <p:txBody>
          <a:bodyPr>
            <a:normAutofit/>
          </a:bodyPr>
          <a:lstStyle/>
          <a:p>
            <a:r>
              <a:rPr lang="es-AR" sz="2000" dirty="0"/>
              <a:t>En la creación y edición de películas, incorporar la posibilidad de ingresar cuales son los géneros de la película.</a:t>
            </a:r>
          </a:p>
          <a:p>
            <a:endParaRPr lang="es-AR" sz="2000" dirty="0"/>
          </a:p>
          <a:p>
            <a:r>
              <a:rPr lang="es-AR" sz="2000" dirty="0"/>
              <a:t>En la </a:t>
            </a:r>
            <a:r>
              <a:rPr lang="es-AR" sz="2000" dirty="0" smtClean="0"/>
              <a:t>lista de </a:t>
            </a:r>
            <a:r>
              <a:rPr lang="es-AR" sz="2000" dirty="0"/>
              <a:t>películas, por cada película mostrar cuales son sus géneros. </a:t>
            </a:r>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6401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164" y="347472"/>
            <a:ext cx="11265408" cy="296842"/>
          </a:xfrm>
        </p:spPr>
        <p:txBody>
          <a:bodyPr/>
          <a:lstStyle/>
          <a:p>
            <a:r>
              <a:rPr lang="es-AR" dirty="0" smtClean="0"/>
              <a:t>AJAX – </a:t>
            </a:r>
            <a:r>
              <a:rPr lang="es-AR" dirty="0" err="1" smtClean="0"/>
              <a:t>Asynchronous</a:t>
            </a:r>
            <a:r>
              <a:rPr lang="es-AR" dirty="0" smtClean="0"/>
              <a:t> JavaScript And </a:t>
            </a:r>
            <a:r>
              <a:rPr lang="es-AR" dirty="0" err="1" smtClean="0"/>
              <a:t>Xml</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sp>
        <p:nvSpPr>
          <p:cNvPr id="7" name="Content Placeholder 2"/>
          <p:cNvSpPr>
            <a:spLocks noGrp="1"/>
          </p:cNvSpPr>
          <p:nvPr>
            <p:ph idx="1"/>
          </p:nvPr>
        </p:nvSpPr>
        <p:spPr>
          <a:xfrm>
            <a:off x="364792" y="1195423"/>
            <a:ext cx="11534600" cy="888209"/>
          </a:xfrm>
        </p:spPr>
        <p:txBody>
          <a:bodyPr>
            <a:noAutofit/>
          </a:bodyPr>
          <a:lstStyle/>
          <a:p>
            <a:r>
              <a:rPr lang="es-ES" sz="2000" dirty="0" smtClean="0"/>
              <a:t>En simples palabras, es la modalidad de intercambiar datos con el servidor, y actualizar partes de una página, sin la necesidad de volver a cargar la página entera.</a:t>
            </a:r>
            <a:endParaRPr lang="es-ES" sz="2000" dirty="0"/>
          </a:p>
        </p:txBody>
      </p:sp>
      <p:sp>
        <p:nvSpPr>
          <p:cNvPr id="3" name="Rectangle 2"/>
          <p:cNvSpPr/>
          <p:nvPr/>
        </p:nvSpPr>
        <p:spPr>
          <a:xfrm>
            <a:off x="5626643" y="4522244"/>
            <a:ext cx="4996881" cy="369332"/>
          </a:xfrm>
          <a:prstGeom prst="rect">
            <a:avLst/>
          </a:prstGeom>
        </p:spPr>
        <p:txBody>
          <a:bodyPr wrap="none">
            <a:spAutoFit/>
          </a:bodyPr>
          <a:lstStyle/>
          <a:p>
            <a:r>
              <a:rPr lang="es-AR" dirty="0">
                <a:solidFill>
                  <a:srgbClr val="000000"/>
                </a:solidFill>
                <a:latin typeface="Consolas" panose="020B0609020204030204" pitchFamily="49" charset="0"/>
              </a:rPr>
              <a:t>$.</a:t>
            </a:r>
            <a:r>
              <a:rPr lang="es-AR" dirty="0" err="1">
                <a:solidFill>
                  <a:srgbClr val="000000"/>
                </a:solidFill>
                <a:latin typeface="Consolas" panose="020B0609020204030204" pitchFamily="49" charset="0"/>
              </a:rPr>
              <a:t>ajax</a:t>
            </a:r>
            <a:r>
              <a:rPr lang="es-AR" dirty="0">
                <a:solidFill>
                  <a:srgbClr val="000000"/>
                </a:solidFill>
                <a:latin typeface="Consolas" panose="020B0609020204030204" pitchFamily="49" charset="0"/>
              </a:rPr>
              <a:t>(</a:t>
            </a:r>
            <a:r>
              <a:rPr lang="es-AR" i="1" dirty="0">
                <a:solidFill>
                  <a:srgbClr val="000000"/>
                </a:solidFill>
                <a:latin typeface="Consolas" panose="020B0609020204030204" pitchFamily="49" charset="0"/>
              </a:rPr>
              <a:t>{</a:t>
            </a:r>
            <a:r>
              <a:rPr lang="es-AR" i="1" dirty="0" err="1">
                <a:solidFill>
                  <a:srgbClr val="000000"/>
                </a:solidFill>
                <a:latin typeface="Consolas" panose="020B0609020204030204" pitchFamily="49" charset="0"/>
              </a:rPr>
              <a:t>name:value</a:t>
            </a:r>
            <a:r>
              <a:rPr lang="es-AR" i="1" dirty="0">
                <a:solidFill>
                  <a:srgbClr val="000000"/>
                </a:solidFill>
                <a:latin typeface="Consolas" panose="020B0609020204030204" pitchFamily="49" charset="0"/>
              </a:rPr>
              <a:t>, </a:t>
            </a:r>
            <a:r>
              <a:rPr lang="es-AR" i="1" dirty="0" err="1">
                <a:solidFill>
                  <a:srgbClr val="000000"/>
                </a:solidFill>
                <a:latin typeface="Consolas" panose="020B0609020204030204" pitchFamily="49" charset="0"/>
              </a:rPr>
              <a:t>name:value</a:t>
            </a:r>
            <a:r>
              <a:rPr lang="es-AR" i="1" dirty="0">
                <a:solidFill>
                  <a:srgbClr val="000000"/>
                </a:solidFill>
                <a:latin typeface="Consolas" panose="020B0609020204030204" pitchFamily="49" charset="0"/>
              </a:rPr>
              <a:t>, ... }</a:t>
            </a:r>
            <a:r>
              <a:rPr lang="es-AR" dirty="0">
                <a:solidFill>
                  <a:srgbClr val="000000"/>
                </a:solidFill>
                <a:latin typeface="Consolas" panose="020B0609020204030204" pitchFamily="49" charset="0"/>
              </a:rPr>
              <a:t>)</a:t>
            </a:r>
            <a:endParaRPr lang="es-AR" dirty="0"/>
          </a:p>
        </p:txBody>
      </p:sp>
      <p:sp>
        <p:nvSpPr>
          <p:cNvPr id="8" name="Title 1"/>
          <p:cNvSpPr txBox="1">
            <a:spLocks/>
          </p:cNvSpPr>
          <p:nvPr/>
        </p:nvSpPr>
        <p:spPr>
          <a:xfrm>
            <a:off x="5618634" y="4041296"/>
            <a:ext cx="11265408" cy="296842"/>
          </a:xfrm>
          <a:prstGeom prst="rect">
            <a:avLst/>
          </a:prstGeom>
        </p:spPr>
        <p:txBody>
          <a:bodyPr/>
          <a:lstStyle>
            <a:lvl1pPr algn="l" defTabSz="1219170" rtl="0" eaLnBrk="1" latinLnBrk="0" hangingPunct="1">
              <a:spcBef>
                <a:spcPct val="0"/>
              </a:spcBef>
              <a:buNone/>
              <a:defRPr sz="2400" kern="600" spc="0" baseline="0">
                <a:solidFill>
                  <a:schemeClr val="bg1">
                    <a:lumMod val="50000"/>
                  </a:schemeClr>
                </a:solidFill>
                <a:latin typeface="+mj-lt"/>
                <a:ea typeface="+mj-ea"/>
                <a:cs typeface="+mj-cs"/>
              </a:defRPr>
            </a:lvl1pPr>
          </a:lstStyle>
          <a:p>
            <a:r>
              <a:rPr lang="es-AR" dirty="0" smtClean="0"/>
              <a:t>Sintaxis en </a:t>
            </a:r>
            <a:r>
              <a:rPr lang="es-AR" dirty="0" err="1" smtClean="0"/>
              <a:t>JQuery</a:t>
            </a:r>
            <a:endParaRPr lang="en-US" dirty="0"/>
          </a:p>
        </p:txBody>
      </p:sp>
      <p:pic>
        <p:nvPicPr>
          <p:cNvPr id="10" name="Picture 2" descr="ajax comunicacion esquem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242" y="2083632"/>
            <a:ext cx="4667384" cy="476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8069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smtClean="0"/>
              <a:t>AJAX - Ejemplo</a:t>
            </a:r>
            <a:endParaRPr lang="en-US" dirty="0"/>
          </a:p>
        </p:txBody>
      </p:sp>
      <p:sp>
        <p:nvSpPr>
          <p:cNvPr id="6" name="5 CuadroTexto"/>
          <p:cNvSpPr txBox="1"/>
          <p:nvPr/>
        </p:nvSpPr>
        <p:spPr>
          <a:xfrm>
            <a:off x="2017487" y="1045029"/>
            <a:ext cx="6342742" cy="369332"/>
          </a:xfrm>
          <a:prstGeom prst="rect">
            <a:avLst/>
          </a:prstGeom>
          <a:noFill/>
        </p:spPr>
        <p:txBody>
          <a:bodyPr wrap="square" rtlCol="0">
            <a:spAutoFit/>
          </a:bodyPr>
          <a:lstStyle/>
          <a:p>
            <a:endParaRPr lang="es-AR" dirty="0"/>
          </a:p>
        </p:txBody>
      </p:sp>
      <p:sp>
        <p:nvSpPr>
          <p:cNvPr id="9" name="8 CuadroTexto"/>
          <p:cNvSpPr txBox="1"/>
          <p:nvPr/>
        </p:nvSpPr>
        <p:spPr>
          <a:xfrm>
            <a:off x="633984" y="1229695"/>
            <a:ext cx="9133264" cy="4001095"/>
          </a:xfrm>
          <a:prstGeom prst="rect">
            <a:avLst/>
          </a:prstGeom>
          <a:noFill/>
        </p:spPr>
        <p:txBody>
          <a:bodyPr wrap="square" rtlCol="0">
            <a:spAutoFit/>
          </a:bodyPr>
          <a:lstStyle/>
          <a:p>
            <a:pPr marL="854074" lvl="2" fontAlgn="base">
              <a:spcBef>
                <a:spcPct val="20000"/>
              </a:spcBef>
            </a:pPr>
            <a:endParaRPr lang="es-US" sz="2000" dirty="0"/>
          </a:p>
          <a:p>
            <a:pPr fontAlgn="base"/>
            <a:r>
              <a:rPr lang="en-US" dirty="0">
                <a:latin typeface="source-code-pro"/>
              </a:rPr>
              <a:t>$.</a:t>
            </a:r>
            <a:r>
              <a:rPr lang="en-US" dirty="0" err="1">
                <a:latin typeface="source-code-pro"/>
              </a:rPr>
              <a:t>ajax</a:t>
            </a:r>
            <a:r>
              <a:rPr lang="en-US" dirty="0">
                <a:latin typeface="source-code-pro"/>
              </a:rPr>
              <a:t>({</a:t>
            </a:r>
          </a:p>
          <a:p>
            <a:pPr fontAlgn="base"/>
            <a:r>
              <a:rPr lang="en-US" dirty="0">
                <a:latin typeface="source-code-pro"/>
              </a:rPr>
              <a:t>	type: 	</a:t>
            </a:r>
            <a:r>
              <a:rPr lang="en-US" dirty="0">
                <a:solidFill>
                  <a:srgbClr val="DD1144"/>
                </a:solidFill>
                <a:latin typeface="source-code-pro"/>
              </a:rPr>
              <a:t>"POST"</a:t>
            </a:r>
            <a:r>
              <a:rPr lang="en-US" dirty="0">
                <a:latin typeface="source-code-pro"/>
              </a:rPr>
              <a:t>,</a:t>
            </a:r>
          </a:p>
          <a:p>
            <a:pPr fontAlgn="base"/>
            <a:r>
              <a:rPr lang="en-US" dirty="0">
                <a:latin typeface="source-code-pro"/>
              </a:rPr>
              <a:t>	url:	 </a:t>
            </a:r>
            <a:r>
              <a:rPr lang="en-US" dirty="0">
                <a:solidFill>
                  <a:srgbClr val="DD1144"/>
                </a:solidFill>
                <a:latin typeface="source-code-pro"/>
              </a:rPr>
              <a:t>“</a:t>
            </a:r>
            <a:r>
              <a:rPr lang="en-US" dirty="0" err="1">
                <a:solidFill>
                  <a:srgbClr val="DD1144"/>
                </a:solidFill>
                <a:latin typeface="source-code-pro"/>
              </a:rPr>
              <a:t>ControllerName</a:t>
            </a:r>
            <a:r>
              <a:rPr lang="en-US" dirty="0">
                <a:solidFill>
                  <a:srgbClr val="DD1144"/>
                </a:solidFill>
                <a:latin typeface="source-code-pro"/>
              </a:rPr>
              <a:t>/</a:t>
            </a:r>
            <a:r>
              <a:rPr lang="en-US" dirty="0" err="1">
                <a:solidFill>
                  <a:srgbClr val="DD1144"/>
                </a:solidFill>
                <a:latin typeface="source-code-pro"/>
              </a:rPr>
              <a:t>ActionName</a:t>
            </a:r>
            <a:r>
              <a:rPr lang="en-US" dirty="0">
                <a:solidFill>
                  <a:srgbClr val="DD1144"/>
                </a:solidFill>
                <a:latin typeface="source-code-pro"/>
              </a:rPr>
              <a:t>"</a:t>
            </a:r>
            <a:r>
              <a:rPr lang="en-US" dirty="0">
                <a:latin typeface="source-code-pro"/>
              </a:rPr>
              <a:t>,</a:t>
            </a:r>
          </a:p>
          <a:p>
            <a:pPr fontAlgn="base"/>
            <a:r>
              <a:rPr lang="en-US" dirty="0">
                <a:latin typeface="source-code-pro"/>
              </a:rPr>
              <a:t>	data: 	{ name: </a:t>
            </a:r>
            <a:r>
              <a:rPr lang="en-US" dirty="0">
                <a:solidFill>
                  <a:srgbClr val="DD1144"/>
                </a:solidFill>
                <a:latin typeface="source-code-pro"/>
              </a:rPr>
              <a:t>"John"</a:t>
            </a:r>
            <a:r>
              <a:rPr lang="en-US" dirty="0">
                <a:latin typeface="source-code-pro"/>
              </a:rPr>
              <a:t>, location: </a:t>
            </a:r>
            <a:r>
              <a:rPr lang="en-US" dirty="0">
                <a:solidFill>
                  <a:srgbClr val="DD1144"/>
                </a:solidFill>
                <a:latin typeface="source-code-pro"/>
              </a:rPr>
              <a:t>"Boston"</a:t>
            </a:r>
            <a:r>
              <a:rPr lang="en-US" dirty="0">
                <a:latin typeface="source-code-pro"/>
              </a:rPr>
              <a:t> </a:t>
            </a:r>
            <a:r>
              <a:rPr lang="en-US" dirty="0" smtClean="0">
                <a:latin typeface="source-code-pro"/>
              </a:rPr>
              <a:t>},</a:t>
            </a:r>
          </a:p>
          <a:p>
            <a:pPr fontAlgn="base"/>
            <a:r>
              <a:rPr lang="en-US" dirty="0">
                <a:latin typeface="source-code-pro"/>
              </a:rPr>
              <a:t> </a:t>
            </a:r>
            <a:r>
              <a:rPr lang="en-US" dirty="0" smtClean="0">
                <a:latin typeface="source-code-pro"/>
              </a:rPr>
              <a:t>             success: function () </a:t>
            </a:r>
          </a:p>
          <a:p>
            <a:pPr fontAlgn="base"/>
            <a:r>
              <a:rPr lang="en-US" dirty="0">
                <a:latin typeface="source-code-pro"/>
              </a:rPr>
              <a:t>	</a:t>
            </a:r>
            <a:r>
              <a:rPr lang="en-US" dirty="0" smtClean="0">
                <a:latin typeface="source-code-pro"/>
              </a:rPr>
              <a:t>	{ alert(“Ajax Call Succeeded”) },</a:t>
            </a:r>
          </a:p>
          <a:p>
            <a:pPr fontAlgn="base"/>
            <a:r>
              <a:rPr lang="en-US" dirty="0">
                <a:latin typeface="source-code-pro"/>
              </a:rPr>
              <a:t>	</a:t>
            </a:r>
            <a:r>
              <a:rPr lang="en-US" dirty="0" smtClean="0">
                <a:latin typeface="source-code-pro"/>
              </a:rPr>
              <a:t>error: function ()</a:t>
            </a:r>
          </a:p>
          <a:p>
            <a:pPr fontAlgn="base"/>
            <a:r>
              <a:rPr lang="en-US" dirty="0" smtClean="0">
                <a:latin typeface="source-code-pro"/>
              </a:rPr>
              <a:t>		{ </a:t>
            </a:r>
            <a:r>
              <a:rPr lang="en-US" dirty="0">
                <a:latin typeface="source-code-pro"/>
              </a:rPr>
              <a:t>alert(“Ajax Call </a:t>
            </a:r>
            <a:r>
              <a:rPr lang="en-US" dirty="0" smtClean="0">
                <a:latin typeface="source-code-pro"/>
              </a:rPr>
              <a:t>Failed”) }</a:t>
            </a:r>
            <a:endParaRPr lang="en-US" dirty="0">
              <a:latin typeface="source-code-pro"/>
            </a:endParaRPr>
          </a:p>
          <a:p>
            <a:pPr fontAlgn="base"/>
            <a:r>
              <a:rPr lang="en-US" dirty="0">
                <a:latin typeface="source-code-pro"/>
              </a:rPr>
              <a:t>        </a:t>
            </a:r>
            <a:r>
              <a:rPr lang="en-US" dirty="0" smtClean="0">
                <a:latin typeface="source-code-pro"/>
              </a:rPr>
              <a:t>});</a:t>
            </a:r>
          </a:p>
          <a:p>
            <a:pPr fontAlgn="base"/>
            <a:endParaRPr lang="en-US" dirty="0">
              <a:latin typeface="source-code-pro"/>
            </a:endParaRPr>
          </a:p>
          <a:p>
            <a:pPr marL="742950" lvl="1" indent="-285750" fontAlgn="base">
              <a:buFont typeface="Arial" pitchFamily="34" charset="0"/>
              <a:buChar char="•"/>
            </a:pPr>
            <a:endParaRPr lang="es-AR" dirty="0"/>
          </a:p>
          <a:p>
            <a:pPr marL="742950" lvl="1" indent="-285750" fontAlgn="base">
              <a:buFont typeface="Arial" pitchFamily="34" charset="0"/>
              <a:buChar char="•"/>
            </a:pPr>
            <a:endParaRPr lang="es-AR" dirty="0"/>
          </a:p>
          <a:p>
            <a:pPr marL="742950" lvl="1" indent="-285750" fontAlgn="base">
              <a:buFont typeface="Arial" pitchFamily="34" charset="0"/>
              <a:buChar char="•"/>
            </a:pPr>
            <a:endParaRPr lang="es-US" dirty="0"/>
          </a:p>
        </p:txBody>
      </p:sp>
      <p:sp>
        <p:nvSpPr>
          <p:cNvPr id="7" name="Content Placeholder 2"/>
          <p:cNvSpPr>
            <a:spLocks noGrp="1"/>
          </p:cNvSpPr>
          <p:nvPr>
            <p:ph idx="1"/>
          </p:nvPr>
        </p:nvSpPr>
        <p:spPr>
          <a:xfrm>
            <a:off x="574652" y="4767372"/>
            <a:ext cx="11534600" cy="1729417"/>
          </a:xfrm>
        </p:spPr>
        <p:txBody>
          <a:bodyPr>
            <a:noAutofit/>
          </a:bodyPr>
          <a:lstStyle/>
          <a:p>
            <a:r>
              <a:rPr lang="es-ES" sz="2000" dirty="0" smtClean="0"/>
              <a:t>En el campo </a:t>
            </a:r>
            <a:r>
              <a:rPr lang="es-ES" sz="2000" dirty="0" err="1" smtClean="0"/>
              <a:t>Url</a:t>
            </a:r>
            <a:r>
              <a:rPr lang="es-ES" sz="2000" dirty="0" smtClean="0"/>
              <a:t> se puede usar el </a:t>
            </a:r>
            <a:r>
              <a:rPr lang="es-ES" sz="2000" dirty="0" err="1" smtClean="0"/>
              <a:t>Html.ActionLink</a:t>
            </a:r>
            <a:r>
              <a:rPr lang="es-ES" sz="2000" dirty="0" smtClean="0"/>
              <a:t> para definir la ruta </a:t>
            </a:r>
            <a:endParaRPr lang="es-ES" sz="2000" dirty="0"/>
          </a:p>
        </p:txBody>
      </p:sp>
    </p:spTree>
    <p:extLst>
      <p:ext uri="{BB962C8B-B14F-4D97-AF65-F5344CB8AC3E}">
        <p14:creationId xmlns:p14="http://schemas.microsoft.com/office/powerpoint/2010/main" val="15921513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6634" y="1436915"/>
            <a:ext cx="5497881" cy="4122057"/>
          </a:xfrm>
        </p:spPr>
        <p:txBody>
          <a:bodyPr>
            <a:normAutofit/>
          </a:bodyPr>
          <a:lstStyle/>
          <a:p>
            <a:r>
              <a:rPr lang="es-AR" sz="2000" dirty="0"/>
              <a:t>En la </a:t>
            </a:r>
            <a:r>
              <a:rPr lang="es-AR" sz="2000" dirty="0" smtClean="0"/>
              <a:t>lista de </a:t>
            </a:r>
            <a:r>
              <a:rPr lang="es-AR" sz="2000" dirty="0"/>
              <a:t>películas, agregar un link “Delete” para borrar la película. </a:t>
            </a:r>
          </a:p>
        </p:txBody>
      </p:sp>
      <p:pic>
        <p:nvPicPr>
          <p:cNvPr id="6" name="Picture 2"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7682" y="2169241"/>
            <a:ext cx="1843430" cy="181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445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entrevistadetrabajo.org/wp-content/uploads/2011/09/Las-preguntas-generales-en-la-entrevista-de-trabaj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4547" y="421595"/>
            <a:ext cx="5795283" cy="44654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174546" y="4887014"/>
            <a:ext cx="6680654" cy="1323439"/>
          </a:xfrm>
          <a:prstGeom prst="rect">
            <a:avLst/>
          </a:prstGeom>
          <a:noFill/>
        </p:spPr>
        <p:txBody>
          <a:bodyPr wrap="square" rtlCol="0">
            <a:spAutoFit/>
          </a:bodyPr>
          <a:lstStyle/>
          <a:p>
            <a:r>
              <a:rPr lang="es-AR" sz="8000" dirty="0"/>
              <a:t>¿Preguntas?</a:t>
            </a:r>
            <a:endParaRPr lang="en-US" sz="8000" dirty="0"/>
          </a:p>
        </p:txBody>
      </p:sp>
    </p:spTree>
    <p:extLst>
      <p:ext uri="{BB962C8B-B14F-4D97-AF65-F5344CB8AC3E}">
        <p14:creationId xmlns:p14="http://schemas.microsoft.com/office/powerpoint/2010/main" val="151749131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4429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Theme Hexacta Word">
  <a:themeElements>
    <a:clrScheme name="Custom 3">
      <a:dk1>
        <a:srgbClr val="4D4D4D"/>
      </a:dk1>
      <a:lt1>
        <a:sysClr val="window" lastClr="FFFFFF"/>
      </a:lt1>
      <a:dk2>
        <a:srgbClr val="007788"/>
      </a:dk2>
      <a:lt2>
        <a:srgbClr val="FFFFFF"/>
      </a:lt2>
      <a:accent1>
        <a:srgbClr val="1EA89B"/>
      </a:accent1>
      <a:accent2>
        <a:srgbClr val="F87A0C"/>
      </a:accent2>
      <a:accent3>
        <a:srgbClr val="A0C14E"/>
      </a:accent3>
      <a:accent4>
        <a:srgbClr val="12645C"/>
      </a:accent4>
      <a:accent5>
        <a:srgbClr val="393939"/>
      </a:accent5>
      <a:accent6>
        <a:srgbClr val="00A9C0"/>
      </a:accent6>
      <a:hlink>
        <a:srgbClr val="F87A0C"/>
      </a:hlink>
      <a:folHlink>
        <a:srgbClr val="F87A0C"/>
      </a:folHlink>
    </a:clrScheme>
    <a:fontScheme name="Hexacta 2014">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 Hexacta Word</Template>
  <TotalTime>43825</TotalTime>
  <Words>5028</Words>
  <Application>Microsoft Office PowerPoint</Application>
  <PresentationFormat>Widescreen</PresentationFormat>
  <Paragraphs>824</Paragraphs>
  <Slides>58</Slides>
  <Notes>45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Arial</vt:lpstr>
      <vt:lpstr>Calibri</vt:lpstr>
      <vt:lpstr>Consolas</vt:lpstr>
      <vt:lpstr>Segoe UI</vt:lpstr>
      <vt:lpstr>Segoe UI Light</vt:lpstr>
      <vt:lpstr>Segoe UI Semibold</vt:lpstr>
      <vt:lpstr>Segoe UI Symbol</vt:lpstr>
      <vt:lpstr>source-code-pro</vt:lpstr>
      <vt:lpstr>Times New Roman</vt:lpstr>
      <vt:lpstr>Verdana</vt:lpstr>
      <vt:lpstr>Theme Hexacta Word</vt:lpstr>
      <vt:lpstr>PowerPoint Presentation</vt:lpstr>
      <vt:lpstr>Agenda</vt:lpstr>
      <vt:lpstr>ASP.NET MVC - Estructura</vt:lpstr>
      <vt:lpstr>Patrón MVC</vt:lpstr>
      <vt:lpstr>Patrón MVC aplicado al framework web</vt:lpstr>
      <vt:lpstr>Patrón MVC - Ventajas</vt:lpstr>
      <vt:lpstr>Proyecto MVC - Estructura</vt:lpstr>
      <vt:lpstr>Proyecto MVC - Convención de localización de vistas</vt:lpstr>
      <vt:lpstr>PowerPoint Presentation</vt:lpstr>
      <vt:lpstr>MVC – Ciclo de vida</vt:lpstr>
      <vt:lpstr>PowerPoint Presentation</vt:lpstr>
      <vt:lpstr>ActionResults – Acciones en Controladores </vt:lpstr>
      <vt:lpstr>Dando formato a nuestra aplicación- LAYOUTS</vt:lpstr>
      <vt:lpstr>Motor de vistas - Razor   </vt:lpstr>
      <vt:lpstr>Razor</vt:lpstr>
      <vt:lpstr>Html Helpers</vt:lpstr>
      <vt:lpstr>Html Helpers</vt:lpstr>
      <vt:lpstr>PowerPoint Presentation</vt:lpstr>
      <vt:lpstr>Filtros</vt:lpstr>
      <vt:lpstr>Filtros - Alcance</vt:lpstr>
      <vt:lpstr>Filtros - Alcance</vt:lpstr>
      <vt:lpstr>Pasando datos de un Controlador a una vista </vt:lpstr>
      <vt:lpstr>PowerPoint Presentation</vt:lpstr>
      <vt:lpstr>Html Helpers tipados</vt:lpstr>
      <vt:lpstr>Html Helpers tipados</vt:lpstr>
      <vt:lpstr>HttpGet / HttpPost</vt:lpstr>
      <vt:lpstr>PowerPoint Presentation</vt:lpstr>
      <vt:lpstr>LINQ (Language Integrated Query)</vt:lpstr>
      <vt:lpstr>PowerPoint Presentation</vt:lpstr>
      <vt:lpstr>Entity Framework </vt:lpstr>
      <vt:lpstr>PowerPoint Presentation</vt:lpstr>
      <vt:lpstr>Entity Framework – Database context </vt:lpstr>
      <vt:lpstr>Entity Framework – Database context </vt:lpstr>
      <vt:lpstr>PowerPoint Presentation</vt:lpstr>
      <vt:lpstr>Entity Framework - DATA ANNOTATIONS</vt:lpstr>
      <vt:lpstr>Entity Framework - DATA ANNOTATIONS</vt:lpstr>
      <vt:lpstr>Entity Framework - DATA ANNOTATIONS</vt:lpstr>
      <vt:lpstr>Servicios</vt:lpstr>
      <vt:lpstr>PowerPoint Presentation</vt:lpstr>
      <vt:lpstr>Model Binding</vt:lpstr>
      <vt:lpstr>Model Binding – Sin bindeo</vt:lpstr>
      <vt:lpstr>Model Binding – Bindeo a tipos simples</vt:lpstr>
      <vt:lpstr>Model Binding – Bindeo a clases</vt:lpstr>
      <vt:lpstr>Model Binding – Bindeo a propiedades de clase</vt:lpstr>
      <vt:lpstr>PowerPoint Presentation</vt:lpstr>
      <vt:lpstr>Validando con ASP.NET MVC framework</vt:lpstr>
      <vt:lpstr>Validando con ASP.NET MVC framework</vt:lpstr>
      <vt:lpstr>PowerPoint Presentation</vt:lpstr>
      <vt:lpstr>PowerPoint Presentation</vt:lpstr>
      <vt:lpstr>Inyección de dependencias</vt:lpstr>
      <vt:lpstr>PowerPoint Presentation</vt:lpstr>
      <vt:lpstr>PowerPoint Presentation</vt:lpstr>
      <vt:lpstr>PowerPoint Presentation</vt:lpstr>
      <vt:lpstr>AJAX – Asynchronous JavaScript And Xml</vt:lpstr>
      <vt:lpstr>AJAX - Ejemplo</vt:lpstr>
      <vt:lpstr>PowerPoint Presentation</vt:lpstr>
      <vt:lpstr>PowerPoint Presentation</vt:lpstr>
      <vt:lpstr>PowerPoint Presentation</vt:lpstr>
    </vt:vector>
  </TitlesOfParts>
  <Company>HEXACTA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NHibernate</dc:title>
  <dc:creator>Gustavo Aijenbon</dc:creator>
  <cp:lastModifiedBy>Lucas Acosta</cp:lastModifiedBy>
  <cp:revision>553</cp:revision>
  <dcterms:created xsi:type="dcterms:W3CDTF">2013-01-14T12:10:01Z</dcterms:created>
  <dcterms:modified xsi:type="dcterms:W3CDTF">2016-04-27T14:33:57Z</dcterms:modified>
</cp:coreProperties>
</file>