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74" r:id="rId2"/>
    <p:sldId id="283" r:id="rId3"/>
    <p:sldId id="300" r:id="rId4"/>
    <p:sldId id="301" r:id="rId5"/>
    <p:sldId id="284" r:id="rId6"/>
    <p:sldId id="299" r:id="rId7"/>
    <p:sldId id="297" r:id="rId8"/>
    <p:sldId id="302" r:id="rId9"/>
    <p:sldId id="303" r:id="rId10"/>
    <p:sldId id="289" r:id="rId11"/>
    <p:sldId id="293" r:id="rId12"/>
    <p:sldId id="295" r:id="rId13"/>
    <p:sldId id="287" r:id="rId14"/>
  </p:sldIdLst>
  <p:sldSz cx="9144000" cy="5143500" type="screen16x9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622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2" autoAdjust="0"/>
    <p:restoredTop sz="94660"/>
  </p:normalViewPr>
  <p:slideViewPr>
    <p:cSldViewPr showGuides="1">
      <p:cViewPr varScale="1">
        <p:scale>
          <a:sx n="107" d="100"/>
          <a:sy n="107" d="100"/>
        </p:scale>
        <p:origin x="120" y="588"/>
      </p:cViewPr>
      <p:guideLst>
        <p:guide orient="horz" pos="1620"/>
        <p:guide orient="horz" pos="62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2D683-1B24-4A8D-9EBB-CB1440C48F57}" type="datetimeFigureOut">
              <a:rPr lang="es-AR" smtClean="0"/>
              <a:pPr/>
              <a:t>14/04/2016</a:t>
            </a:fld>
            <a:endParaRPr lang="es-A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EF5C0-38A2-4CFD-8120-1FC79E2A55FC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41644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9B9C6-7BCC-481D-93D6-3AE4F44D4F7F}" type="slidenum">
              <a:rPr lang="es-AR" smtClean="0"/>
              <a:pPr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81120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4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 con foto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410" y="0"/>
            <a:ext cx="9165668" cy="51435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-25152" y="3435846"/>
            <a:ext cx="9169152" cy="936104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68344" y="4515966"/>
            <a:ext cx="1283884" cy="32145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50825" y="3507854"/>
            <a:ext cx="7273503" cy="360362"/>
          </a:xfrm>
        </p:spPr>
        <p:txBody>
          <a:bodyPr anchor="ctr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Segoe UI Symbol" panose="020B0502040204020203" pitchFamily="34" charset="0"/>
                <a:ea typeface="Segoe UI Symbol" panose="020B05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7596503" y="3507854"/>
            <a:ext cx="1355725" cy="576064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r>
              <a:rPr lang="en-US" smtClean="0"/>
              <a:t>Click icon to add picture</a:t>
            </a:r>
            <a:endParaRPr lang="es-A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250825" y="3903899"/>
            <a:ext cx="7273925" cy="39604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26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" r="147"/>
          <a:stretch/>
        </p:blipFill>
        <p:spPr bwMode="auto">
          <a:xfrm>
            <a:off x="0" y="4789856"/>
            <a:ext cx="9144000" cy="356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512" y="4876006"/>
            <a:ext cx="664611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366170" y="4876586"/>
            <a:ext cx="46703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rgbClr val="3A3A3A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rgbClr val="3A3A3A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rgbClr val="3A3A3A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rgbClr val="3A3A3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7221" y="1923678"/>
            <a:ext cx="8697392" cy="93503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0" indent="0">
              <a:buNone/>
              <a:defRPr>
                <a:solidFill>
                  <a:schemeClr val="bg1"/>
                </a:solidFill>
              </a:defRPr>
            </a:lvl4pPr>
            <a:lvl5pPr marL="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9229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" r="161"/>
          <a:stretch/>
        </p:blipFill>
        <p:spPr bwMode="auto">
          <a:xfrm>
            <a:off x="0" y="4789856"/>
            <a:ext cx="9144000" cy="35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366170" y="4876586"/>
            <a:ext cx="46703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chemeClr val="bg1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11" name="Picture 3" descr="C:\Users\lcittanti\Documents\recursos hexacta\hexacta logo oscuro-01.png"/>
          <p:cNvPicPr>
            <a:picLocks noChangeAspect="1" noChangeArrowheads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883477"/>
            <a:ext cx="683298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843808" y="319287"/>
            <a:ext cx="6120680" cy="4340026"/>
          </a:xfrm>
          <a:prstGeom prst="rect">
            <a:avLst/>
          </a:prstGeom>
          <a:solidFill>
            <a:srgbClr val="F2F2F2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TextBox 6"/>
          <p:cNvSpPr txBox="1"/>
          <p:nvPr/>
        </p:nvSpPr>
        <p:spPr>
          <a:xfrm>
            <a:off x="179387" y="319286"/>
            <a:ext cx="2592289" cy="6155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61950" indent="0"/>
            <a:endParaRPr lang="es-MX" sz="800" dirty="0" smtClean="0">
              <a:solidFill>
                <a:schemeClr val="accent1"/>
              </a:solidFill>
              <a:latin typeface="Segoe UI Semibold" panose="020B0702040204020203" pitchFamily="34" charset="0"/>
            </a:endParaRPr>
          </a:p>
          <a:p>
            <a:pPr marL="447675" indent="0"/>
            <a:r>
              <a:rPr lang="es-MX" sz="1800" dirty="0" smtClean="0">
                <a:solidFill>
                  <a:schemeClr val="accent1"/>
                </a:solidFill>
                <a:latin typeface="Segoe UI Semibold" panose="020B0702040204020203" pitchFamily="34" charset="0"/>
              </a:rPr>
              <a:t>Agenda</a:t>
            </a:r>
          </a:p>
          <a:p>
            <a:pPr marL="361950" indent="0"/>
            <a:endParaRPr lang="es-AR" sz="800" dirty="0">
              <a:solidFill>
                <a:schemeClr val="accent1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12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3528" y="464655"/>
            <a:ext cx="252090" cy="354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2"/>
          <p:cNvSpPr>
            <a:spLocks noGrp="1"/>
          </p:cNvSpPr>
          <p:nvPr>
            <p:ph idx="15" hasCustomPrompt="1"/>
          </p:nvPr>
        </p:nvSpPr>
        <p:spPr>
          <a:xfrm>
            <a:off x="2987824" y="700088"/>
            <a:ext cx="5760640" cy="359494"/>
          </a:xfrm>
        </p:spPr>
        <p:txBody>
          <a:bodyPr>
            <a:normAutofit/>
          </a:bodyPr>
          <a:lstStyle>
            <a:lvl1pPr marL="180000">
              <a:defRPr sz="1400" baseline="0">
                <a:latin typeface="Segoe UI Light" panose="020B0502040204020203" pitchFamily="34" charset="0"/>
              </a:defRPr>
            </a:lvl1pPr>
            <a:lvl2pPr marL="180000">
              <a:defRPr sz="1300">
                <a:latin typeface="Segoe UI Light" panose="020B0502040204020203" pitchFamily="34" charset="0"/>
              </a:defRPr>
            </a:lvl2pPr>
            <a:lvl3pPr marL="180000">
              <a:defRPr sz="1300">
                <a:latin typeface="Segoe UI Light" panose="020B0502040204020203" pitchFamily="34" charset="0"/>
              </a:defRPr>
            </a:lvl3pPr>
            <a:lvl4pPr marL="180000">
              <a:defRPr sz="1300">
                <a:latin typeface="Segoe UI Light" panose="020B0502040204020203" pitchFamily="34" charset="0"/>
              </a:defRPr>
            </a:lvl4pPr>
            <a:lvl5pPr marL="180000">
              <a:defRPr sz="1300">
                <a:latin typeface="Segoe UI Light" panose="020B0502040204020203" pitchFamily="34" charset="0"/>
              </a:defRPr>
            </a:lvl5pPr>
          </a:lstStyle>
          <a:p>
            <a:pPr lvl="0"/>
            <a:r>
              <a:rPr lang="en-US" dirty="0" smtClean="0"/>
              <a:t>Primer item de la agenda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7" hasCustomPrompt="1"/>
          </p:nvPr>
        </p:nvSpPr>
        <p:spPr>
          <a:xfrm>
            <a:off x="2987824" y="1708200"/>
            <a:ext cx="5760640" cy="359494"/>
          </a:xfrm>
        </p:spPr>
        <p:txBody>
          <a:bodyPr>
            <a:normAutofit/>
          </a:bodyPr>
          <a:lstStyle>
            <a:lvl1pPr marL="180000">
              <a:defRPr sz="1400">
                <a:latin typeface="Segoe UI Light" panose="020B0502040204020203" pitchFamily="34" charset="0"/>
              </a:defRPr>
            </a:lvl1pPr>
            <a:lvl2pPr marL="180000">
              <a:defRPr sz="1300">
                <a:latin typeface="Segoe UI Light" panose="020B0502040204020203" pitchFamily="34" charset="0"/>
              </a:defRPr>
            </a:lvl2pPr>
            <a:lvl3pPr marL="180000">
              <a:defRPr sz="1300">
                <a:latin typeface="Segoe UI Light" panose="020B0502040204020203" pitchFamily="34" charset="0"/>
              </a:defRPr>
            </a:lvl3pPr>
            <a:lvl4pPr marL="180000">
              <a:defRPr sz="1300">
                <a:latin typeface="Segoe UI Light" panose="020B0502040204020203" pitchFamily="34" charset="0"/>
              </a:defRPr>
            </a:lvl4pPr>
            <a:lvl5pPr marL="180000">
              <a:defRPr sz="1300">
                <a:latin typeface="Segoe UI Light" panose="020B0502040204020203" pitchFamily="34" charset="0"/>
              </a:defRPr>
            </a:lvl5pPr>
          </a:lstStyle>
          <a:p>
            <a:pPr lvl="0"/>
            <a:r>
              <a:rPr lang="en-US" dirty="0" err="1" smtClean="0"/>
              <a:t>Tercer</a:t>
            </a:r>
            <a:r>
              <a:rPr lang="en-US" dirty="0" smtClean="0"/>
              <a:t> item de la agenda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8" hasCustomPrompt="1"/>
          </p:nvPr>
        </p:nvSpPr>
        <p:spPr>
          <a:xfrm>
            <a:off x="2987824" y="1204442"/>
            <a:ext cx="5760640" cy="359494"/>
          </a:xfrm>
        </p:spPr>
        <p:txBody>
          <a:bodyPr>
            <a:normAutofit/>
          </a:bodyPr>
          <a:lstStyle>
            <a:lvl1pPr marL="180000">
              <a:defRPr sz="1400">
                <a:latin typeface="Segoe UI Light" panose="020B0502040204020203" pitchFamily="34" charset="0"/>
              </a:defRPr>
            </a:lvl1pPr>
            <a:lvl2pPr marL="180000">
              <a:defRPr sz="1300">
                <a:latin typeface="Segoe UI Light" panose="020B0502040204020203" pitchFamily="34" charset="0"/>
              </a:defRPr>
            </a:lvl2pPr>
            <a:lvl3pPr marL="180000">
              <a:defRPr sz="1300">
                <a:latin typeface="Segoe UI Light" panose="020B0502040204020203" pitchFamily="34" charset="0"/>
              </a:defRPr>
            </a:lvl3pPr>
            <a:lvl4pPr marL="180000">
              <a:defRPr sz="1300">
                <a:latin typeface="Segoe UI Light" panose="020B0502040204020203" pitchFamily="34" charset="0"/>
              </a:defRPr>
            </a:lvl4pPr>
            <a:lvl5pPr marL="180000">
              <a:defRPr sz="1300">
                <a:latin typeface="Segoe UI Light" panose="020B0502040204020203" pitchFamily="34" charset="0"/>
              </a:defRPr>
            </a:lvl5pPr>
          </a:lstStyle>
          <a:p>
            <a:pPr lvl="0"/>
            <a:r>
              <a:rPr lang="en-US" dirty="0" smtClean="0"/>
              <a:t>Segundo item de la agenda</a:t>
            </a:r>
          </a:p>
        </p:txBody>
      </p:sp>
    </p:spTree>
    <p:extLst>
      <p:ext uri="{BB962C8B-B14F-4D97-AF65-F5344CB8AC3E}">
        <p14:creationId xmlns:p14="http://schemas.microsoft.com/office/powerpoint/2010/main" val="1488546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selecionad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" r="161"/>
          <a:stretch/>
        </p:blipFill>
        <p:spPr bwMode="auto">
          <a:xfrm>
            <a:off x="0" y="4789856"/>
            <a:ext cx="9144000" cy="35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366170" y="4876586"/>
            <a:ext cx="46703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chemeClr val="bg1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11" name="Picture 3" descr="C:\Users\lcittanti\Documents\recursos hexacta\hexacta logo oscuro-01.png"/>
          <p:cNvPicPr>
            <a:picLocks noChangeAspect="1" noChangeArrowheads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883477"/>
            <a:ext cx="683298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843808" y="319287"/>
            <a:ext cx="6120680" cy="4340026"/>
          </a:xfrm>
          <a:prstGeom prst="rect">
            <a:avLst/>
          </a:prstGeom>
          <a:solidFill>
            <a:srgbClr val="F2F2F2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TextBox 6"/>
          <p:cNvSpPr txBox="1"/>
          <p:nvPr/>
        </p:nvSpPr>
        <p:spPr>
          <a:xfrm>
            <a:off x="179387" y="319286"/>
            <a:ext cx="2592289" cy="6155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61950" indent="0"/>
            <a:endParaRPr lang="es-MX" sz="800" dirty="0" smtClean="0">
              <a:solidFill>
                <a:schemeClr val="accent1"/>
              </a:solidFill>
              <a:latin typeface="Segoe UI Semibold" panose="020B0702040204020203" pitchFamily="34" charset="0"/>
            </a:endParaRPr>
          </a:p>
          <a:p>
            <a:pPr marL="447675" indent="0"/>
            <a:r>
              <a:rPr lang="es-MX" sz="1800" dirty="0" smtClean="0">
                <a:solidFill>
                  <a:schemeClr val="accent1"/>
                </a:solidFill>
                <a:latin typeface="Segoe UI Semibold" panose="020B0702040204020203" pitchFamily="34" charset="0"/>
              </a:rPr>
              <a:t>Agenda</a:t>
            </a:r>
          </a:p>
          <a:p>
            <a:pPr marL="361950" indent="0"/>
            <a:endParaRPr lang="es-AR" sz="800" dirty="0">
              <a:solidFill>
                <a:schemeClr val="accent1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12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3528" y="464655"/>
            <a:ext cx="252090" cy="354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ontent Placeholder 2"/>
          <p:cNvSpPr>
            <a:spLocks noGrp="1"/>
          </p:cNvSpPr>
          <p:nvPr>
            <p:ph idx="15" hasCustomPrompt="1"/>
          </p:nvPr>
        </p:nvSpPr>
        <p:spPr>
          <a:xfrm>
            <a:off x="2987824" y="700088"/>
            <a:ext cx="5760640" cy="359494"/>
          </a:xfrm>
        </p:spPr>
        <p:txBody>
          <a:bodyPr>
            <a:normAutofit/>
          </a:bodyPr>
          <a:lstStyle>
            <a:lvl1pPr marL="180000">
              <a:defRPr sz="1400" baseline="0">
                <a:latin typeface="Segoe UI Light" panose="020B0502040204020203" pitchFamily="34" charset="0"/>
              </a:defRPr>
            </a:lvl1pPr>
            <a:lvl2pPr marL="180000">
              <a:defRPr sz="1300">
                <a:latin typeface="Segoe UI Light" panose="020B0502040204020203" pitchFamily="34" charset="0"/>
              </a:defRPr>
            </a:lvl2pPr>
            <a:lvl3pPr marL="180000">
              <a:defRPr sz="1300">
                <a:latin typeface="Segoe UI Light" panose="020B0502040204020203" pitchFamily="34" charset="0"/>
              </a:defRPr>
            </a:lvl3pPr>
            <a:lvl4pPr marL="180000">
              <a:defRPr sz="1300">
                <a:latin typeface="Segoe UI Light" panose="020B0502040204020203" pitchFamily="34" charset="0"/>
              </a:defRPr>
            </a:lvl4pPr>
            <a:lvl5pPr marL="180000">
              <a:defRPr sz="1300">
                <a:latin typeface="Segoe UI Light" panose="020B0502040204020203" pitchFamily="34" charset="0"/>
              </a:defRPr>
            </a:lvl5pPr>
          </a:lstStyle>
          <a:p>
            <a:pPr lvl="0"/>
            <a:r>
              <a:rPr lang="en-US" dirty="0" smtClean="0"/>
              <a:t>Primer item de la agenda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987824" y="1204442"/>
            <a:ext cx="5760640" cy="356046"/>
          </a:xfrm>
        </p:spPr>
        <p:txBody>
          <a:bodyPr>
            <a:noAutofit/>
          </a:bodyPr>
          <a:lstStyle>
            <a:lvl1pPr marL="180000">
              <a:defRPr sz="1500" baseline="0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180000">
              <a:defRPr sz="1300">
                <a:latin typeface="Segoe UI Light" panose="020B0502040204020203" pitchFamily="34" charset="0"/>
              </a:defRPr>
            </a:lvl2pPr>
            <a:lvl3pPr marL="180000">
              <a:defRPr sz="1300">
                <a:latin typeface="Segoe UI Light" panose="020B0502040204020203" pitchFamily="34" charset="0"/>
              </a:defRPr>
            </a:lvl3pPr>
            <a:lvl4pPr marL="180000">
              <a:defRPr sz="1300">
                <a:latin typeface="Segoe UI Light" panose="020B0502040204020203" pitchFamily="34" charset="0"/>
              </a:defRPr>
            </a:lvl4pPr>
            <a:lvl5pPr marL="180000">
              <a:defRPr sz="1300">
                <a:latin typeface="Segoe UI Light" panose="020B0502040204020203" pitchFamily="34" charset="0"/>
              </a:defRPr>
            </a:lvl5pPr>
          </a:lstStyle>
          <a:p>
            <a:pPr lvl="0"/>
            <a:r>
              <a:rPr lang="en-US" dirty="0" smtClean="0"/>
              <a:t>Item </a:t>
            </a:r>
            <a:r>
              <a:rPr lang="en-US" dirty="0" err="1" smtClean="0"/>
              <a:t>destacado</a:t>
            </a:r>
            <a:endParaRPr lang="en-US" dirty="0" smtClean="0"/>
          </a:p>
        </p:txBody>
      </p:sp>
      <p:sp>
        <p:nvSpPr>
          <p:cNvPr id="18" name="Content Placeholder 2"/>
          <p:cNvSpPr>
            <a:spLocks noGrp="1"/>
          </p:cNvSpPr>
          <p:nvPr>
            <p:ph idx="17" hasCustomPrompt="1"/>
          </p:nvPr>
        </p:nvSpPr>
        <p:spPr>
          <a:xfrm>
            <a:off x="2987824" y="1708200"/>
            <a:ext cx="5760640" cy="359494"/>
          </a:xfrm>
        </p:spPr>
        <p:txBody>
          <a:bodyPr>
            <a:normAutofit/>
          </a:bodyPr>
          <a:lstStyle>
            <a:lvl1pPr marL="180000">
              <a:defRPr sz="1400">
                <a:latin typeface="Segoe UI Light" panose="020B0502040204020203" pitchFamily="34" charset="0"/>
              </a:defRPr>
            </a:lvl1pPr>
            <a:lvl2pPr marL="180000">
              <a:defRPr sz="1300">
                <a:latin typeface="Segoe UI Light" panose="020B0502040204020203" pitchFamily="34" charset="0"/>
              </a:defRPr>
            </a:lvl2pPr>
            <a:lvl3pPr marL="180000">
              <a:defRPr sz="1300">
                <a:latin typeface="Segoe UI Light" panose="020B0502040204020203" pitchFamily="34" charset="0"/>
              </a:defRPr>
            </a:lvl3pPr>
            <a:lvl4pPr marL="180000">
              <a:defRPr sz="1300">
                <a:latin typeface="Segoe UI Light" panose="020B0502040204020203" pitchFamily="34" charset="0"/>
              </a:defRPr>
            </a:lvl4pPr>
            <a:lvl5pPr marL="180000">
              <a:defRPr sz="1300">
                <a:latin typeface="Segoe UI Light" panose="020B0502040204020203" pitchFamily="34" charset="0"/>
              </a:defRPr>
            </a:lvl5pPr>
          </a:lstStyle>
          <a:p>
            <a:pPr lvl="0"/>
            <a:r>
              <a:rPr lang="en-US" dirty="0" err="1" smtClean="0"/>
              <a:t>Tercer</a:t>
            </a:r>
            <a:r>
              <a:rPr lang="en-US" dirty="0" smtClean="0"/>
              <a:t> item de la agenda</a:t>
            </a:r>
          </a:p>
        </p:txBody>
      </p:sp>
    </p:spTree>
    <p:extLst>
      <p:ext uri="{BB962C8B-B14F-4D97-AF65-F5344CB8AC3E}">
        <p14:creationId xmlns:p14="http://schemas.microsoft.com/office/powerpoint/2010/main" val="196776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, subtí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5"/>
          </p:nvPr>
        </p:nvSpPr>
        <p:spPr>
          <a:xfrm>
            <a:off x="179065" y="914673"/>
            <a:ext cx="8785423" cy="3744640"/>
          </a:xfrm>
        </p:spPr>
        <p:txBody>
          <a:bodyPr>
            <a:normAutofit/>
          </a:bodyPr>
          <a:lstStyle>
            <a:lvl1pPr marL="180000">
              <a:defRPr sz="1300">
                <a:latin typeface="Segoe UI Light" panose="020B0502040204020203" pitchFamily="34" charset="0"/>
              </a:defRPr>
            </a:lvl1pPr>
            <a:lvl2pPr marL="180000">
              <a:defRPr sz="1300">
                <a:latin typeface="Segoe UI Light" panose="020B0502040204020203" pitchFamily="34" charset="0"/>
              </a:defRPr>
            </a:lvl2pPr>
            <a:lvl3pPr marL="180000">
              <a:defRPr sz="1300">
                <a:latin typeface="Segoe UI Light" panose="020B0502040204020203" pitchFamily="34" charset="0"/>
              </a:defRPr>
            </a:lvl3pPr>
            <a:lvl4pPr marL="180000">
              <a:defRPr sz="1300">
                <a:latin typeface="Segoe UI Light" panose="020B0502040204020203" pitchFamily="34" charset="0"/>
              </a:defRPr>
            </a:lvl4pPr>
            <a:lvl5pPr marL="180000">
              <a:defRPr sz="1300">
                <a:latin typeface="Segoe UI Light" panose="020B0502040204020203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179388" y="200984"/>
            <a:ext cx="8785100" cy="354642"/>
          </a:xfrm>
        </p:spPr>
        <p:txBody>
          <a:bodyPr>
            <a:normAutofit/>
          </a:bodyPr>
          <a:lstStyle>
            <a:lvl1pPr marL="0" indent="0">
              <a:buNone/>
              <a:defRPr sz="1700" b="1">
                <a:solidFill>
                  <a:schemeClr val="accent1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179387" y="627336"/>
            <a:ext cx="8785225" cy="287338"/>
          </a:xfrm>
        </p:spPr>
        <p:txBody>
          <a:bodyPr>
            <a:noAutofit/>
          </a:bodyPr>
          <a:lstStyle>
            <a:lvl1pPr marL="0" indent="0">
              <a:buNone/>
              <a:defRPr sz="13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4162" y="4876586"/>
            <a:ext cx="46703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chemeClr val="bg1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16" name="Picture 3" descr="C:\Users\lcittanti\Documents\recursos hexacta\hexacta logo oscuro-01.png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91" y="4883477"/>
            <a:ext cx="683298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" r="161"/>
          <a:stretch/>
        </p:blipFill>
        <p:spPr bwMode="auto">
          <a:xfrm>
            <a:off x="0" y="4789856"/>
            <a:ext cx="9144000" cy="35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4366170" y="4876586"/>
            <a:ext cx="46703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chemeClr val="bg1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19" name="Picture 3" descr="C:\Users\lcittanti\Documents\recursos hexacta\hexacta logo oscuro-01.png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883477"/>
            <a:ext cx="683298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114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179388" y="200984"/>
            <a:ext cx="8785100" cy="354642"/>
          </a:xfrm>
        </p:spPr>
        <p:txBody>
          <a:bodyPr>
            <a:normAutofit/>
          </a:bodyPr>
          <a:lstStyle>
            <a:lvl1pPr marL="0" indent="0">
              <a:buNone/>
              <a:defRPr sz="1700" b="1">
                <a:solidFill>
                  <a:schemeClr val="accent1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179387" y="627336"/>
            <a:ext cx="8785225" cy="287338"/>
          </a:xfrm>
        </p:spPr>
        <p:txBody>
          <a:bodyPr>
            <a:noAutofit/>
          </a:bodyPr>
          <a:lstStyle>
            <a:lvl1pPr marL="0" indent="0">
              <a:buNone/>
              <a:defRPr sz="13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4162" y="4876586"/>
            <a:ext cx="46703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chemeClr val="bg1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16" name="Picture 3" descr="C:\Users\lcittanti\Documents\recursos hexacta\hexacta logo oscuro-01.png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91" y="4883477"/>
            <a:ext cx="683298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" r="161"/>
          <a:stretch/>
        </p:blipFill>
        <p:spPr bwMode="auto">
          <a:xfrm>
            <a:off x="0" y="4789856"/>
            <a:ext cx="9144000" cy="35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4366170" y="4876586"/>
            <a:ext cx="46703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chemeClr val="bg1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19" name="Picture 3" descr="C:\Users\lcittanti\Documents\recursos hexacta\hexacta logo oscuro-01.png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883477"/>
            <a:ext cx="683298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98105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179388" y="200984"/>
            <a:ext cx="8785100" cy="354642"/>
          </a:xfrm>
        </p:spPr>
        <p:txBody>
          <a:bodyPr>
            <a:normAutofit/>
          </a:bodyPr>
          <a:lstStyle>
            <a:lvl1pPr marL="0" indent="0">
              <a:buNone/>
              <a:defRPr sz="1700" b="1">
                <a:solidFill>
                  <a:schemeClr val="accent1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4162" y="4876586"/>
            <a:ext cx="46703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chemeClr val="bg1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16" name="Picture 3" descr="C:\Users\lcittanti\Documents\recursos hexacta\hexacta logo oscuro-01.png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91" y="4883477"/>
            <a:ext cx="683298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" r="161"/>
          <a:stretch/>
        </p:blipFill>
        <p:spPr bwMode="auto">
          <a:xfrm>
            <a:off x="0" y="4789856"/>
            <a:ext cx="9144000" cy="35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4366170" y="4876586"/>
            <a:ext cx="46703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chemeClr val="bg1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19" name="Picture 3" descr="C:\Users\lcittanti\Documents\recursos hexacta\hexacta logo oscuro-01.png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883477"/>
            <a:ext cx="683298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4398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, contenido y recuad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6"/>
          </p:nvPr>
        </p:nvSpPr>
        <p:spPr>
          <a:xfrm>
            <a:off x="180208" y="915566"/>
            <a:ext cx="5903960" cy="3744416"/>
          </a:xfrm>
        </p:spPr>
        <p:txBody>
          <a:bodyPr>
            <a:normAutofit/>
          </a:bodyPr>
          <a:lstStyle>
            <a:lvl1pPr marL="180000">
              <a:defRPr sz="1300">
                <a:latin typeface="Segoe UI Light" panose="020B0502040204020203" pitchFamily="34" charset="0"/>
              </a:defRPr>
            </a:lvl1pPr>
            <a:lvl2pPr marL="180000">
              <a:defRPr sz="1300">
                <a:latin typeface="Segoe UI Light" panose="020B0502040204020203" pitchFamily="34" charset="0"/>
              </a:defRPr>
            </a:lvl2pPr>
            <a:lvl3pPr marL="180000">
              <a:defRPr sz="1300">
                <a:latin typeface="Segoe UI Light" panose="020B0502040204020203" pitchFamily="34" charset="0"/>
              </a:defRPr>
            </a:lvl3pPr>
            <a:lvl4pPr marL="180000">
              <a:defRPr sz="1300">
                <a:latin typeface="Segoe UI Light" panose="020B0502040204020203" pitchFamily="34" charset="0"/>
              </a:defRPr>
            </a:lvl4pPr>
            <a:lvl5pPr marL="180000">
              <a:defRPr sz="1300">
                <a:latin typeface="Segoe UI Light" panose="020B0502040204020203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179511" y="195337"/>
            <a:ext cx="8785101" cy="360189"/>
          </a:xfrm>
        </p:spPr>
        <p:txBody>
          <a:bodyPr>
            <a:normAutofit/>
          </a:bodyPr>
          <a:lstStyle>
            <a:lvl1pPr marL="0" indent="0">
              <a:buNone/>
              <a:defRPr sz="1700" b="1">
                <a:solidFill>
                  <a:schemeClr val="accent1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180208" y="628228"/>
            <a:ext cx="5903960" cy="287338"/>
          </a:xfrm>
        </p:spPr>
        <p:txBody>
          <a:bodyPr>
            <a:noAutofit/>
          </a:bodyPr>
          <a:lstStyle>
            <a:lvl1pPr marL="0" indent="0">
              <a:buNone/>
              <a:defRPr sz="13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8185" y="627535"/>
            <a:ext cx="2736303" cy="4031778"/>
          </a:xfrm>
          <a:prstGeom prst="rect">
            <a:avLst/>
          </a:prstGeom>
          <a:solidFill>
            <a:srgbClr val="F2F2F2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372202" y="1059582"/>
            <a:ext cx="2448520" cy="3456384"/>
          </a:xfrm>
        </p:spPr>
        <p:txBody>
          <a:bodyPr>
            <a:normAutofit/>
          </a:bodyPr>
          <a:lstStyle>
            <a:lvl1pPr marL="180000" indent="-180975">
              <a:spcAft>
                <a:spcPts val="600"/>
              </a:spcAft>
              <a:defRPr sz="1100">
                <a:latin typeface="Segoe UI Light" panose="020B0502040204020203" pitchFamily="34" charset="0"/>
                <a:cs typeface="Arial" panose="020B0604020202020204" pitchFamily="34" charset="0"/>
              </a:defRPr>
            </a:lvl1pPr>
            <a:lvl2pPr marL="180000" indent="-180975">
              <a:spcAft>
                <a:spcPts val="600"/>
              </a:spcAft>
              <a:defRPr sz="1100">
                <a:latin typeface="Segoe UI Light" panose="020B0502040204020203" pitchFamily="34" charset="0"/>
                <a:cs typeface="Arial" panose="020B0604020202020204" pitchFamily="34" charset="0"/>
              </a:defRPr>
            </a:lvl2pPr>
            <a:lvl3pPr marL="180000" indent="-180975">
              <a:spcAft>
                <a:spcPts val="600"/>
              </a:spcAft>
              <a:defRPr sz="1100">
                <a:latin typeface="Segoe UI Light" panose="020B0502040204020203" pitchFamily="34" charset="0"/>
                <a:cs typeface="Arial" panose="020B0604020202020204" pitchFamily="34" charset="0"/>
              </a:defRPr>
            </a:lvl3pPr>
            <a:lvl4pPr marL="180000" indent="-180975">
              <a:spcAft>
                <a:spcPts val="600"/>
              </a:spcAft>
              <a:defRPr sz="1100">
                <a:latin typeface="Segoe UI Light" panose="020B0502040204020203" pitchFamily="34" charset="0"/>
                <a:cs typeface="Arial" panose="020B0604020202020204" pitchFamily="34" charset="0"/>
              </a:defRPr>
            </a:lvl4pPr>
            <a:lvl5pPr marL="180000" indent="-180975">
              <a:spcAft>
                <a:spcPts val="600"/>
              </a:spcAft>
              <a:defRPr sz="1100">
                <a:latin typeface="Segoe UI Light" panose="020B05020402040202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372201" y="771550"/>
            <a:ext cx="2448272" cy="288032"/>
          </a:xfrm>
        </p:spPr>
        <p:txBody>
          <a:bodyPr>
            <a:noAutofit/>
          </a:bodyPr>
          <a:lstStyle>
            <a:lvl1pPr marL="0" indent="0">
              <a:buNone/>
              <a:defRPr sz="1300" b="1">
                <a:solidFill>
                  <a:schemeClr val="accent1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" r="161"/>
          <a:stretch/>
        </p:blipFill>
        <p:spPr bwMode="auto">
          <a:xfrm>
            <a:off x="0" y="4789856"/>
            <a:ext cx="9144000" cy="35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4366170" y="4876586"/>
            <a:ext cx="46703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chemeClr val="bg1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19" name="Picture 3" descr="C:\Users\lcittanti\Documents\recursos hexacta\hexacta logo oscuro-01.png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883477"/>
            <a:ext cx="683298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8846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as y sub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179387" y="195436"/>
            <a:ext cx="8785225" cy="360189"/>
          </a:xfrm>
        </p:spPr>
        <p:txBody>
          <a:bodyPr>
            <a:normAutofit/>
          </a:bodyPr>
          <a:lstStyle>
            <a:lvl1pPr marL="0" indent="0">
              <a:buNone/>
              <a:defRPr sz="1700" b="1">
                <a:solidFill>
                  <a:schemeClr val="accent1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7"/>
          </p:nvPr>
        </p:nvSpPr>
        <p:spPr>
          <a:xfrm>
            <a:off x="179389" y="987573"/>
            <a:ext cx="4248596" cy="3527724"/>
          </a:xfrm>
        </p:spPr>
        <p:txBody>
          <a:bodyPr>
            <a:normAutofit/>
          </a:bodyPr>
          <a:lstStyle>
            <a:lvl1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1pPr>
            <a:lvl2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2pPr>
            <a:lvl3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3pPr>
            <a:lvl4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4pPr>
            <a:lvl5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179389" y="627534"/>
            <a:ext cx="4248596" cy="288032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>
              <a:buNone/>
              <a:defRPr sz="1300" b="1">
                <a:solidFill>
                  <a:schemeClr val="bg1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9"/>
          </p:nvPr>
        </p:nvSpPr>
        <p:spPr>
          <a:xfrm>
            <a:off x="4716016" y="627534"/>
            <a:ext cx="4248472" cy="288032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>
              <a:buNone/>
              <a:defRPr sz="1300" b="1">
                <a:solidFill>
                  <a:schemeClr val="bg1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20"/>
          </p:nvPr>
        </p:nvSpPr>
        <p:spPr>
          <a:xfrm>
            <a:off x="4716016" y="987573"/>
            <a:ext cx="4248597" cy="3527724"/>
          </a:xfrm>
        </p:spPr>
        <p:txBody>
          <a:bodyPr>
            <a:normAutofit/>
          </a:bodyPr>
          <a:lstStyle>
            <a:lvl1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1pPr>
            <a:lvl2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2pPr>
            <a:lvl3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3pPr>
            <a:lvl4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4pPr>
            <a:lvl5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 dirty="0"/>
          </a:p>
        </p:txBody>
      </p:sp>
      <p:sp>
        <p:nvSpPr>
          <p:cNvPr id="12" name="TextBox 11"/>
          <p:cNvSpPr txBox="1"/>
          <p:nvPr/>
        </p:nvSpPr>
        <p:spPr>
          <a:xfrm>
            <a:off x="4294162" y="4876586"/>
            <a:ext cx="46703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chemeClr val="bg1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19" name="Picture 3" descr="C:\Users\lcittanti\Documents\recursos hexacta\hexacta logo oscuro-01.png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91" y="4883477"/>
            <a:ext cx="683298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" r="161"/>
          <a:stretch/>
        </p:blipFill>
        <p:spPr bwMode="auto">
          <a:xfrm>
            <a:off x="0" y="4789856"/>
            <a:ext cx="9144000" cy="35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4366170" y="4876586"/>
            <a:ext cx="46703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chemeClr val="bg1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22" name="Picture 3" descr="C:\Users\lcittanti\Documents\recursos hexacta\hexacta logo oscuro-01.png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883477"/>
            <a:ext cx="683298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1608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20"/>
          </p:nvPr>
        </p:nvSpPr>
        <p:spPr>
          <a:xfrm>
            <a:off x="4716016" y="627534"/>
            <a:ext cx="4248597" cy="3887763"/>
          </a:xfrm>
        </p:spPr>
        <p:txBody>
          <a:bodyPr>
            <a:normAutofit/>
          </a:bodyPr>
          <a:lstStyle>
            <a:lvl1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1pPr>
            <a:lvl2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2pPr>
            <a:lvl3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3pPr>
            <a:lvl4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4pPr>
            <a:lvl5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179387" y="195436"/>
            <a:ext cx="8785225" cy="360189"/>
          </a:xfrm>
        </p:spPr>
        <p:txBody>
          <a:bodyPr>
            <a:normAutofit/>
          </a:bodyPr>
          <a:lstStyle>
            <a:lvl1pPr marL="0" indent="0">
              <a:buNone/>
              <a:defRPr sz="1700" b="1">
                <a:solidFill>
                  <a:schemeClr val="accent1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7"/>
          </p:nvPr>
        </p:nvSpPr>
        <p:spPr>
          <a:xfrm>
            <a:off x="179389" y="627534"/>
            <a:ext cx="4248596" cy="3887763"/>
          </a:xfrm>
        </p:spPr>
        <p:txBody>
          <a:bodyPr>
            <a:normAutofit/>
          </a:bodyPr>
          <a:lstStyle>
            <a:lvl1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1pPr>
            <a:lvl2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2pPr>
            <a:lvl3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3pPr>
            <a:lvl4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4pPr>
            <a:lvl5pPr marL="180000">
              <a:defRPr sz="130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 dirty="0"/>
          </a:p>
        </p:txBody>
      </p:sp>
      <p:sp>
        <p:nvSpPr>
          <p:cNvPr id="12" name="TextBox 11"/>
          <p:cNvSpPr txBox="1"/>
          <p:nvPr/>
        </p:nvSpPr>
        <p:spPr>
          <a:xfrm>
            <a:off x="4294162" y="4876586"/>
            <a:ext cx="46703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chemeClr val="bg1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19" name="Picture 3" descr="C:\Users\lcittanti\Documents\recursos hexacta\hexacta logo oscuro-01.png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91" y="4883477"/>
            <a:ext cx="683298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" r="161"/>
          <a:stretch/>
        </p:blipFill>
        <p:spPr bwMode="auto">
          <a:xfrm>
            <a:off x="0" y="4789856"/>
            <a:ext cx="9144000" cy="35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4366170" y="4876586"/>
            <a:ext cx="46703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chemeClr val="bg1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22" name="Picture 3" descr="C:\Users\lcittanti\Documents\recursos hexacta\hexacta logo oscuro-01.png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883477"/>
            <a:ext cx="683298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70247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, Subtítulo, gráfico y column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8"/>
          </p:nvPr>
        </p:nvSpPr>
        <p:spPr>
          <a:xfrm>
            <a:off x="6012161" y="627336"/>
            <a:ext cx="2952328" cy="4031977"/>
          </a:xfrm>
        </p:spPr>
        <p:txBody>
          <a:bodyPr>
            <a:normAutofit/>
          </a:bodyPr>
          <a:lstStyle>
            <a:lvl1pPr marL="180000" indent="-180975">
              <a:spcAft>
                <a:spcPts val="600"/>
              </a:spcAft>
              <a:defRPr sz="1100">
                <a:solidFill>
                  <a:schemeClr val="bg1"/>
                </a:solidFill>
                <a:latin typeface="Segoe UI Light" panose="020B0502040204020203" pitchFamily="34" charset="0"/>
                <a:cs typeface="Arial" panose="020B0604020202020204" pitchFamily="34" charset="0"/>
              </a:defRPr>
            </a:lvl1pPr>
            <a:lvl2pPr marL="180000" indent="-180975">
              <a:spcAft>
                <a:spcPts val="600"/>
              </a:spcAft>
              <a:defRPr sz="1100">
                <a:solidFill>
                  <a:schemeClr val="bg1"/>
                </a:solidFill>
                <a:latin typeface="Segoe UI Light" panose="020B0502040204020203" pitchFamily="34" charset="0"/>
                <a:cs typeface="Arial" panose="020B0604020202020204" pitchFamily="34" charset="0"/>
              </a:defRPr>
            </a:lvl2pPr>
            <a:lvl3pPr marL="180000" indent="-180975">
              <a:spcAft>
                <a:spcPts val="600"/>
              </a:spcAft>
              <a:defRPr sz="1100">
                <a:solidFill>
                  <a:schemeClr val="bg1"/>
                </a:solidFill>
                <a:latin typeface="Segoe UI Light" panose="020B0502040204020203" pitchFamily="34" charset="0"/>
                <a:cs typeface="Arial" panose="020B0604020202020204" pitchFamily="34" charset="0"/>
              </a:defRPr>
            </a:lvl3pPr>
            <a:lvl4pPr marL="180000" indent="-180975">
              <a:spcAft>
                <a:spcPts val="600"/>
              </a:spcAft>
              <a:defRPr sz="1100">
                <a:solidFill>
                  <a:schemeClr val="bg1"/>
                </a:solidFill>
                <a:latin typeface="Segoe UI Light" panose="020B0502040204020203" pitchFamily="34" charset="0"/>
                <a:cs typeface="Arial" panose="020B0604020202020204" pitchFamily="34" charset="0"/>
              </a:defRPr>
            </a:lvl4pPr>
            <a:lvl5pPr marL="180000" indent="-180975">
              <a:spcAft>
                <a:spcPts val="600"/>
              </a:spcAft>
              <a:defRPr sz="1100">
                <a:solidFill>
                  <a:schemeClr val="bg1"/>
                </a:solidFill>
                <a:latin typeface="Segoe UI Light" panose="020B05020402040202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 dirty="0"/>
          </a:p>
        </p:txBody>
      </p:sp>
      <p:sp>
        <p:nvSpPr>
          <p:cNvPr id="14" name="Content Placeholder 2"/>
          <p:cNvSpPr>
            <a:spLocks noGrp="1"/>
          </p:cNvSpPr>
          <p:nvPr>
            <p:ph idx="16"/>
          </p:nvPr>
        </p:nvSpPr>
        <p:spPr>
          <a:xfrm>
            <a:off x="179388" y="904125"/>
            <a:ext cx="5617077" cy="3755187"/>
          </a:xfrm>
        </p:spPr>
        <p:txBody>
          <a:bodyPr>
            <a:normAutofit/>
          </a:bodyPr>
          <a:lstStyle>
            <a:lvl1pPr marL="180000">
              <a:defRPr sz="1300">
                <a:solidFill>
                  <a:schemeClr val="bg1"/>
                </a:solidFill>
                <a:latin typeface="Segoe UI Light" panose="020B0502040204020203" pitchFamily="34" charset="0"/>
              </a:defRPr>
            </a:lvl1pPr>
            <a:lvl2pPr marL="180000">
              <a:defRPr sz="1300">
                <a:solidFill>
                  <a:schemeClr val="bg1"/>
                </a:solidFill>
                <a:latin typeface="Segoe UI Light" panose="020B0502040204020203" pitchFamily="34" charset="0"/>
              </a:defRPr>
            </a:lvl2pPr>
            <a:lvl3pPr marL="180000">
              <a:defRPr sz="1300">
                <a:solidFill>
                  <a:schemeClr val="bg1"/>
                </a:solidFill>
                <a:latin typeface="Segoe UI Light" panose="020B0502040204020203" pitchFamily="34" charset="0"/>
              </a:defRPr>
            </a:lvl3pPr>
            <a:lvl4pPr marL="180000">
              <a:defRPr sz="1300">
                <a:solidFill>
                  <a:schemeClr val="bg1"/>
                </a:solidFill>
                <a:latin typeface="Segoe UI Light" panose="020B0502040204020203" pitchFamily="34" charset="0"/>
              </a:defRPr>
            </a:lvl4pPr>
            <a:lvl5pPr marL="180000">
              <a:defRPr sz="1300">
                <a:solidFill>
                  <a:schemeClr val="bg1"/>
                </a:solidFill>
                <a:latin typeface="Segoe UI Light" panose="020B0502040204020203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179388" y="192859"/>
            <a:ext cx="8785100" cy="362766"/>
          </a:xfrm>
        </p:spPr>
        <p:txBody>
          <a:bodyPr>
            <a:normAutofit/>
          </a:bodyPr>
          <a:lstStyle>
            <a:lvl1pPr marL="0" indent="0">
              <a:buNone/>
              <a:defRPr sz="1700" b="1">
                <a:solidFill>
                  <a:schemeClr val="accent1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" r="147"/>
          <a:stretch/>
        </p:blipFill>
        <p:spPr bwMode="auto">
          <a:xfrm>
            <a:off x="0" y="4789856"/>
            <a:ext cx="9144000" cy="356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179388" y="616789"/>
            <a:ext cx="5617320" cy="28733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512" y="4876006"/>
            <a:ext cx="664611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366170" y="4876586"/>
            <a:ext cx="46703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rgbClr val="3A3A3A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rgbClr val="3A3A3A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rgbClr val="3A3A3A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rgbClr val="3A3A3A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239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ficos oscuro Titul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179388" y="195265"/>
            <a:ext cx="8645578" cy="360189"/>
          </a:xfrm>
        </p:spPr>
        <p:txBody>
          <a:bodyPr>
            <a:normAutofit/>
          </a:bodyPr>
          <a:lstStyle>
            <a:lvl1pPr marL="0" indent="0">
              <a:buNone/>
              <a:defRPr sz="1700" b="1">
                <a:solidFill>
                  <a:schemeClr val="accent1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" r="147"/>
          <a:stretch/>
        </p:blipFill>
        <p:spPr bwMode="auto">
          <a:xfrm>
            <a:off x="2" y="4789860"/>
            <a:ext cx="9144000" cy="35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515" y="4876007"/>
            <a:ext cx="664610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366171" y="4876586"/>
            <a:ext cx="4670326" cy="215444"/>
          </a:xfrm>
          <a:prstGeom prst="rect">
            <a:avLst/>
          </a:prstGeom>
          <a:noFill/>
        </p:spPr>
        <p:txBody>
          <a:bodyPr wrap="square" lIns="91427" tIns="45714" rIns="91427" bIns="45714" rtlCol="0">
            <a:spAutoFit/>
          </a:bodyPr>
          <a:lstStyle/>
          <a:p>
            <a:pPr marL="0" marR="0" indent="0" algn="r" defTabSz="9142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rgbClr val="3A3A3A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rgbClr val="3A3A3A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rgbClr val="3A3A3A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rgbClr val="3A3A3A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365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ficos oscuro Titulo y Subtitul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179388" y="195265"/>
            <a:ext cx="8645578" cy="360189"/>
          </a:xfrm>
        </p:spPr>
        <p:txBody>
          <a:bodyPr>
            <a:normAutofit/>
          </a:bodyPr>
          <a:lstStyle>
            <a:lvl1pPr marL="0" indent="0">
              <a:buNone/>
              <a:defRPr sz="1700" b="1">
                <a:solidFill>
                  <a:schemeClr val="accent1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" r="147"/>
          <a:stretch/>
        </p:blipFill>
        <p:spPr bwMode="auto">
          <a:xfrm>
            <a:off x="2" y="4789860"/>
            <a:ext cx="9144000" cy="35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515" y="4876007"/>
            <a:ext cx="664610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366171" y="4876586"/>
            <a:ext cx="4670326" cy="215444"/>
          </a:xfrm>
          <a:prstGeom prst="rect">
            <a:avLst/>
          </a:prstGeom>
          <a:noFill/>
        </p:spPr>
        <p:txBody>
          <a:bodyPr wrap="square" lIns="91427" tIns="45714" rIns="91427" bIns="45714" rtlCol="0">
            <a:spAutoFit/>
          </a:bodyPr>
          <a:lstStyle/>
          <a:p>
            <a:pPr marL="0" marR="0" indent="0" algn="r" defTabSz="9142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rgbClr val="3A3A3A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rgbClr val="3A3A3A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rgbClr val="3A3A3A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rgbClr val="3A3A3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179387" y="627336"/>
            <a:ext cx="8785225" cy="28733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9697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572001" y="-1"/>
            <a:ext cx="4572000" cy="5143501"/>
          </a:xfrm>
          <a:prstGeom prst="rect">
            <a:avLst/>
          </a:prstGeom>
          <a:solidFill>
            <a:srgbClr val="1EA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4" name="Picture 2" descr="C:\Users\lcittanti\Documents\recursos hexacta\hexacta_logo-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475" y="4694636"/>
            <a:ext cx="1220685" cy="306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65"/>
          <a:stretch/>
        </p:blipFill>
        <p:spPr>
          <a:xfrm>
            <a:off x="0" y="-1"/>
            <a:ext cx="4572000" cy="4698523"/>
          </a:xfrm>
          <a:prstGeom prst="rect">
            <a:avLst/>
          </a:prstGeom>
        </p:spPr>
      </p:pic>
      <p:pic>
        <p:nvPicPr>
          <p:cNvPr id="19" name="Picture 3" descr="C:\Users\lcittanti\Documents\recursos hexacta\hexacta logo oscuro-01.png"/>
          <p:cNvPicPr>
            <a:picLocks noChangeAspect="1" noChangeArrowheads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91" y="4850071"/>
            <a:ext cx="683298" cy="16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182963" y="478576"/>
            <a:ext cx="4608512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300" b="1" dirty="0" smtClean="0">
                <a:latin typeface="+mj-lt"/>
              </a:rPr>
              <a:t>ARGENTINA</a:t>
            </a:r>
          </a:p>
          <a:p>
            <a:r>
              <a:rPr lang="es-AR" sz="1300" dirty="0" err="1" smtClean="0">
                <a:latin typeface="+mj-lt"/>
              </a:rPr>
              <a:t>Clay</a:t>
            </a:r>
            <a:r>
              <a:rPr lang="es-AR" sz="1300" dirty="0" smtClean="0">
                <a:latin typeface="+mj-lt"/>
              </a:rPr>
              <a:t> 2954</a:t>
            </a:r>
          </a:p>
          <a:p>
            <a:r>
              <a:rPr lang="es-AR" sz="1300" dirty="0" smtClean="0">
                <a:latin typeface="+mj-lt"/>
              </a:rPr>
              <a:t>Buenos Aires (C1426DLD) </a:t>
            </a:r>
          </a:p>
          <a:p>
            <a:r>
              <a:rPr lang="es-AR" sz="1300" dirty="0" err="1" smtClean="0">
                <a:latin typeface="+mj-lt"/>
              </a:rPr>
              <a:t>tel</a:t>
            </a:r>
            <a:r>
              <a:rPr lang="es-AR" sz="1300" dirty="0" smtClean="0">
                <a:latin typeface="+mj-lt"/>
              </a:rPr>
              <a:t>: 54+11+5299 5400</a:t>
            </a:r>
          </a:p>
          <a:p>
            <a:endParaRPr lang="es-AR" sz="1300" dirty="0" smtClean="0">
              <a:latin typeface="+mj-lt"/>
            </a:endParaRPr>
          </a:p>
          <a:p>
            <a:r>
              <a:rPr lang="es-AR" sz="1300" b="1" dirty="0" smtClean="0">
                <a:latin typeface="+mj-lt"/>
              </a:rPr>
              <a:t>BRASIL</a:t>
            </a:r>
          </a:p>
          <a:p>
            <a:r>
              <a:rPr lang="es-AR" sz="1300" dirty="0" smtClean="0">
                <a:latin typeface="+mj-lt"/>
              </a:rPr>
              <a:t>Cardoso de Melo 1470 – 8, Vila Olimpia </a:t>
            </a:r>
          </a:p>
          <a:p>
            <a:r>
              <a:rPr lang="es-AR" sz="1300" dirty="0" smtClean="0">
                <a:latin typeface="+mj-lt"/>
              </a:rPr>
              <a:t>San Pablo (04548004)</a:t>
            </a:r>
          </a:p>
          <a:p>
            <a:r>
              <a:rPr lang="es-AR" sz="1300" dirty="0" err="1" smtClean="0">
                <a:latin typeface="+mj-lt"/>
              </a:rPr>
              <a:t>tel</a:t>
            </a:r>
            <a:r>
              <a:rPr lang="es-AR" sz="1300" dirty="0" smtClean="0">
                <a:latin typeface="+mj-lt"/>
              </a:rPr>
              <a:t>: 55+11+3045 2193</a:t>
            </a:r>
          </a:p>
          <a:p>
            <a:endParaRPr lang="es-AR" sz="1300" dirty="0" smtClean="0">
              <a:latin typeface="+mj-lt"/>
            </a:endParaRPr>
          </a:p>
          <a:p>
            <a:r>
              <a:rPr lang="es-AR" sz="1300" b="1" dirty="0" smtClean="0">
                <a:latin typeface="+mj-lt"/>
              </a:rPr>
              <a:t>URUGUAY</a:t>
            </a:r>
          </a:p>
          <a:p>
            <a:r>
              <a:rPr lang="es-AR" sz="1300" dirty="0" smtClean="0">
                <a:latin typeface="+mj-lt"/>
              </a:rPr>
              <a:t>Roque Graseras 857</a:t>
            </a:r>
          </a:p>
          <a:p>
            <a:r>
              <a:rPr lang="es-AR" sz="1300" dirty="0" smtClean="0">
                <a:latin typeface="+mj-lt"/>
              </a:rPr>
              <a:t>Montevideo (11300)</a:t>
            </a:r>
          </a:p>
          <a:p>
            <a:r>
              <a:rPr lang="es-AR" sz="1300" dirty="0" err="1" smtClean="0">
                <a:latin typeface="+mj-lt"/>
              </a:rPr>
              <a:t>tel</a:t>
            </a:r>
            <a:r>
              <a:rPr lang="es-AR" sz="1300" dirty="0" smtClean="0">
                <a:latin typeface="+mj-lt"/>
              </a:rPr>
              <a:t>: 598+2+7117879</a:t>
            </a:r>
          </a:p>
          <a:p>
            <a:endParaRPr lang="es-AR" sz="1300" dirty="0" smtClean="0">
              <a:latin typeface="+mj-lt"/>
            </a:endParaRPr>
          </a:p>
          <a:p>
            <a:r>
              <a:rPr lang="es-AR" sz="1300" b="1" dirty="0" smtClean="0">
                <a:latin typeface="+mj-lt"/>
              </a:rPr>
              <a:t>USA</a:t>
            </a:r>
          </a:p>
          <a:p>
            <a:r>
              <a:rPr lang="es-AR" sz="1300" dirty="0" smtClean="0">
                <a:latin typeface="+mj-lt"/>
              </a:rPr>
              <a:t>12105 </a:t>
            </a:r>
            <a:r>
              <a:rPr lang="es-AR" sz="1300" dirty="0" err="1" smtClean="0">
                <a:latin typeface="+mj-lt"/>
              </a:rPr>
              <a:t>Sundance</a:t>
            </a:r>
            <a:r>
              <a:rPr lang="es-AR" sz="1300" dirty="0" smtClean="0">
                <a:latin typeface="+mj-lt"/>
              </a:rPr>
              <a:t> </a:t>
            </a:r>
            <a:r>
              <a:rPr lang="es-AR" sz="1300" dirty="0" err="1" smtClean="0">
                <a:latin typeface="+mj-lt"/>
              </a:rPr>
              <a:t>Ct</a:t>
            </a:r>
            <a:r>
              <a:rPr lang="es-AR" sz="1300" dirty="0" smtClean="0">
                <a:latin typeface="+mj-lt"/>
              </a:rPr>
              <a:t>.</a:t>
            </a:r>
          </a:p>
          <a:p>
            <a:r>
              <a:rPr lang="es-AR" sz="1300" dirty="0" err="1" smtClean="0">
                <a:latin typeface="+mj-lt"/>
              </a:rPr>
              <a:t>Reston</a:t>
            </a:r>
            <a:r>
              <a:rPr lang="es-AR" sz="1300" dirty="0" smtClean="0">
                <a:latin typeface="+mj-lt"/>
              </a:rPr>
              <a:t> (20194)</a:t>
            </a:r>
          </a:p>
          <a:p>
            <a:r>
              <a:rPr lang="es-AR" sz="1300" dirty="0" err="1" smtClean="0">
                <a:latin typeface="+mj-lt"/>
              </a:rPr>
              <a:t>tel</a:t>
            </a:r>
            <a:r>
              <a:rPr lang="es-AR" sz="1300" dirty="0" smtClean="0">
                <a:latin typeface="+mj-lt"/>
              </a:rPr>
              <a:t>:+703 842 9455</a:t>
            </a:r>
          </a:p>
        </p:txBody>
      </p:sp>
      <p:pic>
        <p:nvPicPr>
          <p:cNvPr id="18" name="Picture 4" descr="C:\Users\lcittanti\Documents\documentos institucionales\ppt\facebook-01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475" y="3165523"/>
            <a:ext cx="226192" cy="22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5" descr="C:\Users\lcittanti\Documents\documentos institucionales\ppt\twitter-01-01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475" y="3495746"/>
            <a:ext cx="222814" cy="222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7452320" y="4727634"/>
            <a:ext cx="158417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1300" u="none" dirty="0" smtClean="0">
                <a:solidFill>
                  <a:schemeClr val="bg1"/>
                </a:solidFill>
                <a:latin typeface="+mn-lt"/>
              </a:rPr>
              <a:t>www.hexacta.com</a:t>
            </a:r>
            <a:endParaRPr lang="es-AR" sz="1300" u="none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14289" y="3147814"/>
            <a:ext cx="11338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u="none" dirty="0" smtClean="0">
                <a:solidFill>
                  <a:schemeClr val="bg1"/>
                </a:solidFill>
              </a:rPr>
              <a:t>HexactaArg</a:t>
            </a:r>
            <a:endParaRPr lang="es-AR" sz="1100" u="none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89241" y="3476348"/>
            <a:ext cx="14549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100" b="0" i="0" u="none" strike="noStrike" kern="1200" dirty="0" smtClean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@</a:t>
            </a:r>
            <a:r>
              <a:rPr lang="es-AR" sz="1100" b="0" i="0" kern="1200" dirty="0" smtClean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Hexacta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0" r="774" b="8806"/>
          <a:stretch/>
        </p:blipFill>
        <p:spPr>
          <a:xfrm>
            <a:off x="4572000" y="-1"/>
            <a:ext cx="4572001" cy="285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507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ortada con foto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" y="1"/>
            <a:ext cx="6011862" cy="484663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s-AR"/>
          </a:p>
        </p:txBody>
      </p:sp>
      <p:pic>
        <p:nvPicPr>
          <p:cNvPr id="2051" name="Picture 3" descr="C:\Users\lcittanti\Documents\documentos institucionales\last version\logo_hexacta-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11" y="4846353"/>
            <a:ext cx="724566" cy="18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11561" y="3723881"/>
            <a:ext cx="7920880" cy="598463"/>
          </a:xfrm>
          <a:prstGeom prst="rect">
            <a:avLst/>
          </a:prstGeom>
        </p:spPr>
        <p:txBody>
          <a:bodyPr lIns="91427" tIns="45714" rIns="91427" bIns="45714">
            <a:noAutofit/>
          </a:bodyPr>
          <a:lstStyle>
            <a:lvl1pPr algn="l">
              <a:defRPr sz="3200">
                <a:solidFill>
                  <a:schemeClr val="bg2"/>
                </a:solidFill>
                <a:latin typeface="Segoe UI Light" panose="020B0502040204020203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s-AR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1561" y="3435846"/>
            <a:ext cx="6984776" cy="43204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bg2"/>
                </a:solidFill>
                <a:latin typeface="Segoe UI Symbol" panose="020B0502040204020203" pitchFamily="34" charset="0"/>
                <a:ea typeface="Segoe UI Symbol" panose="020B0502040204020203" pitchFamily="34" charset="0"/>
              </a:defRPr>
            </a:lvl1pPr>
            <a:lvl2pPr marL="457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s-AR" dirty="0"/>
          </a:p>
        </p:txBody>
      </p:sp>
      <p:sp>
        <p:nvSpPr>
          <p:cNvPr id="5" name="TextBox 4"/>
          <p:cNvSpPr txBox="1"/>
          <p:nvPr/>
        </p:nvSpPr>
        <p:spPr>
          <a:xfrm>
            <a:off x="4150148" y="4828886"/>
            <a:ext cx="4670326" cy="215444"/>
          </a:xfrm>
          <a:prstGeom prst="rect">
            <a:avLst/>
          </a:prstGeom>
          <a:noFill/>
        </p:spPr>
        <p:txBody>
          <a:bodyPr wrap="square" lIns="91427" tIns="45714" rIns="91427" bIns="45714" rtlCol="0">
            <a:spAutoFit/>
          </a:bodyPr>
          <a:lstStyle/>
          <a:p>
            <a:pPr marL="0" marR="0" indent="0" algn="r" defTabSz="9142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 dirty="0" err="1" smtClean="0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Excellence</a:t>
            </a:r>
            <a:r>
              <a:rPr lang="es-MX" sz="800" i="1" dirty="0" smtClean="0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in software </a:t>
            </a:r>
            <a:r>
              <a:rPr lang="es-MX" sz="800" i="1" dirty="0" err="1" smtClean="0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development</a:t>
            </a:r>
            <a:endParaRPr lang="es-AR" sz="800" i="1" dirty="0" smtClean="0">
              <a:solidFill>
                <a:schemeClr val="accent1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" r="147"/>
          <a:stretch/>
        </p:blipFill>
        <p:spPr bwMode="auto">
          <a:xfrm>
            <a:off x="2" y="4700208"/>
            <a:ext cx="9144000" cy="446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0289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25" y="1275606"/>
            <a:ext cx="8650950" cy="3319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81270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1800" kern="600" spc="0" baseline="0">
          <a:solidFill>
            <a:schemeClr val="bg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-180975" algn="l" defTabSz="914400" rtl="0" eaLnBrk="1" latinLnBrk="0" hangingPunct="1">
        <a:spcBef>
          <a:spcPts val="100"/>
        </a:spcBef>
        <a:spcAft>
          <a:spcPts val="600"/>
        </a:spcAft>
        <a:buClr>
          <a:schemeClr val="accent1"/>
        </a:buClr>
        <a:buSzPct val="85000"/>
        <a:buFont typeface="Segoe UI" panose="020B0502040204020203" pitchFamily="34" charset="0"/>
        <a:buChar char="&gt;"/>
        <a:defRPr sz="1400" kern="1200">
          <a:solidFill>
            <a:schemeClr val="tx1">
              <a:lumMod val="75000"/>
            </a:schemeClr>
          </a:solidFill>
          <a:latin typeface="Segoe UI Light" panose="020B0502040204020203" pitchFamily="34" charset="0"/>
          <a:ea typeface="+mn-ea"/>
          <a:cs typeface="+mn-cs"/>
        </a:defRPr>
      </a:lvl1pPr>
      <a:lvl2pPr marL="0" indent="-180975" algn="l" defTabSz="914400" rtl="0" eaLnBrk="1" latinLnBrk="0" hangingPunct="1">
        <a:spcBef>
          <a:spcPts val="100"/>
        </a:spcBef>
        <a:spcAft>
          <a:spcPts val="600"/>
        </a:spcAft>
        <a:buClr>
          <a:schemeClr val="accent1"/>
        </a:buClr>
        <a:buSzPct val="85000"/>
        <a:buFont typeface="Segoe UI" panose="020B0502040204020203" pitchFamily="34" charset="0"/>
        <a:buChar char="&gt;"/>
        <a:defRPr sz="1400" kern="1200">
          <a:solidFill>
            <a:schemeClr val="tx1">
              <a:lumMod val="75000"/>
            </a:schemeClr>
          </a:solidFill>
          <a:latin typeface="Segoe UI Light" panose="020B0502040204020203" pitchFamily="34" charset="0"/>
          <a:ea typeface="+mn-ea"/>
          <a:cs typeface="+mn-cs"/>
        </a:defRPr>
      </a:lvl2pPr>
      <a:lvl3pPr marL="0" indent="-180975" algn="l" defTabSz="914400" rtl="0" eaLnBrk="1" latinLnBrk="0" hangingPunct="1">
        <a:spcBef>
          <a:spcPts val="100"/>
        </a:spcBef>
        <a:spcAft>
          <a:spcPts val="600"/>
        </a:spcAft>
        <a:buClr>
          <a:schemeClr val="accent1"/>
        </a:buClr>
        <a:buSzPct val="85000"/>
        <a:buFont typeface="Segoe UI" panose="020B0502040204020203" pitchFamily="34" charset="0"/>
        <a:buChar char="&gt;"/>
        <a:defRPr sz="1400" kern="1200">
          <a:solidFill>
            <a:schemeClr val="tx1">
              <a:lumMod val="75000"/>
            </a:schemeClr>
          </a:solidFill>
          <a:latin typeface="Segoe UI Light" panose="020B0502040204020203" pitchFamily="34" charset="0"/>
          <a:ea typeface="+mn-ea"/>
          <a:cs typeface="+mn-cs"/>
        </a:defRPr>
      </a:lvl3pPr>
      <a:lvl4pPr marL="0" indent="-180975" algn="l" defTabSz="914400" rtl="0" eaLnBrk="1" latinLnBrk="0" hangingPunct="1">
        <a:spcBef>
          <a:spcPts val="100"/>
        </a:spcBef>
        <a:spcAft>
          <a:spcPts val="600"/>
        </a:spcAft>
        <a:buClr>
          <a:schemeClr val="accent1"/>
        </a:buClr>
        <a:buSzPct val="85000"/>
        <a:buFont typeface="Segoe UI" panose="020B0502040204020203" pitchFamily="34" charset="0"/>
        <a:buChar char="&gt;"/>
        <a:defRPr sz="1400" kern="1200">
          <a:solidFill>
            <a:schemeClr val="tx1">
              <a:lumMod val="75000"/>
            </a:schemeClr>
          </a:solidFill>
          <a:latin typeface="Segoe UI Light" panose="020B0502040204020203" pitchFamily="34" charset="0"/>
          <a:ea typeface="+mn-ea"/>
          <a:cs typeface="+mn-cs"/>
        </a:defRPr>
      </a:lvl4pPr>
      <a:lvl5pPr marL="0" indent="-180975" algn="l" defTabSz="914400" rtl="0" eaLnBrk="1" latinLnBrk="0" hangingPunct="1">
        <a:spcBef>
          <a:spcPts val="100"/>
        </a:spcBef>
        <a:spcAft>
          <a:spcPts val="600"/>
        </a:spcAft>
        <a:buClr>
          <a:schemeClr val="accent1"/>
        </a:buClr>
        <a:buSzPct val="85000"/>
        <a:buFont typeface="Segoe UI" panose="020B0502040204020203" pitchFamily="34" charset="0"/>
        <a:buChar char="&gt;"/>
        <a:defRPr sz="1400" kern="1200">
          <a:solidFill>
            <a:schemeClr val="tx1">
              <a:lumMod val="75000"/>
            </a:schemeClr>
          </a:solidFill>
          <a:latin typeface="Segoe UI Light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7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621" y="0"/>
            <a:ext cx="6515100" cy="5143500"/>
          </a:xfrm>
        </p:spPr>
      </p:pic>
      <p:sp>
        <p:nvSpPr>
          <p:cNvPr id="9" name="Rectangle 8"/>
          <p:cNvSpPr/>
          <p:nvPr/>
        </p:nvSpPr>
        <p:spPr>
          <a:xfrm>
            <a:off x="472" y="0"/>
            <a:ext cx="262731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30" t="364" r="20045" b="8727"/>
          <a:stretch/>
        </p:blipFill>
        <p:spPr>
          <a:xfrm flipV="1">
            <a:off x="0" y="8878"/>
            <a:ext cx="2627784" cy="51435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3489" y="1645284"/>
            <a:ext cx="2520805" cy="2334848"/>
          </a:xfrm>
          <a:noFill/>
        </p:spPr>
        <p:txBody>
          <a:bodyPr/>
          <a:lstStyle/>
          <a:p>
            <a:pPr algn="ctr"/>
            <a:r>
              <a:rPr lang="es-AR" sz="2400" dirty="0" smtClean="0">
                <a:solidFill>
                  <a:schemeClr val="tx1"/>
                </a:solidFill>
                <a:latin typeface="+mn-lt"/>
                <a:ea typeface="Segoe UI Symbol" panose="020B0502040204020203" pitchFamily="34" charset="0"/>
              </a:rPr>
              <a:t/>
            </a:r>
            <a:br>
              <a:rPr lang="es-AR" sz="2400" dirty="0" smtClean="0">
                <a:solidFill>
                  <a:schemeClr val="tx1"/>
                </a:solidFill>
                <a:latin typeface="+mn-lt"/>
                <a:ea typeface="Segoe UI Symbol" panose="020B0502040204020203" pitchFamily="34" charset="0"/>
              </a:rPr>
            </a:br>
            <a:r>
              <a:rPr lang="es-AR" sz="2400" dirty="0" smtClean="0">
                <a:solidFill>
                  <a:schemeClr val="tx1"/>
                </a:solidFill>
                <a:latin typeface="+mn-lt"/>
                <a:ea typeface="Segoe UI Symbol" panose="020B0502040204020203" pitchFamily="34" charset="0"/>
              </a:rPr>
              <a:t> </a:t>
            </a:r>
            <a:r>
              <a:rPr lang="es-AR" sz="1800" i="1" dirty="0" smtClean="0">
                <a:solidFill>
                  <a:schemeClr val="tx1"/>
                </a:solidFill>
                <a:latin typeface="+mn-lt"/>
                <a:ea typeface="Segoe UI Symbol" panose="020B0502040204020203" pitchFamily="34" charset="0"/>
              </a:rPr>
              <a:t>Aporte de RRHH</a:t>
            </a:r>
            <a:r>
              <a:rPr lang="es-AR" sz="2400" dirty="0" smtClean="0">
                <a:solidFill>
                  <a:schemeClr val="tx1"/>
                </a:solidFill>
                <a:latin typeface="+mn-lt"/>
                <a:ea typeface="Segoe UI Symbol" panose="020B0502040204020203" pitchFamily="34" charset="0"/>
              </a:rPr>
              <a:t/>
            </a:r>
            <a:br>
              <a:rPr lang="es-AR" sz="2400" dirty="0" smtClean="0">
                <a:solidFill>
                  <a:schemeClr val="tx1"/>
                </a:solidFill>
                <a:latin typeface="+mn-lt"/>
                <a:ea typeface="Segoe UI Symbol" panose="020B0502040204020203" pitchFamily="34" charset="0"/>
              </a:rPr>
            </a:br>
            <a:r>
              <a:rPr lang="es-AR" sz="2400" dirty="0">
                <a:solidFill>
                  <a:schemeClr val="tx1"/>
                </a:solidFill>
                <a:latin typeface="+mn-lt"/>
                <a:ea typeface="Segoe UI Symbol" panose="020B0502040204020203" pitchFamily="34" charset="0"/>
              </a:rPr>
              <a:t/>
            </a:r>
            <a:br>
              <a:rPr lang="es-AR" sz="2400" dirty="0">
                <a:solidFill>
                  <a:schemeClr val="tx1"/>
                </a:solidFill>
                <a:latin typeface="+mn-lt"/>
                <a:ea typeface="Segoe UI Symbol" panose="020B0502040204020203" pitchFamily="34" charset="0"/>
              </a:rPr>
            </a:br>
            <a:endParaRPr lang="es-AR" sz="2400" dirty="0">
              <a:solidFill>
                <a:schemeClr val="tx1"/>
              </a:solidFill>
              <a:latin typeface="+mn-lt"/>
              <a:ea typeface="Segoe UI Symbol" panose="020B0502040204020203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501" y="4624331"/>
            <a:ext cx="887065" cy="216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94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5"/>
          </p:nvPr>
        </p:nvSpPr>
        <p:spPr>
          <a:xfrm>
            <a:off x="2987824" y="591231"/>
            <a:ext cx="5760640" cy="359494"/>
          </a:xfrm>
        </p:spPr>
        <p:txBody>
          <a:bodyPr>
            <a:normAutofit fontScale="92500" lnSpcReduction="10000"/>
          </a:bodyPr>
          <a:lstStyle/>
          <a:p>
            <a:r>
              <a:rPr lang="es-AR" dirty="0">
                <a:solidFill>
                  <a:srgbClr val="323232"/>
                </a:solidFill>
                <a:ea typeface="Segoe UI Light" pitchFamily="34" charset="0"/>
                <a:cs typeface="Segoe UI Light" pitchFamily="34" charset="0"/>
              </a:rPr>
              <a:t>¿Cómo hacer un Curriculum Vitae?</a:t>
            </a:r>
          </a:p>
          <a:p>
            <a:pPr marL="0" indent="0">
              <a:buNone/>
            </a:pP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7"/>
          </p:nvPr>
        </p:nvSpPr>
        <p:spPr>
          <a:xfrm>
            <a:off x="2987824" y="1599343"/>
            <a:ext cx="5760640" cy="359494"/>
          </a:xfrm>
        </p:spPr>
        <p:txBody>
          <a:bodyPr>
            <a:normAutofit/>
          </a:bodyPr>
          <a:lstStyle/>
          <a:p>
            <a:r>
              <a:rPr lang="es-AR" dirty="0" smtClean="0"/>
              <a:t>Algo sobre Hexacta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idx="18"/>
          </p:nvPr>
        </p:nvSpPr>
        <p:spPr>
          <a:xfrm>
            <a:off x="2987824" y="1095585"/>
            <a:ext cx="5760640" cy="359494"/>
          </a:xfrm>
        </p:spPr>
        <p:txBody>
          <a:bodyPr/>
          <a:lstStyle/>
          <a:p>
            <a:r>
              <a:rPr lang="es-AR" dirty="0" smtClean="0"/>
              <a:t>TIPS para la carrera profesional</a:t>
            </a:r>
            <a:endParaRPr lang="es-AR" dirty="0"/>
          </a:p>
        </p:txBody>
      </p:sp>
      <p:sp>
        <p:nvSpPr>
          <p:cNvPr id="5" name="Rectángulo 4"/>
          <p:cNvSpPr/>
          <p:nvPr/>
        </p:nvSpPr>
        <p:spPr>
          <a:xfrm>
            <a:off x="3582144" y="2072354"/>
            <a:ext cx="4572000" cy="6129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8319" indent="-267868" defTabSz="914276">
              <a:spcBef>
                <a:spcPts val="100"/>
              </a:spcBef>
              <a:spcAft>
                <a:spcPts val="600"/>
              </a:spcAft>
              <a:buClr>
                <a:schemeClr val="accent1"/>
              </a:buClr>
              <a:buSzPct val="125000"/>
              <a:buFont typeface="Lucida Grande" charset="0"/>
              <a:buChar char="■"/>
              <a:defRPr/>
            </a:pPr>
            <a:r>
              <a:rPr lang="es-AR" sz="14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¿Cómo hacer carrera en Hexacta?</a:t>
            </a:r>
          </a:p>
          <a:p>
            <a:pPr marL="368319" indent="-267868" defTabSz="914276">
              <a:spcBef>
                <a:spcPts val="100"/>
              </a:spcBef>
              <a:spcAft>
                <a:spcPts val="600"/>
              </a:spcAft>
              <a:buClr>
                <a:schemeClr val="accent1"/>
              </a:buClr>
              <a:buSzPct val="125000"/>
              <a:buFont typeface="Lucida Grande" charset="0"/>
              <a:buChar char="■"/>
              <a:defRPr/>
            </a:pPr>
            <a:r>
              <a:rPr lang="es-AR" sz="14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Propuesta de valor a nuestra gente</a:t>
            </a:r>
          </a:p>
        </p:txBody>
      </p:sp>
    </p:spTree>
    <p:extLst>
      <p:ext uri="{BB962C8B-B14F-4D97-AF65-F5344CB8AC3E}">
        <p14:creationId xmlns:p14="http://schemas.microsoft.com/office/powerpoint/2010/main" val="19748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s-AR" dirty="0" smtClean="0"/>
              <a:t>Cuestiones previas…</a:t>
            </a:r>
            <a:endParaRPr lang="es-AR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sz="quarter" idx="17"/>
          </p:nvPr>
        </p:nvSpPr>
        <p:spPr>
          <a:xfrm>
            <a:off x="179387" y="627336"/>
            <a:ext cx="8785225" cy="259248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AR" sz="2000" dirty="0" smtClean="0"/>
              <a:t>La lógica para conseguir algo que quiero, suele ser:</a:t>
            </a:r>
            <a:endParaRPr lang="es-PY" sz="2000" dirty="0" smtClean="0"/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s-PY" sz="2000" dirty="0" smtClean="0"/>
              <a:t>Empiezo por lo que quiero </a:t>
            </a:r>
            <a:r>
              <a:rPr lang="es-PY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HACER</a:t>
            </a:r>
            <a:r>
              <a:rPr lang="es-PY" sz="2000" dirty="0" smtClean="0"/>
              <a:t> (una carrera o trabajo)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s-PY" sz="2000" dirty="0" smtClean="0"/>
              <a:t>Luego enfoco en lo que quiero </a:t>
            </a:r>
            <a:r>
              <a:rPr lang="es-PY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TENER</a:t>
            </a:r>
            <a:r>
              <a:rPr lang="es-PY" sz="2000" dirty="0" smtClean="0"/>
              <a:t> (un título, plata)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s-PY" sz="2000" dirty="0" smtClean="0"/>
              <a:t>Y finalmente me acuerdo de lo que </a:t>
            </a:r>
            <a:r>
              <a:rPr lang="es-PY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SOY</a:t>
            </a:r>
            <a:r>
              <a:rPr lang="es-PY" sz="2000" dirty="0" smtClean="0"/>
              <a:t> o seré (</a:t>
            </a:r>
            <a:r>
              <a:rPr lang="es-PY" sz="2000" dirty="0" err="1" smtClean="0"/>
              <a:t>ej</a:t>
            </a:r>
            <a:r>
              <a:rPr lang="es-PY" sz="2000" dirty="0" smtClean="0"/>
              <a:t>: ingeniero, carpintero)</a:t>
            </a:r>
          </a:p>
          <a:p>
            <a:pPr>
              <a:lnSpc>
                <a:spcPct val="150000"/>
              </a:lnSpc>
            </a:pPr>
            <a:r>
              <a:rPr lang="es-PY" dirty="0" smtClean="0"/>
              <a:t> </a:t>
            </a:r>
          </a:p>
          <a:p>
            <a:endParaRPr lang="es-PY" dirty="0" smtClean="0"/>
          </a:p>
          <a:p>
            <a:endParaRPr lang="es-A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r>
              <a:rPr lang="es-AR" dirty="0" smtClean="0"/>
              <a:t>Cuestiones previas…</a:t>
            </a:r>
          </a:p>
          <a:p>
            <a:endParaRPr lang="es-AR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sz="quarter" idx="17"/>
          </p:nvPr>
        </p:nvSpPr>
        <p:spPr>
          <a:xfrm>
            <a:off x="179387" y="627336"/>
            <a:ext cx="8785225" cy="2160438"/>
          </a:xfrm>
        </p:spPr>
        <p:txBody>
          <a:bodyPr/>
          <a:lstStyle/>
          <a:p>
            <a:r>
              <a:rPr lang="es-PY" dirty="0" smtClean="0"/>
              <a:t>La lógica en realidad, tendría que ser inversa:</a:t>
            </a:r>
          </a:p>
          <a:p>
            <a:pPr lvl="0"/>
            <a:r>
              <a:rPr lang="es-PY" dirty="0" smtClean="0"/>
              <a:t>Empezar por el </a:t>
            </a:r>
            <a:r>
              <a:rPr lang="es-PY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</a:t>
            </a:r>
            <a:r>
              <a:rPr lang="es-PY" dirty="0" smtClean="0"/>
              <a:t> (</a:t>
            </a:r>
            <a:r>
              <a:rPr lang="es-PY" dirty="0" err="1" smtClean="0"/>
              <a:t>ej</a:t>
            </a:r>
            <a:r>
              <a:rPr lang="es-PY" dirty="0" smtClean="0"/>
              <a:t>: soy bueno resolviendo cuentas matemáticas, arreglando computadoras, analizando, etc.). O sea, ¿quien soy, en qué me quiero convertir, en qué soy bueno, que me produce pasión y bienestar como para vivir de eso?</a:t>
            </a:r>
          </a:p>
          <a:p>
            <a:pPr lvl="0"/>
            <a:r>
              <a:rPr lang="es-PY" dirty="0" smtClean="0"/>
              <a:t>Clarificado lo anterior, puedo moverme a </a:t>
            </a:r>
            <a:r>
              <a:rPr lang="es-PY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HACER</a:t>
            </a:r>
            <a:r>
              <a:rPr lang="es-PY" dirty="0" smtClean="0"/>
              <a:t> (y alcanzar) eso que quiero SER: me anoto en la universidad, hago cursos cortos, me involucro en la empresa familiar, armo mi propio emprendimiento…</a:t>
            </a:r>
          </a:p>
          <a:p>
            <a:pPr lvl="0"/>
            <a:r>
              <a:rPr lang="es-PY" dirty="0" smtClean="0"/>
              <a:t>En base a que supe quién SOY y me moví para lograrlo (HACER), obtengo lo que quiero (</a:t>
            </a:r>
            <a:r>
              <a:rPr lang="es-PY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TENER</a:t>
            </a:r>
            <a:r>
              <a:rPr lang="es-PY" dirty="0" smtClean="0"/>
              <a:t>): soy ingeniero, operario en una empresa, encargado en la empresa familiar, pude armar mi emprendimiento.</a:t>
            </a:r>
          </a:p>
          <a:p>
            <a:r>
              <a:rPr lang="es-PY" dirty="0" smtClean="0"/>
              <a:t> 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827584" y="2715766"/>
            <a:ext cx="74168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Y" i="1" dirty="0" smtClean="0"/>
              <a:t>Iniciar por el SER, nos asegura:</a:t>
            </a:r>
            <a:endParaRPr lang="es-PY" dirty="0" smtClean="0"/>
          </a:p>
          <a:p>
            <a:r>
              <a:rPr lang="es-PY" i="1" dirty="0" smtClean="0"/>
              <a:t>-La </a:t>
            </a:r>
            <a:r>
              <a:rPr lang="es-PY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ESTABILIDAD</a:t>
            </a:r>
            <a:r>
              <a:rPr lang="es-PY" i="1" dirty="0" smtClean="0"/>
              <a:t> en la decisión y en la acción. El famoso y deseado </a:t>
            </a:r>
            <a:r>
              <a:rPr lang="es-PY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COMPROMISO.</a:t>
            </a:r>
            <a:endParaRPr lang="es-PY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s-PY" i="1" dirty="0" smtClean="0"/>
              <a:t>-La </a:t>
            </a:r>
            <a:r>
              <a:rPr lang="es-PY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FELICIDAD</a:t>
            </a:r>
            <a:r>
              <a:rPr lang="es-PY" i="1" dirty="0" smtClean="0"/>
              <a:t> personal, porque hago lo que me apasiona y para lo cual tengo talento</a:t>
            </a:r>
            <a:endParaRPr lang="es-AR" dirty="0" smtClean="0"/>
          </a:p>
          <a:p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s-AR" altLang="es-AR" dirty="0" smtClean="0"/>
              <a:t>Estructura de un CV </a:t>
            </a:r>
            <a:r>
              <a:rPr lang="es-AR" altLang="es-AR" dirty="0"/>
              <a:t>– </a:t>
            </a:r>
            <a:r>
              <a:rPr lang="es-AR" altLang="es-AR" dirty="0" smtClean="0"/>
              <a:t>Partes </a:t>
            </a:r>
            <a:r>
              <a:rPr lang="es-AR" altLang="es-AR" dirty="0"/>
              <a:t>que lo componen</a:t>
            </a:r>
            <a:endParaRPr lang="es-AR" dirty="0"/>
          </a:p>
        </p:txBody>
      </p:sp>
      <p:pic>
        <p:nvPicPr>
          <p:cNvPr id="6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22965">
            <a:off x="6086100" y="458635"/>
            <a:ext cx="2606885" cy="3948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Rectángulo"/>
          <p:cNvSpPr/>
          <p:nvPr/>
        </p:nvSpPr>
        <p:spPr>
          <a:xfrm rot="218430">
            <a:off x="6077929" y="414060"/>
            <a:ext cx="2617481" cy="3950784"/>
          </a:xfrm>
          <a:prstGeom prst="rect">
            <a:avLst/>
          </a:prstGeom>
          <a:solidFill>
            <a:schemeClr val="accent1"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7" name="Rectangle 11"/>
          <p:cNvSpPr/>
          <p:nvPr/>
        </p:nvSpPr>
        <p:spPr>
          <a:xfrm>
            <a:off x="0" y="555526"/>
            <a:ext cx="5351462" cy="38702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630238" lvl="1" indent="-173038">
              <a:lnSpc>
                <a:spcPts val="1600"/>
              </a:lnSpc>
              <a:spcBef>
                <a:spcPct val="50000"/>
              </a:spcBef>
              <a:buFontTx/>
              <a:buBlip>
                <a:blip r:embed="rId3"/>
              </a:buBlip>
              <a:defRPr/>
            </a:pPr>
            <a:r>
              <a:rPr lang="es-ES" sz="1300" b="1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Datos personales: </a:t>
            </a:r>
            <a:r>
              <a:rPr lang="es-AR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Nombre y apellido, lugar y fecha de nacimiento, estado civil, dirección, número de teléfono, correo electrónico, DNI, CUIL, etc. </a:t>
            </a:r>
            <a:endParaRPr lang="es-ES" sz="1300" dirty="0">
              <a:solidFill>
                <a:srgbClr val="323232"/>
              </a:solidFill>
              <a:latin typeface="Segoe UI Light" panose="020B0502040204020203" pitchFamily="34" charset="0"/>
              <a:ea typeface="Segoe UI Light" pitchFamily="34" charset="0"/>
              <a:cs typeface="Segoe UI Light" pitchFamily="34" charset="0"/>
            </a:endParaRPr>
          </a:p>
          <a:p>
            <a:pPr marL="630238" lvl="1" indent="-173038">
              <a:lnSpc>
                <a:spcPts val="1600"/>
              </a:lnSpc>
              <a:spcBef>
                <a:spcPct val="50000"/>
              </a:spcBef>
              <a:buFontTx/>
              <a:buBlip>
                <a:blip r:embed="rId3"/>
              </a:buBlip>
              <a:defRPr/>
            </a:pPr>
            <a:r>
              <a:rPr lang="es-ES" sz="1300" b="1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Formación académica: </a:t>
            </a:r>
            <a:r>
              <a:rPr lang="es-AR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Estudios, indicando fecha y lugar donde han sido realizados.</a:t>
            </a:r>
            <a:r>
              <a:rPr lang="es-ES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 </a:t>
            </a:r>
          </a:p>
          <a:p>
            <a:pPr marL="630238" lvl="1" indent="-173038">
              <a:lnSpc>
                <a:spcPts val="1600"/>
              </a:lnSpc>
              <a:spcBef>
                <a:spcPct val="50000"/>
              </a:spcBef>
              <a:buFontTx/>
              <a:buBlip>
                <a:blip r:embed="rId3"/>
              </a:buBlip>
              <a:defRPr/>
            </a:pPr>
            <a:r>
              <a:rPr lang="es-ES" sz="1300" b="1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Experiencia profesional: </a:t>
            </a:r>
            <a:r>
              <a:rPr lang="es-AR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Experiencia laboral relacionada con los estudios universitarios o que puedan ser de interés para la empresa que desea contratarte. No olvides señalar las fechas, la </a:t>
            </a:r>
            <a:r>
              <a:rPr lang="es-AR" sz="1300" dirty="0" smtClean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empresa dónde trabajaste , funciones y tareas llevadas a cabo.</a:t>
            </a:r>
            <a:r>
              <a:rPr lang="es-ES" sz="1300" dirty="0" smtClean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 </a:t>
            </a:r>
          </a:p>
          <a:p>
            <a:pPr marL="630238" lvl="1" indent="-173038" algn="ctr">
              <a:lnSpc>
                <a:spcPts val="1600"/>
              </a:lnSpc>
              <a:spcBef>
                <a:spcPct val="50000"/>
              </a:spcBef>
              <a:defRPr/>
            </a:pPr>
            <a:r>
              <a:rPr lang="es-ES" sz="1300" i="1" dirty="0" smtClean="0">
                <a:solidFill>
                  <a:srgbClr val="3232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¿Qué pongo si no tengo experiencia?</a:t>
            </a:r>
          </a:p>
          <a:p>
            <a:pPr marL="630238" lvl="1" indent="-173038">
              <a:lnSpc>
                <a:spcPts val="1600"/>
              </a:lnSpc>
              <a:spcBef>
                <a:spcPct val="50000"/>
              </a:spcBef>
              <a:buFontTx/>
              <a:buBlip>
                <a:blip r:embed="rId3"/>
              </a:buBlip>
              <a:defRPr/>
            </a:pPr>
            <a:r>
              <a:rPr lang="es-AR" sz="1300" b="1" dirty="0" smtClean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OTROS: </a:t>
            </a:r>
            <a:endParaRPr lang="es-AR" sz="1300" b="1" dirty="0">
              <a:solidFill>
                <a:srgbClr val="323232"/>
              </a:solidFill>
              <a:latin typeface="Segoe UI Light" panose="020B0502040204020203" pitchFamily="34" charset="0"/>
              <a:ea typeface="Segoe UI Light" pitchFamily="34" charset="0"/>
              <a:cs typeface="Segoe UI Light" pitchFamily="34" charset="0"/>
            </a:endParaRPr>
          </a:p>
          <a:p>
            <a:pPr marL="1087438" lvl="2" indent="-173038">
              <a:lnSpc>
                <a:spcPts val="1600"/>
              </a:lnSpc>
              <a:spcBef>
                <a:spcPct val="50000"/>
              </a:spcBef>
              <a:buFontTx/>
              <a:buBlip>
                <a:blip r:embed="rId3"/>
              </a:buBlip>
              <a:defRPr/>
            </a:pPr>
            <a:r>
              <a:rPr lang="es-AR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Idiomas. Si obtuviste algún título reconocido indícalo.</a:t>
            </a:r>
          </a:p>
          <a:p>
            <a:pPr marL="1087438" lvl="2" indent="-173038">
              <a:lnSpc>
                <a:spcPts val="1600"/>
              </a:lnSpc>
              <a:spcBef>
                <a:spcPct val="50000"/>
              </a:spcBef>
              <a:buFontTx/>
              <a:buBlip>
                <a:blip r:embed="rId3"/>
              </a:buBlip>
              <a:defRPr/>
            </a:pPr>
            <a:r>
              <a:rPr lang="es-AR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Conocimientos técnicos relacionados con los estudios</a:t>
            </a:r>
          </a:p>
          <a:p>
            <a:pPr marL="1087438" lvl="2" indent="-173038">
              <a:lnSpc>
                <a:spcPts val="1600"/>
              </a:lnSpc>
              <a:spcBef>
                <a:spcPct val="50000"/>
              </a:spcBef>
              <a:buFontTx/>
              <a:buBlip>
                <a:blip r:embed="rId3"/>
              </a:buBlip>
              <a:defRPr/>
            </a:pPr>
            <a:r>
              <a:rPr lang="es-AR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Cursos y Capacitaciones, indicando nombre de la misma,  lugar y </a:t>
            </a:r>
            <a:r>
              <a:rPr lang="es-AR" sz="1300" dirty="0" smtClean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año.</a:t>
            </a:r>
            <a:endParaRPr lang="es-ES" sz="1300" dirty="0">
              <a:solidFill>
                <a:srgbClr val="323232"/>
              </a:solidFill>
              <a:latin typeface="Segoe UI Light" panose="020B0502040204020203" pitchFamily="34" charset="0"/>
              <a:ea typeface="Segoe UI Light" pitchFamily="34" charset="0"/>
              <a:cs typeface="Segoe UI Light" pitchFamily="34" charset="0"/>
            </a:endParaRPr>
          </a:p>
        </p:txBody>
      </p:sp>
      <p:sp>
        <p:nvSpPr>
          <p:cNvPr id="8" name="2 CuadroTexto"/>
          <p:cNvSpPr txBox="1"/>
          <p:nvPr/>
        </p:nvSpPr>
        <p:spPr>
          <a:xfrm>
            <a:off x="611560" y="4478410"/>
            <a:ext cx="7119938" cy="2936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03200" indent="-203200" algn="ctr">
              <a:lnSpc>
                <a:spcPts val="1500"/>
              </a:lnSpc>
              <a:spcAft>
                <a:spcPts val="300"/>
              </a:spcAft>
              <a:defRPr/>
            </a:pPr>
            <a:r>
              <a:rPr lang="es-AR" sz="20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Vos sos tu CV hasta que demuestres lo contrario!</a:t>
            </a:r>
            <a:endParaRPr lang="es-ES" sz="2000" b="1" i="1" dirty="0">
              <a:solidFill>
                <a:schemeClr val="tx1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8 CuadroTexto"/>
          <p:cNvSpPr txBox="1"/>
          <p:nvPr/>
        </p:nvSpPr>
        <p:spPr>
          <a:xfrm rot="18688479">
            <a:off x="5356667" y="1718207"/>
            <a:ext cx="40874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500" dirty="0" smtClean="0">
                <a:solidFill>
                  <a:srgbClr val="C00000"/>
                </a:solidFill>
              </a:rPr>
              <a:t>Es tu carta de presentación</a:t>
            </a:r>
            <a:endParaRPr lang="es-AR" sz="25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9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6"/>
          </p:nvPr>
        </p:nvSpPr>
        <p:spPr>
          <a:xfrm>
            <a:off x="1187624" y="123478"/>
            <a:ext cx="3384376" cy="576064"/>
          </a:xfrm>
        </p:spPr>
        <p:txBody>
          <a:bodyPr>
            <a:normAutofit/>
          </a:bodyPr>
          <a:lstStyle/>
          <a:p>
            <a:r>
              <a:rPr lang="es-AR" dirty="0" smtClean="0"/>
              <a:t>Algunas recomendaciones</a:t>
            </a:r>
            <a:endParaRPr lang="es-AR" dirty="0"/>
          </a:p>
        </p:txBody>
      </p:sp>
      <p:sp>
        <p:nvSpPr>
          <p:cNvPr id="9" name="Rectangle 11"/>
          <p:cNvSpPr/>
          <p:nvPr/>
        </p:nvSpPr>
        <p:spPr>
          <a:xfrm>
            <a:off x="395536" y="483519"/>
            <a:ext cx="803501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0238" lvl="1" indent="-173038">
              <a:lnSpc>
                <a:spcPct val="150000"/>
              </a:lnSpc>
              <a:buFontTx/>
              <a:buBlip>
                <a:blip r:embed="rId2"/>
              </a:buBlip>
              <a:defRPr/>
            </a:pPr>
            <a:r>
              <a:rPr lang="es-ES" sz="1200" dirty="0" smtClean="0">
                <a:solidFill>
                  <a:srgbClr val="323232"/>
                </a:solidFill>
                <a:latin typeface="+mj-lt"/>
                <a:ea typeface="Segoe UI Light" pitchFamily="34" charset="0"/>
                <a:cs typeface="Segoe UI Light" pitchFamily="34" charset="0"/>
              </a:rPr>
              <a:t>Currículums de una sola página o dos: NO MAS! L</a:t>
            </a:r>
            <a:r>
              <a:rPr lang="es-AR" sz="1200" dirty="0" smtClean="0">
                <a:latin typeface="+mj-lt"/>
              </a:rPr>
              <a:t>a idea es ser claros y concisos. </a:t>
            </a:r>
          </a:p>
          <a:p>
            <a:pPr marL="630238" lvl="1" indent="-173038">
              <a:lnSpc>
                <a:spcPct val="150000"/>
              </a:lnSpc>
              <a:buFontTx/>
              <a:buBlip>
                <a:blip r:embed="rId2"/>
              </a:buBlip>
              <a:defRPr/>
            </a:pPr>
            <a:r>
              <a:rPr lang="es-AR" sz="1200" dirty="0" smtClean="0">
                <a:solidFill>
                  <a:srgbClr val="323232"/>
                </a:solidFill>
                <a:latin typeface="+mj-lt"/>
                <a:ea typeface="Segoe UI Light" pitchFamily="34" charset="0"/>
                <a:cs typeface="Segoe UI Light" pitchFamily="34" charset="0"/>
              </a:rPr>
              <a:t>Incluir foto: Está bueno para que el selector tenga una imagen del perfil y para que pueda reconocerlo fácilmente luego de haberlo entrevistado.</a:t>
            </a:r>
          </a:p>
          <a:p>
            <a:pPr marL="630238" lvl="1" indent="-173038">
              <a:lnSpc>
                <a:spcPct val="150000"/>
              </a:lnSpc>
              <a:buFontTx/>
              <a:buBlip>
                <a:blip r:embed="rId2"/>
              </a:buBlip>
              <a:defRPr/>
            </a:pPr>
            <a:r>
              <a:rPr lang="es-PY" sz="1200" dirty="0" smtClean="0">
                <a:solidFill>
                  <a:srgbClr val="323232"/>
                </a:solidFill>
                <a:latin typeface="+mj-lt"/>
                <a:ea typeface="Segoe UI Light" pitchFamily="34" charset="0"/>
                <a:cs typeface="Segoe UI Light" pitchFamily="34" charset="0"/>
              </a:rPr>
              <a:t>Revisar la ortografía.</a:t>
            </a:r>
          </a:p>
          <a:p>
            <a:pPr marL="630238" lvl="1" indent="-173038">
              <a:lnSpc>
                <a:spcPct val="150000"/>
              </a:lnSpc>
              <a:buFontTx/>
              <a:buBlip>
                <a:blip r:embed="rId2"/>
              </a:buBlip>
              <a:defRPr/>
            </a:pPr>
            <a:r>
              <a:rPr lang="es-PY" sz="1200" dirty="0" smtClean="0">
                <a:solidFill>
                  <a:srgbClr val="323232"/>
                </a:solidFill>
                <a:latin typeface="+mj-lt"/>
                <a:ea typeface="Segoe UI Light" pitchFamily="34" charset="0"/>
                <a:cs typeface="Segoe UI Light" pitchFamily="34" charset="0"/>
              </a:rPr>
              <a:t>Cuidar el formato: ni muy básico, ni tan </a:t>
            </a:r>
            <a:r>
              <a:rPr lang="es-PY" sz="1200" dirty="0" err="1" smtClean="0">
                <a:solidFill>
                  <a:srgbClr val="323232"/>
                </a:solidFill>
                <a:latin typeface="+mj-lt"/>
                <a:ea typeface="Segoe UI Light" pitchFamily="34" charset="0"/>
                <a:cs typeface="Segoe UI Light" pitchFamily="34" charset="0"/>
              </a:rPr>
              <a:t>aggiornado</a:t>
            </a:r>
            <a:r>
              <a:rPr lang="es-PY" sz="1200" dirty="0" smtClean="0">
                <a:solidFill>
                  <a:srgbClr val="323232"/>
                </a:solidFill>
                <a:latin typeface="+mj-lt"/>
                <a:ea typeface="Segoe UI Light" pitchFamily="34" charset="0"/>
                <a:cs typeface="Segoe UI Light" pitchFamily="34" charset="0"/>
              </a:rPr>
              <a:t>. </a:t>
            </a:r>
          </a:p>
          <a:p>
            <a:pPr marL="630238" lvl="1" indent="-173038">
              <a:lnSpc>
                <a:spcPct val="150000"/>
              </a:lnSpc>
              <a:buFontTx/>
              <a:buBlip>
                <a:blip r:embed="rId2"/>
              </a:buBlip>
              <a:defRPr/>
            </a:pPr>
            <a:r>
              <a:rPr lang="es-ES_tradnl" sz="1200" dirty="0" smtClean="0">
                <a:solidFill>
                  <a:srgbClr val="323232"/>
                </a:solidFill>
                <a:latin typeface="+mj-lt"/>
                <a:ea typeface="Segoe UI Light" pitchFamily="34" charset="0"/>
                <a:cs typeface="Segoe UI Light" pitchFamily="34" charset="0"/>
              </a:rPr>
              <a:t>Incluir preferencias u objetivos profesionales. </a:t>
            </a:r>
            <a:endParaRPr lang="es-AR" sz="1200" dirty="0" smtClean="0">
              <a:solidFill>
                <a:srgbClr val="323232"/>
              </a:solidFill>
              <a:latin typeface="+mj-lt"/>
              <a:ea typeface="Segoe UI Light" pitchFamily="34" charset="0"/>
              <a:cs typeface="Segoe UI Light" pitchFamily="34" charset="0"/>
            </a:endParaRPr>
          </a:p>
          <a:p>
            <a:pPr marL="630238" lvl="1" indent="-173038">
              <a:lnSpc>
                <a:spcPct val="150000"/>
              </a:lnSpc>
              <a:buFontTx/>
              <a:buBlip>
                <a:blip r:embed="rId2"/>
              </a:buBlip>
              <a:defRPr/>
            </a:pPr>
            <a:r>
              <a:rPr lang="es-ES_tradnl" sz="1200" dirty="0" smtClean="0">
                <a:solidFill>
                  <a:srgbClr val="323232"/>
                </a:solidFill>
                <a:latin typeface="+mj-lt"/>
                <a:ea typeface="Segoe UI Light" pitchFamily="34" charset="0"/>
                <a:cs typeface="Segoe UI Light" pitchFamily="34" charset="0"/>
              </a:rPr>
              <a:t>Dirección de mail profesional: presentar un mail adecuado y serio, que preferentemente esté compuesto por nombre y apellido.</a:t>
            </a:r>
            <a:endParaRPr lang="es-ES" sz="1200" dirty="0">
              <a:solidFill>
                <a:srgbClr val="323232"/>
              </a:solidFill>
              <a:latin typeface="+mj-lt"/>
              <a:ea typeface="Segoe UI Light" pitchFamily="34" charset="0"/>
              <a:cs typeface="Segoe UI Light" pitchFamily="34" charset="0"/>
            </a:endParaRPr>
          </a:p>
          <a:p>
            <a:pPr marL="630238" lvl="1" indent="-173038">
              <a:lnSpc>
                <a:spcPct val="150000"/>
              </a:lnSpc>
              <a:buFontTx/>
              <a:buBlip>
                <a:blip r:embed="rId2"/>
              </a:buBlip>
              <a:defRPr/>
            </a:pPr>
            <a:r>
              <a:rPr lang="es-PY" sz="1200" dirty="0" smtClean="0">
                <a:solidFill>
                  <a:srgbClr val="323232"/>
                </a:solidFill>
                <a:latin typeface="+mj-lt"/>
                <a:ea typeface="Segoe UI Light" pitchFamily="34" charset="0"/>
                <a:cs typeface="Segoe UI Light" pitchFamily="34" charset="0"/>
              </a:rPr>
              <a:t>La estructura cronológica: desde lo más reciente hasta lo más antiguo. </a:t>
            </a:r>
          </a:p>
          <a:p>
            <a:pPr marL="630238" lvl="1" indent="-173038">
              <a:lnSpc>
                <a:spcPct val="150000"/>
              </a:lnSpc>
              <a:buFontTx/>
              <a:buBlip>
                <a:blip r:embed="rId2"/>
              </a:buBlip>
              <a:defRPr/>
            </a:pPr>
            <a:r>
              <a:rPr lang="es-PY" sz="1200" dirty="0" smtClean="0">
                <a:solidFill>
                  <a:srgbClr val="323232"/>
                </a:solidFill>
                <a:latin typeface="+mj-lt"/>
                <a:ea typeface="Segoe UI Light" pitchFamily="34" charset="0"/>
                <a:cs typeface="Segoe UI Light" pitchFamily="34" charset="0"/>
              </a:rPr>
              <a:t>Adapta cada CV a cada puesto o empresa: Ej. si te postulás para sistemas, no indiques que vendías zapatos.</a:t>
            </a:r>
          </a:p>
          <a:p>
            <a:pPr marL="630238" lvl="1" indent="-173038">
              <a:lnSpc>
                <a:spcPct val="150000"/>
              </a:lnSpc>
              <a:buFontTx/>
              <a:buBlip>
                <a:blip r:embed="rId2"/>
              </a:buBlip>
              <a:defRPr/>
            </a:pPr>
            <a:r>
              <a:rPr lang="es-PY" sz="1200" dirty="0" smtClean="0">
                <a:solidFill>
                  <a:srgbClr val="323232"/>
                </a:solidFill>
                <a:latin typeface="+mj-lt"/>
                <a:ea typeface="Segoe UI Light" pitchFamily="34" charset="0"/>
                <a:cs typeface="Segoe UI Light" pitchFamily="34" charset="0"/>
              </a:rPr>
              <a:t>Incluye carta de presentación. Explica por qué te motivan especialmente el puesto y la empresa en la que querés trabajar.</a:t>
            </a:r>
          </a:p>
          <a:p>
            <a:pPr marL="630238" lvl="1" indent="-173038">
              <a:lnSpc>
                <a:spcPct val="150000"/>
              </a:lnSpc>
              <a:buFontTx/>
              <a:buBlip>
                <a:blip r:embed="rId2"/>
              </a:buBlip>
              <a:defRPr/>
            </a:pPr>
            <a:r>
              <a:rPr lang="es-PY" sz="1200" dirty="0" smtClean="0">
                <a:solidFill>
                  <a:srgbClr val="323232"/>
                </a:solidFill>
                <a:latin typeface="+mj-lt"/>
                <a:ea typeface="Segoe UI Light" pitchFamily="34" charset="0"/>
                <a:cs typeface="Segoe UI Light" pitchFamily="34" charset="0"/>
              </a:rPr>
              <a:t>Se real y coherente con las fechas y datos, no inventes.</a:t>
            </a:r>
          </a:p>
          <a:p>
            <a:pPr marL="630238" lvl="1" indent="-173038">
              <a:lnSpc>
                <a:spcPct val="150000"/>
              </a:lnSpc>
              <a:buFontTx/>
              <a:buBlip>
                <a:blip r:embed="rId2"/>
              </a:buBlip>
              <a:defRPr/>
            </a:pPr>
            <a:r>
              <a:rPr lang="es-PY" sz="1200" dirty="0" smtClean="0">
                <a:solidFill>
                  <a:srgbClr val="323232"/>
                </a:solidFill>
                <a:latin typeface="+mj-lt"/>
                <a:ea typeface="Segoe UI Light" pitchFamily="34" charset="0"/>
                <a:cs typeface="Segoe UI Light" pitchFamily="34" charset="0"/>
              </a:rPr>
              <a:t>No bombardeo masivo de CV = Frustración masiva. </a:t>
            </a:r>
          </a:p>
          <a:p>
            <a:pPr marL="630238" lvl="1" indent="-173038">
              <a:lnSpc>
                <a:spcPct val="150000"/>
              </a:lnSpc>
              <a:buFontTx/>
              <a:buBlip>
                <a:blip r:embed="rId2"/>
              </a:buBlip>
              <a:defRPr/>
            </a:pPr>
            <a:r>
              <a:rPr lang="es-ES" sz="1200" dirty="0" smtClean="0">
                <a:solidFill>
                  <a:srgbClr val="323232"/>
                </a:solidFill>
                <a:latin typeface="+mj-lt"/>
                <a:ea typeface="Segoe UI Light" pitchFamily="34" charset="0"/>
                <a:cs typeface="Segoe UI Light" pitchFamily="34" charset="0"/>
              </a:rPr>
              <a:t>Armarse una cuenta profesional en </a:t>
            </a:r>
            <a:r>
              <a:rPr lang="es-ES" sz="1200" dirty="0" err="1" smtClean="0">
                <a:solidFill>
                  <a:srgbClr val="323232"/>
                </a:solidFill>
                <a:latin typeface="+mj-lt"/>
                <a:ea typeface="Segoe UI Light" pitchFamily="34" charset="0"/>
                <a:cs typeface="Segoe UI Light" pitchFamily="34" charset="0"/>
              </a:rPr>
              <a:t>Linkedin</a:t>
            </a:r>
            <a:r>
              <a:rPr lang="es-ES" sz="1200" dirty="0" smtClean="0">
                <a:solidFill>
                  <a:srgbClr val="323232"/>
                </a:solidFill>
                <a:latin typeface="+mj-lt"/>
                <a:ea typeface="Segoe UI Light" pitchFamily="34" charset="0"/>
                <a:cs typeface="Segoe UI Light" pitchFamily="34" charset="0"/>
              </a:rPr>
              <a:t>. Es la fuente principal de Recruiting hoy en día. </a:t>
            </a:r>
            <a:endParaRPr lang="es-ES_tradnl" sz="1200" dirty="0" smtClean="0">
              <a:solidFill>
                <a:srgbClr val="323232"/>
              </a:solidFill>
              <a:latin typeface="+mj-lt"/>
              <a:ea typeface="Segoe UI Light" pitchFamily="34" charset="0"/>
              <a:cs typeface="Segoe UI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592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6"/>
          </p:nvPr>
        </p:nvSpPr>
        <p:spPr>
          <a:xfrm>
            <a:off x="2051720" y="295514"/>
            <a:ext cx="4968552" cy="354642"/>
          </a:xfrm>
        </p:spPr>
        <p:txBody>
          <a:bodyPr>
            <a:noAutofit/>
          </a:bodyPr>
          <a:lstStyle/>
          <a:p>
            <a:pPr algn="ctr"/>
            <a:r>
              <a:rPr lang="es-AR" altLang="es-AR" sz="2800" dirty="0" smtClean="0"/>
              <a:t>Perfil en las Redes</a:t>
            </a:r>
          </a:p>
          <a:p>
            <a:endParaRPr lang="es-AR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104" y="987574"/>
            <a:ext cx="2873904" cy="2873904"/>
          </a:xfrm>
          <a:prstGeom prst="rect">
            <a:avLst/>
          </a:prstGeom>
        </p:spPr>
      </p:pic>
      <p:pic>
        <p:nvPicPr>
          <p:cNvPr id="1026" name="Picture 2" descr="https://lh6.ggpht.com/xsLX1FFTstWKl8h4pxFgNAPw_SHTJNBtrhOWdI0eS7Uhswncu4pyNx7w8Y_xJZlgFNI=w30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333" y="1203598"/>
            <a:ext cx="2339787" cy="233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6" descr="Resultado de imagen para zona job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72867" y="1419622"/>
            <a:ext cx="2726733" cy="194948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92653" y="1134223"/>
            <a:ext cx="2664296" cy="2520280"/>
          </a:xfrm>
          <a:prstGeom prst="roundRect">
            <a:avLst/>
          </a:prstGeom>
          <a:noFill/>
          <a:ln>
            <a:solidFill>
              <a:schemeClr val="tx1">
                <a:lumMod val="75000"/>
                <a:alpha val="2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9824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euroinnova.edu.es/sites/default/files/contenidos/16/entrevista_de_trabaj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195486"/>
            <a:ext cx="3810000" cy="304800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1 Marcador de texto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s-AR" dirty="0" err="1" smtClean="0"/>
              <a:t>Tips</a:t>
            </a:r>
            <a:r>
              <a:rPr lang="es-AR" dirty="0" smtClean="0"/>
              <a:t> para le primera entrevista…</a:t>
            </a:r>
            <a:endParaRPr lang="es-AR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vl="0">
              <a:buFont typeface="Arial" pitchFamily="34" charset="0"/>
              <a:buChar char="•"/>
            </a:pPr>
            <a:r>
              <a:rPr lang="es-PY" dirty="0" smtClean="0"/>
              <a:t>Conocer en profundidad tu CV.</a:t>
            </a:r>
          </a:p>
          <a:p>
            <a:pPr lvl="0">
              <a:buFont typeface="Arial" pitchFamily="34" charset="0"/>
              <a:buChar char="•"/>
            </a:pPr>
            <a:r>
              <a:rPr lang="es-PY" dirty="0" smtClean="0"/>
              <a:t>Busca información sobre la empresa a la cual te postulas.</a:t>
            </a:r>
          </a:p>
          <a:p>
            <a:pPr lvl="0">
              <a:buFont typeface="Arial" pitchFamily="34" charset="0"/>
              <a:buChar char="•"/>
            </a:pPr>
            <a:r>
              <a:rPr lang="es-PY" dirty="0" err="1" smtClean="0"/>
              <a:t>Vestite</a:t>
            </a:r>
            <a:r>
              <a:rPr lang="es-PY" dirty="0" smtClean="0"/>
              <a:t> acorde, formal.</a:t>
            </a:r>
          </a:p>
          <a:p>
            <a:pPr lvl="0">
              <a:buFont typeface="Arial" pitchFamily="34" charset="0"/>
              <a:buChar char="•"/>
            </a:pPr>
            <a:r>
              <a:rPr lang="es-PY" dirty="0" smtClean="0"/>
              <a:t>Llega puntual (no más de 15 minutos antes)</a:t>
            </a:r>
          </a:p>
          <a:p>
            <a:pPr lvl="0">
              <a:buFont typeface="Arial" pitchFamily="34" charset="0"/>
              <a:buChar char="•"/>
            </a:pPr>
            <a:r>
              <a:rPr lang="es-PY" dirty="0" smtClean="0"/>
              <a:t>Imagina preguntas personales y laborales y ármate respuestas.</a:t>
            </a:r>
          </a:p>
          <a:p>
            <a:pPr lvl="0">
              <a:buFont typeface="Arial" pitchFamily="34" charset="0"/>
              <a:buChar char="•"/>
            </a:pPr>
            <a:r>
              <a:rPr lang="es-PY" dirty="0" err="1" smtClean="0"/>
              <a:t>Conocé</a:t>
            </a:r>
            <a:r>
              <a:rPr lang="es-PY" dirty="0" smtClean="0"/>
              <a:t> tus puntos fuertes y tus debilidades (</a:t>
            </a:r>
            <a:r>
              <a:rPr lang="es-PY" dirty="0" err="1" smtClean="0"/>
              <a:t>mencioná</a:t>
            </a:r>
            <a:r>
              <a:rPr lang="es-PY" dirty="0" smtClean="0"/>
              <a:t> como tenés pensado superarlos)</a:t>
            </a:r>
          </a:p>
          <a:p>
            <a:pPr lvl="0">
              <a:buFont typeface="Arial" pitchFamily="34" charset="0"/>
              <a:buChar char="•"/>
            </a:pPr>
            <a:r>
              <a:rPr lang="es-PY" dirty="0" smtClean="0"/>
              <a:t>No lleves amigos o familiares.</a:t>
            </a:r>
          </a:p>
          <a:p>
            <a:pPr lvl="0">
              <a:buFont typeface="Arial" pitchFamily="34" charset="0"/>
              <a:buChar char="•"/>
            </a:pPr>
            <a:r>
              <a:rPr lang="es-PY" dirty="0" smtClean="0"/>
              <a:t>No fumes o comas chicles durante la entrevista.</a:t>
            </a:r>
          </a:p>
          <a:p>
            <a:pPr lvl="0">
              <a:buFont typeface="Arial" pitchFamily="34" charset="0"/>
              <a:buChar char="•"/>
            </a:pPr>
            <a:r>
              <a:rPr lang="es-PY" dirty="0" err="1" smtClean="0"/>
              <a:t>Mostrá</a:t>
            </a:r>
            <a:r>
              <a:rPr lang="es-PY" dirty="0" smtClean="0"/>
              <a:t> cordialidad, sin confianza excesiva.</a:t>
            </a:r>
          </a:p>
          <a:p>
            <a:pPr lvl="0">
              <a:buFont typeface="Arial" pitchFamily="34" charset="0"/>
              <a:buChar char="•"/>
            </a:pPr>
            <a:r>
              <a:rPr lang="es-PY" dirty="0" smtClean="0"/>
              <a:t>No tomes la iniciativa, </a:t>
            </a:r>
            <a:r>
              <a:rPr lang="es-PY" dirty="0" err="1" smtClean="0"/>
              <a:t>esperá</a:t>
            </a:r>
            <a:r>
              <a:rPr lang="es-PY" dirty="0" smtClean="0"/>
              <a:t> a que te vayan dando indicaciones.</a:t>
            </a:r>
          </a:p>
          <a:p>
            <a:pPr lvl="0">
              <a:buFont typeface="Arial" pitchFamily="34" charset="0"/>
              <a:buChar char="•"/>
            </a:pPr>
            <a:r>
              <a:rPr lang="es-PY" dirty="0" smtClean="0"/>
              <a:t>No menciones el tema sueldo si no te dieron la pauta.</a:t>
            </a:r>
          </a:p>
          <a:p>
            <a:pPr lvl="0"/>
            <a:endParaRPr lang="es-PY" dirty="0" smtClean="0"/>
          </a:p>
          <a:p>
            <a:endParaRPr lang="es-A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s-AR" dirty="0" err="1" smtClean="0"/>
              <a:t>Tips</a:t>
            </a:r>
            <a:r>
              <a:rPr lang="es-AR" dirty="0" smtClean="0"/>
              <a:t> para la primera entrevista</a:t>
            </a:r>
            <a:endParaRPr lang="es-AR" dirty="0"/>
          </a:p>
        </p:txBody>
      </p:sp>
      <p:pic>
        <p:nvPicPr>
          <p:cNvPr id="4" name="Picture 2" descr="http://www.euroinnova.edu.es/sites/default/files/contenidos/16/entrevista_de_trabaj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1755997"/>
            <a:ext cx="3810000" cy="304800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2 Marcador de texto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vl="0">
              <a:buFont typeface="Arial" pitchFamily="34" charset="0"/>
              <a:buChar char="•"/>
            </a:pPr>
            <a:r>
              <a:rPr lang="es-PY" dirty="0" err="1" smtClean="0"/>
              <a:t>Mostrá</a:t>
            </a:r>
            <a:r>
              <a:rPr lang="es-PY" dirty="0" smtClean="0"/>
              <a:t> motivación e interés por el puesto.</a:t>
            </a:r>
          </a:p>
          <a:p>
            <a:pPr lvl="0">
              <a:buFont typeface="Arial" pitchFamily="34" charset="0"/>
              <a:buChar char="•"/>
            </a:pPr>
            <a:r>
              <a:rPr lang="es-PY" dirty="0" smtClean="0"/>
              <a:t>No demuestres falsa humildad, ni arrogancia excesiva.</a:t>
            </a:r>
          </a:p>
          <a:p>
            <a:pPr lvl="0">
              <a:buFont typeface="Arial" pitchFamily="34" charset="0"/>
              <a:buChar char="•"/>
            </a:pPr>
            <a:r>
              <a:rPr lang="es-PY" dirty="0" smtClean="0"/>
              <a:t>Comunicación no verbal: el cuerpo "dice" mucho más que las palabras. Es importante una postura erguida y un tono de voz firme y convincente. </a:t>
            </a:r>
          </a:p>
          <a:p>
            <a:pPr lvl="0">
              <a:buFont typeface="Arial" pitchFamily="34" charset="0"/>
              <a:buChar char="•"/>
            </a:pPr>
            <a:r>
              <a:rPr lang="es-PY" dirty="0" smtClean="0"/>
              <a:t>No generar interrupciones: mirar el reloj a cada rato, un papel, el celular o estar inquieto hacen que el foco de la entrevista cambie. Hay que procurar atención al entrevistador.</a:t>
            </a:r>
          </a:p>
          <a:p>
            <a:pPr lvl="0">
              <a:buFont typeface="Arial" pitchFamily="34" charset="0"/>
              <a:buChar char="•"/>
            </a:pPr>
            <a:r>
              <a:rPr lang="es-PY" dirty="0" smtClean="0"/>
              <a:t>Uso correcto del lenguaje: debe ser formal; términos burdos, coloquiales o descorteses pueden dañar la imagen del candidato.</a:t>
            </a:r>
          </a:p>
          <a:p>
            <a:pPr lvl="0">
              <a:buFont typeface="Arial" pitchFamily="34" charset="0"/>
              <a:buChar char="•"/>
            </a:pPr>
            <a:r>
              <a:rPr lang="es-PY" dirty="0" smtClean="0"/>
              <a:t>No criticar al empleo o compañeros anteriores.</a:t>
            </a:r>
          </a:p>
          <a:p>
            <a:pPr lvl="0">
              <a:buFont typeface="Arial" pitchFamily="34" charset="0"/>
              <a:buChar char="•"/>
            </a:pPr>
            <a:r>
              <a:rPr lang="es-PY" dirty="0" smtClean="0"/>
              <a:t>Indagar en el proceso: </a:t>
            </a:r>
            <a:r>
              <a:rPr lang="es-PY" dirty="0" err="1" smtClean="0"/>
              <a:t>preguntá</a:t>
            </a:r>
            <a:r>
              <a:rPr lang="es-PY" dirty="0" smtClean="0"/>
              <a:t> como sigue el proceso de selección.</a:t>
            </a:r>
          </a:p>
          <a:p>
            <a:endParaRPr lang="es-A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s-AR" sz="4000" dirty="0" smtClean="0"/>
              <a:t>¿Preguntas?</a:t>
            </a:r>
            <a:endParaRPr lang="es-AR" sz="4000" dirty="0"/>
          </a:p>
        </p:txBody>
      </p:sp>
    </p:spTree>
    <p:extLst>
      <p:ext uri="{BB962C8B-B14F-4D97-AF65-F5344CB8AC3E}">
        <p14:creationId xmlns:p14="http://schemas.microsoft.com/office/powerpoint/2010/main" val="529845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Algo sobre Hexacta</a:t>
            </a:r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7"/>
          </p:nvPr>
        </p:nvSpPr>
        <p:spPr>
          <a:xfrm>
            <a:off x="179388" y="950383"/>
            <a:ext cx="3528641" cy="287338"/>
          </a:xfrm>
        </p:spPr>
        <p:txBody>
          <a:bodyPr/>
          <a:lstStyle/>
          <a:p>
            <a:r>
              <a:rPr lang="es-AR" sz="1400" b="1" dirty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+mn-cs"/>
              </a:rPr>
              <a:t>Propuesta der valor para nuestra gente</a:t>
            </a:r>
          </a:p>
        </p:txBody>
      </p: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6588224" y="569059"/>
            <a:ext cx="1872208" cy="3823479"/>
            <a:chOff x="8729785" y="3200400"/>
            <a:chExt cx="2144739" cy="4380496"/>
          </a:xfrm>
        </p:grpSpPr>
        <p:pic>
          <p:nvPicPr>
            <p:cNvPr id="5" name="Picture 4" descr="C:\Users\dvigliarolo\Desktop\fotos clay\DFF_3334.JPG"/>
            <p:cNvPicPr>
              <a:picLocks noChangeAspect="1" noChangeArrowheads="1"/>
            </p:cNvPicPr>
            <p:nvPr/>
          </p:nvPicPr>
          <p:blipFill>
            <a:blip r:embed="rId2" cstate="print"/>
            <a:srcRect l="8662" t="9000" r="6323" b="1917"/>
            <a:stretch>
              <a:fillRect/>
            </a:stretch>
          </p:blipFill>
          <p:spPr bwMode="auto">
            <a:xfrm>
              <a:off x="8729785" y="6088229"/>
              <a:ext cx="2144739" cy="14926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2" descr="C:\Users\dvigliarolo\Desktop\fotos clay\DFF_1123.jpg"/>
            <p:cNvPicPr>
              <a:picLocks noChangeAspect="1" noChangeArrowheads="1"/>
            </p:cNvPicPr>
            <p:nvPr/>
          </p:nvPicPr>
          <p:blipFill>
            <a:blip r:embed="rId3" cstate="print"/>
            <a:srcRect l="12811" t="5135" r="3889" b="8466"/>
            <a:stretch>
              <a:fillRect/>
            </a:stretch>
          </p:blipFill>
          <p:spPr bwMode="auto">
            <a:xfrm>
              <a:off x="8729785" y="3200400"/>
              <a:ext cx="2132039" cy="1469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3" descr="C:\Users\dvigliarolo\Desktop\fotos clay\DFF_1503.jpg"/>
            <p:cNvPicPr>
              <a:picLocks noChangeAspect="1" noChangeArrowheads="1"/>
            </p:cNvPicPr>
            <p:nvPr/>
          </p:nvPicPr>
          <p:blipFill>
            <a:blip r:embed="rId4" cstate="print"/>
            <a:srcRect l="6239" r="5305" b="8009"/>
            <a:stretch>
              <a:fillRect/>
            </a:stretch>
          </p:blipFill>
          <p:spPr bwMode="auto">
            <a:xfrm>
              <a:off x="8735192" y="4647639"/>
              <a:ext cx="2121227" cy="1466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Rectángulo 7"/>
          <p:cNvSpPr/>
          <p:nvPr/>
        </p:nvSpPr>
        <p:spPr>
          <a:xfrm>
            <a:off x="827584" y="1433006"/>
            <a:ext cx="5533530" cy="2793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3038" indent="-173038">
              <a:spcBef>
                <a:spcPct val="50000"/>
              </a:spcBef>
              <a:buFontTx/>
              <a:buBlip>
                <a:blip r:embed="rId5"/>
              </a:buBlip>
              <a:defRPr/>
            </a:pPr>
            <a:r>
              <a:rPr lang="es-ES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Es un excelente lugar para impulsar el desarrollo profesional</a:t>
            </a:r>
          </a:p>
          <a:p>
            <a:pPr marL="173038" indent="-173038">
              <a:spcBef>
                <a:spcPct val="50000"/>
              </a:spcBef>
              <a:buBlip>
                <a:blip r:embed="rId5"/>
              </a:buBlip>
              <a:defRPr/>
            </a:pPr>
            <a:r>
              <a:rPr lang="es-ES" sz="1300" dirty="0" smtClean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Trabajamos con nuevas </a:t>
            </a:r>
            <a:r>
              <a:rPr lang="es-ES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tecnologías</a:t>
            </a:r>
          </a:p>
          <a:p>
            <a:pPr marL="173038" indent="-173038">
              <a:spcBef>
                <a:spcPct val="50000"/>
              </a:spcBef>
              <a:buFontTx/>
              <a:buBlip>
                <a:blip r:embed="rId5"/>
              </a:buBlip>
              <a:defRPr/>
            </a:pPr>
            <a:r>
              <a:rPr lang="es-ES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Buenas prácticas en desarrollo de software </a:t>
            </a:r>
          </a:p>
          <a:p>
            <a:pPr marL="173038" indent="-173038">
              <a:spcBef>
                <a:spcPct val="50000"/>
              </a:spcBef>
              <a:buBlip>
                <a:blip r:embed="rId5"/>
              </a:buBlip>
              <a:defRPr/>
            </a:pPr>
            <a:r>
              <a:rPr lang="es-ES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Grandes e importantes </a:t>
            </a:r>
            <a:r>
              <a:rPr lang="es-ES" sz="1300" dirty="0" smtClean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clientes; Nacionales y del exterior</a:t>
            </a:r>
            <a:endParaRPr lang="es-ES" sz="1300" dirty="0">
              <a:solidFill>
                <a:srgbClr val="323232"/>
              </a:solidFill>
              <a:latin typeface="Segoe UI Light" panose="020B0502040204020203" pitchFamily="34" charset="0"/>
              <a:ea typeface="Segoe UI Light" pitchFamily="34" charset="0"/>
              <a:cs typeface="Segoe UI Light" pitchFamily="34" charset="0"/>
            </a:endParaRPr>
          </a:p>
          <a:p>
            <a:pPr marL="173038" indent="-173038">
              <a:spcBef>
                <a:spcPct val="50000"/>
              </a:spcBef>
              <a:buBlip>
                <a:blip r:embed="rId5"/>
              </a:buBlip>
              <a:defRPr/>
            </a:pPr>
            <a:r>
              <a:rPr lang="es-ES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Entorno que facilita el aprendizaje y la colaboración</a:t>
            </a:r>
          </a:p>
          <a:p>
            <a:pPr marL="173038" indent="-173038">
              <a:spcBef>
                <a:spcPct val="50000"/>
              </a:spcBef>
              <a:buBlip>
                <a:blip r:embed="rId5"/>
              </a:buBlip>
              <a:defRPr/>
            </a:pPr>
            <a:r>
              <a:rPr lang="es-ES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Trabajamos fuertemente en los procesos de HR (</a:t>
            </a:r>
            <a:r>
              <a:rPr lang="es-ES" sz="1300" dirty="0" err="1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mentoring</a:t>
            </a:r>
            <a:r>
              <a:rPr lang="es-ES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, coaching, desarrollo, evaluaciones, beneficios, etc.)</a:t>
            </a:r>
          </a:p>
          <a:p>
            <a:pPr marL="173038" indent="-173038">
              <a:spcBef>
                <a:spcPct val="50000"/>
              </a:spcBef>
              <a:buBlip>
                <a:blip r:embed="rId5"/>
              </a:buBlip>
              <a:defRPr/>
            </a:pPr>
            <a:r>
              <a:rPr lang="es-ES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Queremos establecer relaciones de largo plazo con nuestra gente</a:t>
            </a:r>
          </a:p>
          <a:p>
            <a:pPr marL="173038" indent="-173038">
              <a:spcBef>
                <a:spcPct val="50000"/>
              </a:spcBef>
              <a:buBlip>
                <a:blip r:embed="rId5"/>
              </a:buBlip>
              <a:defRPr/>
            </a:pPr>
            <a:r>
              <a:rPr lang="es-ES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Estamos convencidos que la excelencia en los procesos y la calidad no están necesariamente separadas de la diversión</a:t>
            </a:r>
          </a:p>
        </p:txBody>
      </p:sp>
    </p:spTree>
    <p:extLst>
      <p:ext uri="{BB962C8B-B14F-4D97-AF65-F5344CB8AC3E}">
        <p14:creationId xmlns:p14="http://schemas.microsoft.com/office/powerpoint/2010/main" val="2590582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Algo sobre Hexacta</a:t>
            </a:r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7"/>
          </p:nvPr>
        </p:nvSpPr>
        <p:spPr>
          <a:xfrm>
            <a:off x="200618" y="950558"/>
            <a:ext cx="3528641" cy="287338"/>
          </a:xfrm>
        </p:spPr>
        <p:txBody>
          <a:bodyPr/>
          <a:lstStyle/>
          <a:p>
            <a:r>
              <a:rPr lang="es-AR" sz="1600" b="1" dirty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+mn-cs"/>
              </a:rPr>
              <a:t>¿Qué tenemos para ofrecerte?</a:t>
            </a:r>
          </a:p>
        </p:txBody>
      </p:sp>
      <p:sp>
        <p:nvSpPr>
          <p:cNvPr id="8" name="Rectángulo 7"/>
          <p:cNvSpPr/>
          <p:nvPr/>
        </p:nvSpPr>
        <p:spPr>
          <a:xfrm>
            <a:off x="827584" y="1303212"/>
            <a:ext cx="553353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3038" indent="-173038">
              <a:lnSpc>
                <a:spcPct val="150000"/>
              </a:lnSpc>
              <a:buClr>
                <a:schemeClr val="accent5">
                  <a:lumMod val="75000"/>
                </a:schemeClr>
              </a:buClr>
              <a:buBlip>
                <a:blip r:embed="rId2"/>
              </a:buBlip>
              <a:defRPr/>
            </a:pPr>
            <a:r>
              <a:rPr lang="es-ES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Proyectos desafiantes</a:t>
            </a:r>
          </a:p>
          <a:p>
            <a:pPr marL="173038" indent="-173038">
              <a:lnSpc>
                <a:spcPct val="150000"/>
              </a:lnSpc>
              <a:buClr>
                <a:schemeClr val="accent5">
                  <a:lumMod val="75000"/>
                </a:schemeClr>
              </a:buClr>
              <a:buBlip>
                <a:blip r:embed="rId2"/>
              </a:buBlip>
              <a:defRPr/>
            </a:pPr>
            <a:r>
              <a:rPr lang="es-ES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Formación y desarrollo profesional</a:t>
            </a:r>
          </a:p>
          <a:p>
            <a:pPr marL="173038" indent="-173038">
              <a:lnSpc>
                <a:spcPct val="150000"/>
              </a:lnSpc>
              <a:buClr>
                <a:schemeClr val="accent5">
                  <a:lumMod val="75000"/>
                </a:schemeClr>
              </a:buClr>
              <a:buBlip>
                <a:blip r:embed="rId2"/>
              </a:buBlip>
              <a:defRPr/>
            </a:pPr>
            <a:r>
              <a:rPr lang="es-ES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Evaluaciones y reconocimiento oportuno</a:t>
            </a:r>
          </a:p>
          <a:p>
            <a:pPr marL="173038" indent="-173038">
              <a:lnSpc>
                <a:spcPct val="150000"/>
              </a:lnSpc>
              <a:buClr>
                <a:schemeClr val="accent5">
                  <a:lumMod val="75000"/>
                </a:schemeClr>
              </a:buClr>
              <a:buBlip>
                <a:blip r:embed="rId2"/>
              </a:buBlip>
              <a:defRPr/>
            </a:pPr>
            <a:r>
              <a:rPr lang="es-ES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Capacitación en inglés</a:t>
            </a:r>
          </a:p>
          <a:p>
            <a:pPr marL="173038" indent="-173038">
              <a:lnSpc>
                <a:spcPct val="150000"/>
              </a:lnSpc>
              <a:buClr>
                <a:schemeClr val="accent5">
                  <a:lumMod val="75000"/>
                </a:schemeClr>
              </a:buClr>
              <a:buBlip>
                <a:blip r:embed="rId2"/>
              </a:buBlip>
              <a:defRPr/>
            </a:pPr>
            <a:r>
              <a:rPr lang="es-ES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Flexibilidad laboral </a:t>
            </a:r>
          </a:p>
          <a:p>
            <a:pPr marL="173038" indent="-173038">
              <a:lnSpc>
                <a:spcPct val="150000"/>
              </a:lnSpc>
              <a:buClr>
                <a:schemeClr val="accent5">
                  <a:lumMod val="75000"/>
                </a:schemeClr>
              </a:buClr>
              <a:buBlip>
                <a:blip r:embed="rId2"/>
              </a:buBlip>
              <a:defRPr/>
            </a:pPr>
            <a:r>
              <a:rPr lang="es-ES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Trabajo por objetivos</a:t>
            </a:r>
          </a:p>
          <a:p>
            <a:pPr marL="173038" indent="-173038">
              <a:lnSpc>
                <a:spcPct val="150000"/>
              </a:lnSpc>
              <a:buClr>
                <a:schemeClr val="accent5">
                  <a:lumMod val="75000"/>
                </a:schemeClr>
              </a:buClr>
              <a:buBlip>
                <a:blip r:embed="rId2"/>
              </a:buBlip>
              <a:defRPr/>
            </a:pPr>
            <a:r>
              <a:rPr lang="es-ES" sz="1300" dirty="0" smtClean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Equilibrio </a:t>
            </a:r>
            <a:r>
              <a:rPr lang="es-ES" sz="1300" dirty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entre la vida laboral y </a:t>
            </a:r>
            <a:r>
              <a:rPr lang="es-ES" sz="1300" dirty="0" smtClean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personal</a:t>
            </a:r>
          </a:p>
          <a:p>
            <a:pPr marL="173038" indent="-173038">
              <a:lnSpc>
                <a:spcPct val="150000"/>
              </a:lnSpc>
              <a:buClr>
                <a:schemeClr val="accent5">
                  <a:lumMod val="75000"/>
                </a:schemeClr>
              </a:buClr>
              <a:buBlip>
                <a:blip r:embed="rId2"/>
              </a:buBlip>
              <a:defRPr/>
            </a:pPr>
            <a:r>
              <a:rPr lang="es-ES" sz="1300" dirty="0" smtClean="0">
                <a:solidFill>
                  <a:srgbClr val="323232"/>
                </a:solidFill>
                <a:latin typeface="Segoe UI Light" panose="020B0502040204020203" pitchFamily="34" charset="0"/>
                <a:ea typeface="Segoe UI Light" pitchFamily="34" charset="0"/>
                <a:cs typeface="Segoe UI Light" pitchFamily="34" charset="0"/>
              </a:rPr>
              <a:t>Programas de bienestar </a:t>
            </a:r>
            <a:endParaRPr lang="es-ES" sz="1300" dirty="0">
              <a:solidFill>
                <a:srgbClr val="323232"/>
              </a:solidFill>
              <a:latin typeface="Segoe UI Light" panose="020B0502040204020203" pitchFamily="34" charset="0"/>
              <a:ea typeface="Segoe UI Light" pitchFamily="34" charset="0"/>
              <a:cs typeface="Segoe UI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73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747977"/>
      </p:ext>
    </p:extLst>
  </p:cSld>
  <p:clrMapOvr>
    <a:masterClrMapping/>
  </p:clrMapOvr>
</p:sld>
</file>

<file path=ppt/theme/theme1.xml><?xml version="1.0" encoding="utf-8"?>
<a:theme xmlns:a="http://schemas.openxmlformats.org/drawingml/2006/main" name="Graficos_CapítulosEstandaresPropuesta_ParaPPT_v3">
  <a:themeElements>
    <a:clrScheme name="Custom 3">
      <a:dk1>
        <a:srgbClr val="4D4D4D"/>
      </a:dk1>
      <a:lt1>
        <a:sysClr val="window" lastClr="FFFFFF"/>
      </a:lt1>
      <a:dk2>
        <a:srgbClr val="007788"/>
      </a:dk2>
      <a:lt2>
        <a:srgbClr val="FFFFFF"/>
      </a:lt2>
      <a:accent1>
        <a:srgbClr val="1EA89B"/>
      </a:accent1>
      <a:accent2>
        <a:srgbClr val="F87A0C"/>
      </a:accent2>
      <a:accent3>
        <a:srgbClr val="A0C14E"/>
      </a:accent3>
      <a:accent4>
        <a:srgbClr val="12645C"/>
      </a:accent4>
      <a:accent5>
        <a:srgbClr val="393939"/>
      </a:accent5>
      <a:accent6>
        <a:srgbClr val="00A9C0"/>
      </a:accent6>
      <a:hlink>
        <a:srgbClr val="F87A0C"/>
      </a:hlink>
      <a:folHlink>
        <a:srgbClr val="F87A0C"/>
      </a:folHlink>
    </a:clrScheme>
    <a:fontScheme name="Hexacta 2014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Graficos_CapítulosEstandaresPropuesta_ParaPPT_v3</Template>
  <TotalTime>509</TotalTime>
  <Words>923</Words>
  <Application>Microsoft Office PowerPoint</Application>
  <PresentationFormat>On-screen Show (16:9)</PresentationFormat>
  <Paragraphs>88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Lucida Grande</vt:lpstr>
      <vt:lpstr>Segoe UI</vt:lpstr>
      <vt:lpstr>Segoe UI Light</vt:lpstr>
      <vt:lpstr>Segoe UI Semibold</vt:lpstr>
      <vt:lpstr>Segoe UI Symbol</vt:lpstr>
      <vt:lpstr>Graficos_CapítulosEstandaresPropuesta_ParaPPT_v3</vt:lpstr>
      <vt:lpstr>  Aporte de RRHH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Hexacta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Eugenia Bertinotti</dc:creator>
  <cp:lastModifiedBy>Maricel Mangia</cp:lastModifiedBy>
  <cp:revision>58</cp:revision>
  <dcterms:created xsi:type="dcterms:W3CDTF">2014-06-06T15:15:59Z</dcterms:created>
  <dcterms:modified xsi:type="dcterms:W3CDTF">2016-04-14T16:33:52Z</dcterms:modified>
</cp:coreProperties>
</file>